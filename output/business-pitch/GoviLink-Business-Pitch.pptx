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471b35cb0b45db" /><Relationship Type="http://schemas.openxmlformats.org/officeDocument/2006/relationships/extended-properties" Target="/docProps/app.xml" Id="Rbb443fb5f35e4fc9" /><Relationship Type="http://schemas.openxmlformats.org/officeDocument/2006/relationships/officeDocument" Target="/ppt/presentation.xml" Id="R122c2b81edc840cb" /></Relationships>
</file>

<file path=ppt/presentation.xml><?xml version="1.0" encoding="utf-8"?>
<p:presentation xmlns:p="http://schemas.openxmlformats.org/presentationml/2006/main">
  <p:sldMasterIdLst>
    <p:sldMasterId xmlns:r="http://schemas.openxmlformats.org/officeDocument/2006/relationships" id="2147483648" r:id="R42ab5c5094e64aaa"/>
  </p:sldMasterIdLst>
  <p:notesMasterIdLst>
    <p:notesMasterId xmlns:r="http://schemas.openxmlformats.org/officeDocument/2006/relationships" r:id="R8df80642c1fa465e"/>
  </p:notesMasterIdLst>
  <p:sldIdLst>
    <p:sldId xmlns:r="http://schemas.openxmlformats.org/officeDocument/2006/relationships" id="256" r:id="Rd40453de7cf04c9e"/>
    <p:sldId xmlns:r="http://schemas.openxmlformats.org/officeDocument/2006/relationships" id="257" r:id="R2e0e2511242d44e1"/>
    <p:sldId xmlns:r="http://schemas.openxmlformats.org/officeDocument/2006/relationships" id="258" r:id="Rd560ade34c3a43dd"/>
    <p:sldId xmlns:r="http://schemas.openxmlformats.org/officeDocument/2006/relationships" id="259" r:id="Rdda18bc690654014"/>
    <p:sldId xmlns:r="http://schemas.openxmlformats.org/officeDocument/2006/relationships" id="260" r:id="R5adeefd4ea96499b"/>
    <p:sldId xmlns:r="http://schemas.openxmlformats.org/officeDocument/2006/relationships" id="261" r:id="R315aab240b9748ac"/>
    <p:sldId xmlns:r="http://schemas.openxmlformats.org/officeDocument/2006/relationships" id="262" r:id="R09f37f461ed34ae0"/>
    <p:sldId xmlns:r="http://schemas.openxmlformats.org/officeDocument/2006/relationships" id="263" r:id="R77465d3900b145b5"/>
    <p:sldId xmlns:r="http://schemas.openxmlformats.org/officeDocument/2006/relationships" id="264" r:id="Rdf4ec011d394459d"/>
    <p:sldId xmlns:r="http://schemas.openxmlformats.org/officeDocument/2006/relationships" id="265" r:id="R7c35171e0ca24a58"/>
    <p:sldId xmlns:r="http://schemas.openxmlformats.org/officeDocument/2006/relationships" id="266" r:id="Radaf997508c244e2"/>
    <p:sldId xmlns:r="http://schemas.openxmlformats.org/officeDocument/2006/relationships" id="267" r:id="R9c740641dfcc4663"/>
    <p:sldId xmlns:r="http://schemas.openxmlformats.org/officeDocument/2006/relationships" id="268" r:id="R65314aa0888d426c"/>
    <p:sldId xmlns:r="http://schemas.openxmlformats.org/officeDocument/2006/relationships" id="269" r:id="Rdafe435a3acb4936"/>
    <p:sldId xmlns:r="http://schemas.openxmlformats.org/officeDocument/2006/relationships" id="270" r:id="R100c658c249045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f5b52e17484fa5" /><Relationship Type="http://schemas.openxmlformats.org/officeDocument/2006/relationships/slideMaster" Target="/ppt/slideMasters/slideMaster1.xml" Id="R42ab5c5094e64aaa" /><Relationship Type="http://schemas.openxmlformats.org/officeDocument/2006/relationships/notesMaster" Target="/ppt/notesMasters/notesMaster1.xml" Id="R8df80642c1fa465e" /><Relationship Type="http://schemas.openxmlformats.org/officeDocument/2006/relationships/presProps" Target="/ppt/presProps.xml" Id="Refc18631baf44076" /><Relationship Type="http://schemas.openxmlformats.org/officeDocument/2006/relationships/tableStyles" Target="/ppt/tableStyles.xml" Id="Rddb7603812604124" /><Relationship Type="http://schemas.openxmlformats.org/officeDocument/2006/relationships/slide" Target="/ppt/slides/slide1.xml" Id="Rd40453de7cf04c9e" /><Relationship Type="http://schemas.openxmlformats.org/officeDocument/2006/relationships/slide" Target="/ppt/slides/slide2.xml" Id="R2e0e2511242d44e1" /><Relationship Type="http://schemas.openxmlformats.org/officeDocument/2006/relationships/slide" Target="/ppt/slides/slide3.xml" Id="Rd560ade34c3a43dd" /><Relationship Type="http://schemas.openxmlformats.org/officeDocument/2006/relationships/slide" Target="/ppt/slides/slide4.xml" Id="Rdda18bc690654014" /><Relationship Type="http://schemas.openxmlformats.org/officeDocument/2006/relationships/slide" Target="/ppt/slides/slide5.xml" Id="R5adeefd4ea96499b" /><Relationship Type="http://schemas.openxmlformats.org/officeDocument/2006/relationships/slide" Target="/ppt/slides/slide6.xml" Id="R315aab240b9748ac" /><Relationship Type="http://schemas.openxmlformats.org/officeDocument/2006/relationships/slide" Target="/ppt/slides/slide7.xml" Id="R09f37f461ed34ae0" /><Relationship Type="http://schemas.openxmlformats.org/officeDocument/2006/relationships/slide" Target="/ppt/slides/slide8.xml" Id="R77465d3900b145b5" /><Relationship Type="http://schemas.openxmlformats.org/officeDocument/2006/relationships/slide" Target="/ppt/slides/slide9.xml" Id="Rdf4ec011d394459d" /><Relationship Type="http://schemas.openxmlformats.org/officeDocument/2006/relationships/slide" Target="/ppt/slides/slide10.xml" Id="R7c35171e0ca24a58" /><Relationship Type="http://schemas.openxmlformats.org/officeDocument/2006/relationships/slide" Target="/ppt/slides/slide11.xml" Id="Radaf997508c244e2" /><Relationship Type="http://schemas.openxmlformats.org/officeDocument/2006/relationships/slide" Target="/ppt/slides/slide12.xml" Id="R9c740641dfcc4663" /><Relationship Type="http://schemas.openxmlformats.org/officeDocument/2006/relationships/slide" Target="/ppt/slides/slide13.xml" Id="R65314aa0888d426c" /><Relationship Type="http://schemas.openxmlformats.org/officeDocument/2006/relationships/slide" Target="/ppt/slides/slide14.xml" Id="Rdafe435a3acb4936" /><Relationship Type="http://schemas.openxmlformats.org/officeDocument/2006/relationships/slide" Target="/ppt/slides/slide15.xml" Id="R100c658c249045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3ee817d291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abc1ebfca34df3" /><Relationship Type="http://schemas.openxmlformats.org/officeDocument/2006/relationships/notesMaster" Target="/ppt/notesMasters/notesMaster1.xml" Id="R79d1410b5b2840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33da8431144eb5" /><Relationship Type="http://schemas.openxmlformats.org/officeDocument/2006/relationships/notesMaster" Target="/ppt/notesMasters/notesMaster1.xml" Id="R033719cf2a3d4a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b4554c9f764661" /><Relationship Type="http://schemas.openxmlformats.org/officeDocument/2006/relationships/notesMaster" Target="/ppt/notesMasters/notesMaster1.xml" Id="R4e399ab077a844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c56c518d10409d" /><Relationship Type="http://schemas.openxmlformats.org/officeDocument/2006/relationships/notesMaster" Target="/ppt/notesMasters/notesMaster1.xml" Id="R5621138e663d43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ea63c56787487b" /><Relationship Type="http://schemas.openxmlformats.org/officeDocument/2006/relationships/notesMaster" Target="/ppt/notesMasters/notesMaster1.xml" Id="Rcfb1c796e9464c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b2949efbd64739" /><Relationship Type="http://schemas.openxmlformats.org/officeDocument/2006/relationships/notesMaster" Target="/ppt/notesMasters/notesMaster1.xml" Id="Rf716f9f18a3d4a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86c86c7d154b50" /><Relationship Type="http://schemas.openxmlformats.org/officeDocument/2006/relationships/notesMaster" Target="/ppt/notesMasters/notesMaster1.xml" Id="R6f30c2b877c64b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10961ec91f4ba9" /><Relationship Type="http://schemas.openxmlformats.org/officeDocument/2006/relationships/notesMaster" Target="/ppt/notesMasters/notesMaster1.xml" Id="R445c46a2c4e443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3ddc6f6bce4b5b" /><Relationship Type="http://schemas.openxmlformats.org/officeDocument/2006/relationships/notesMaster" Target="/ppt/notesMasters/notesMaster1.xml" Id="R29a5e31ce86a4e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5cdf30d4b2417f" /><Relationship Type="http://schemas.openxmlformats.org/officeDocument/2006/relationships/notesMaster" Target="/ppt/notesMasters/notesMaster1.xml" Id="R61dc165fd7b345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c8abee8f9c4bb0" /><Relationship Type="http://schemas.openxmlformats.org/officeDocument/2006/relationships/notesMaster" Target="/ppt/notesMasters/notesMaster1.xml" Id="R7da86eb2a91147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6d1d37a5d84647" /><Relationship Type="http://schemas.openxmlformats.org/officeDocument/2006/relationships/notesMaster" Target="/ppt/notesMasters/notesMaster1.xml" Id="Racc3276b8e1242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bcd2f26d084752" /><Relationship Type="http://schemas.openxmlformats.org/officeDocument/2006/relationships/notesMaster" Target="/ppt/notesMasters/notesMaster1.xml" Id="R9631204c13a94f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803f3f3db54900" /><Relationship Type="http://schemas.openxmlformats.org/officeDocument/2006/relationships/notesMaster" Target="/ppt/notesMasters/notesMaster1.xml" Id="R2f97badd0b0b46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4e355853e2490c" /><Relationship Type="http://schemas.openxmlformats.org/officeDocument/2006/relationships/notesMaster" Target="/ppt/notesMasters/notesMaster1.xml" Id="R45830e8de31444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GoviLink is a mobile app prototype connecting Sri Lankan farmers with produce buyers and supporting delivery coordination. We propose a focused pilot to test whether this workflow leads to repeat, completed orders. Screenshots throughout use demonstration data. The project has no verified commercial traction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Farmers need timely demand information and a clear route to a buyer. Buyers need dependable quantities and agreed collection times. FAO describes post-harvest quality and quantity losses in traditional South Asian produce chains, including Sri Lankan cases. Our specific assumptions about phone calls, missed orders and willingness to change require interviews. Software alone cannot fix packaging, storage or road conditions. Source: https://www.fao.org/family-farming/detail/en/c/1756714/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DCS reports 2,104,353 agricultural workers, 25.7% of employment, in Q2 2025. DCS reports 70.8% digital literacy among people aged 5–69 in January–June 2025. These are national context measures, not our addressable customer count or farmers’ smartphone ownership. We will estimate the reachable market by counting eligible farms and repeat buyers on a chosen route. Sources: https://www.statistics.gov.lk/Resource/en/LabourForce/Bulletins/LFS_Q2_Bulletin_2025.pdf</a:t>
            </a:r>
          </a:p>
          <a:p xmlns:a="http://schemas.openxmlformats.org/drawingml/2006/main">
            <a:r>
              <a:t>https://www.statistics.gov.lk/Resource/en/ComputerLiteracy/Bulletins/2025-FirstSixMonths.pdf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These are proposed segments, not observed demographics. We will recruit adult small and medium vegetable growers, including people who use a shared household smartphone. Buyers are purchasing decision-makers at groceries, restaurants and small wholesalers. Language preference, device access, order frequency and current sourcing practices will be measured through interviews. Drivers and cooperative coordinators are delivery partners, not assumed paying subscribers.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A farmer publishes a harvest with quantity, unit, price and date. Farmers can review buyer requests and manage accepted orders. The codebase includes buyer request creation, order status transitions and driver assignment. These are prototype features, not proof of field reliability. The current UI includes some Sinhala and Tamil support, but full language coverage still needs an audit. Screenshots are from this project with demonstration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GoviLink brings harvest listings, buyer demand, order progress and delivery coordination into a consistent role-based workflow. This is our positioning, not a claim of exclusive features. We aim to win through reliable completion and support on one route. We must validate usability, language completeness and partner reliability before expanding.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Govi Mithuru’s published app listing describes agricultural advice, crop information and alerts. Govipola is a direct marketplace precedent documented by CBSL in 2019. We have not verified its present operational status, pricing or complete feature set. Phone and messaging workflows are an assumed alternative to investigate. We will run task-based comparisons rather than assert missing competitor features. Sources: https://play.google.com/store/apps/details?id=com.arimaclanka.android.govimithuru</a:t>
            </a:r>
          </a:p>
          <a:p xmlns:a="http://schemas.openxmlformats.org/drawingml/2006/main">
            <a:r>
              <a:t>https://www.cbsl.gov.lk/sites/default/files/cbslweb_documents/publications/annual_report/2019/en/13_Box_04.pdf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Free registration and listings keep adoption simple. After an introductory pilot waiver, test a 3% fee on the produce value of completed, settled orders, deducted from the seller payout with consent and disclosure. Delivery is a separately quoted buyer charge passed to the delivery partner. Fee collection and payment reconciliation are planned work, not verified production functionality. Do not charge on cancellations. Test willingness to pay before fixing prices. Premium buyer tools are a later option, excluded from projections.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detail, 20 seconds. Proposed model. Partners: farmer groups, recurring buyers and delivery operators. Activities: onboarding, marketplace operations, quality checks and dispute handling. Resources: app, cloud backend, staff and partner network. Value: visible supply and coordinated orders. Relationships: assisted onboarding and support. Channels: cooperatives, buyer visits and referrals. Customers: growers and business buyers. Costs: product, hosting, support and acquisition. Revenue: completed-order fees, with premium tools only after validation. No partners or contracts are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First, interview customers and confirm one viable route. Next, seek a farmer group and recurring buyers, then run a controlled 90-day pilot. Recruitment targets are 100 registered farmers and 30 registered buyers by day 90, not current traction. Aim for 100 completed orders in month three, at least 80% completion of accepted orders and 30% of transacting buyers returning within 30 days. Define cohorts so late users are not counted prematurely. Expand only after reliability, repeat purchasing and positive contribution per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These scenarios are assumptions, not forecasts or actual performance. Average completed produce order value is Rs. 10,000. At 3%, revenue is Rs. 300 per order. Assume Rs. 100 variable cost per order, leaving Rs. 200 contribution. At Rs. 100,000 monthly fixed operating cost, simplified operating break-even is 500 orders. The high scenario yields Rs. 20,000 before tax. Excludes initial development, founder compensation, delivery pass-through, payment fees beyond the allowance and extraordinary refunds. At Rs. 200 variable cost, break-even doubles to 1,000 orders. Validate every cost and collection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Marketplace liquidity is the central risk: sign up repeat buyers before recruiting widely. For quality issues, agree grades and record handover evidence. For missed deliveries, cap coverage and maintain a backup partner. For digital access, offer assisted onboarding and test local language task completion. Before launch, review permissions, payment reconciliation and data handling. Measure outcomes rather than promise a fixed income increase or waste reduction.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We are seeking introductions to one farmer organization, ten recurring produce buyers and two delivery partners. We also need mentorship to test pricing and service operations. No partnership, funding or customer commitment is confirmed. Our next step is a discovery meeting to agree the route, pilot responsibilities and measurable outcomes. Contact details and presenter identity must be added before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Use the expanded questions and answers in the companion guide. Avoid claiming verified traction, full translation coverage, a production payment system or guaranteed profits. Be candid about pilot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Sources accessed 12 October 2026. National statistics use the named 2025 periods, not a claim to the latest release. Govipola evidence is historical. App screenshots and implemented feature descriptions derive from the project source and demo previews. All pilot figures, commercial terms and economics are proposed assumptions.</a:t>
            </a:r>
          </a:p>
          <a:p xmlns:a="http://schemas.openxmlformats.org/drawingml/2006/main">
            <a:r>
              <a:t>employment: https://www.statistics.gov.lk/Resource/en/LabourForce/Bulletins/LFS_Q2_Bulletin_2025.pdf</a:t>
            </a:r>
          </a:p>
          <a:p xmlns:a="http://schemas.openxmlformats.org/drawingml/2006/main">
            <a:r>
              <a:t>digital: https://www.statistics.gov.lk/Resource/en/ComputerLiteracy/Bulletins/2025-FirstSixMonths.pdf</a:t>
            </a:r>
          </a:p>
          <a:p xmlns:a="http://schemas.openxmlformats.org/drawingml/2006/main">
            <a:r>
              <a:t>loss: https://www.fao.org/family-farming/detail/en/c/1756714/</a:t>
            </a:r>
          </a:p>
          <a:p xmlns:a="http://schemas.openxmlformats.org/drawingml/2006/main">
            <a:r>
              <a:t>dialog: https://play.google.com/store/apps/details?id=com.arimaclanka.android.govimithuru</a:t>
            </a:r>
          </a:p>
          <a:p xmlns:a="http://schemas.openxmlformats.org/drawingml/2006/main">
            <a:r>
              <a:t>govipola: https://www.cbsl.gov.lk/sites/default/files/cbslweb_documents/publications/annual_report/2019/en/13_Box_04.pdf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6ece42f244a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65299ecd8d43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c20fe31dce4f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d98dab9bcf48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d13e65def049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facbed496d44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B1B52E-6B44-4938-A67B-43C0D5001C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AA19CF-13F8-4D8C-9551-CBC42757DE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33FC5E-C5F8-4D63-B524-FDE8714390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07C108-9EF1-4EEB-A615-CE901CEEA0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E17D92-2659-4D00-BF83-511D084328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911680-409F-4D52-A320-F703D858DC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EEA469-3AEB-4C51-BBC2-4609887504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57B55C-D3CF-4762-9F18-DFE5849297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A5D2D1-ED28-4931-8DD8-2D01F31237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EAC14F-A997-43CE-AC5C-1A0564CF99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97c3e8e9664783" /><Relationship Type="http://schemas.openxmlformats.org/officeDocument/2006/relationships/slideLayout" Target="/ppt/slideLayouts/slideLayout1.xml" Id="R6342bddafa5e4a56" /><Relationship Type="http://schemas.openxmlformats.org/officeDocument/2006/relationships/slideLayout" Target="/ppt/slideLayouts/slideLayout2.xml" Id="Rfe393af3e09d4e7e" /><Relationship Type="http://schemas.openxmlformats.org/officeDocument/2006/relationships/slideLayout" Target="/ppt/slideLayouts/slideLayout3.xml" Id="Rd944fe09e3d441cc" /><Relationship Type="http://schemas.openxmlformats.org/officeDocument/2006/relationships/slideLayout" Target="/ppt/slideLayouts/slideLayout4.xml" Id="R3a3db859733842d7" /><Relationship Type="http://schemas.openxmlformats.org/officeDocument/2006/relationships/slideLayout" Target="/ppt/slideLayouts/slideLayout5.xml" Id="R7383f116a13447f0" /><Relationship Type="http://schemas.openxmlformats.org/officeDocument/2006/relationships/slideLayout" Target="/ppt/slideLayouts/slideLayout6.xml" Id="R7ccc9afc9b4b4d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42bddafa5e4a56"/>
    <p:sldLayoutId xmlns:r="http://schemas.openxmlformats.org/officeDocument/2006/relationships" id="2147483650" r:id="Rfe393af3e09d4e7e"/>
    <p:sldLayoutId xmlns:r="http://schemas.openxmlformats.org/officeDocument/2006/relationships" id="2147483651" r:id="Rd944fe09e3d441cc"/>
    <p:sldLayoutId xmlns:r="http://schemas.openxmlformats.org/officeDocument/2006/relationships" id="2147483652" r:id="R3a3db859733842d7"/>
    <p:sldLayoutId xmlns:r="http://schemas.openxmlformats.org/officeDocument/2006/relationships" id="2147483653" r:id="R7383f116a13447f0"/>
    <p:sldLayoutId xmlns:r="http://schemas.openxmlformats.org/officeDocument/2006/relationships" id="2147483654" r:id="R7ccc9afc9b4b4d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276dfefd3c418d" /><Relationship Type="http://schemas.openxmlformats.org/officeDocument/2006/relationships/image" Target="/ppt/media/image.jpeg" Id="R2ac932215725441a" /><Relationship Type="http://schemas.openxmlformats.org/officeDocument/2006/relationships/notesSlide" Target="/ppt/notesSlides/notesSlide1.xml" Id="Rc3ac7a4f044f40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26077b9d38484d" /><Relationship Type="http://schemas.openxmlformats.org/officeDocument/2006/relationships/notesSlide" Target="/ppt/notesSlides/notesSlide2.xml" Id="R239b50feb9ba4c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70ef4f1e534bda" /><Relationship Type="http://schemas.openxmlformats.org/officeDocument/2006/relationships/notesSlide" Target="/ppt/notesSlides/notesSlide3.xml" Id="Raefbcee5e35c49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d8948523e94cc6" /><Relationship Type="http://schemas.openxmlformats.org/officeDocument/2006/relationships/notesSlide" Target="/ppt/notesSlides/notesSlide4.xml" Id="R9545550af69e49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5777344eb84bc7" /><Relationship Type="http://schemas.openxmlformats.org/officeDocument/2006/relationships/image" Target="/ppt/media/image2.jpeg" Id="R77b1effee4da4b50" /><Relationship Type="http://schemas.openxmlformats.org/officeDocument/2006/relationships/image" Target="/ppt/media/image3.jpeg" Id="R2eb800ffbd844a22" /><Relationship Type="http://schemas.openxmlformats.org/officeDocument/2006/relationships/image" Target="/ppt/media/image4.jpeg" Id="Rd97990a8b9d241e7" /><Relationship Type="http://schemas.openxmlformats.org/officeDocument/2006/relationships/notesSlide" Target="/ppt/notesSlides/notesSlide5.xml" Id="R1986798ee74d4a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4cc2692f59472f" /><Relationship Type="http://schemas.openxmlformats.org/officeDocument/2006/relationships/notesSlide" Target="/ppt/notesSlides/notesSlide6.xml" Id="R59593cfa827940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4ba02279cf437e" /><Relationship Type="http://schemas.openxmlformats.org/officeDocument/2006/relationships/notesSlide" Target="/ppt/notesSlides/notesSlide7.xml" Id="Rf6e681c2f39044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9ca66bc3c14c23" /><Relationship Type="http://schemas.openxmlformats.org/officeDocument/2006/relationships/notesSlide" Target="/ppt/notesSlides/notesSlide8.xml" Id="Rda884d9807c445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3a9532fb2d045c7" /><Relationship Type="http://schemas.openxmlformats.org/officeDocument/2006/relationships/notesSlide" Target="/ppt/notesSlides/notesSlide9.xml" Id="Rd9d788df6ec043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df81c693b74231" /><Relationship Type="http://schemas.openxmlformats.org/officeDocument/2006/relationships/notesSlide" Target="/ppt/notesSlides/notesSlide10.xml" Id="Re6f7df7bad524d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ec153e4b4774380" /><Relationship Type="http://schemas.openxmlformats.org/officeDocument/2006/relationships/notesSlide" Target="/ppt/notesSlides/notesSlide11.xml" Id="R468bea30c2f246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40f5ec64db48b1" /><Relationship Type="http://schemas.openxmlformats.org/officeDocument/2006/relationships/notesSlide" Target="/ppt/notesSlides/notesSlide12.xml" Id="R785823cd92444c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f26e199a244411c" /><Relationship Type="http://schemas.openxmlformats.org/officeDocument/2006/relationships/notesSlide" Target="/ppt/notesSlides/notesSlide13.xml" Id="R2f8fe07f1bc746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2eac3425e04cb7" /><Relationship Type="http://schemas.openxmlformats.org/officeDocument/2006/relationships/notesSlide" Target="/ppt/notesSlides/notesSlide14.xml" Id="R78b4dff86d954e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497d615dd74174" /><Relationship Type="http://schemas.openxmlformats.org/officeDocument/2006/relationships/notesSlide" Target="/ppt/notesSlides/notesSlide15.xml" Id="Rca9d445fa47c4724" /></Relationships>
</file>

<file path=ppt/slides/slide1.xml><?xml version="1.0" encoding="utf-8"?>
<p:sld xmlns:p="http://schemas.openxmlformats.org/presentationml/2006/main">
  <p:cSld>
    <p:bg>
      <p:bgPr>
        <a:solidFill xmlns:a="http://schemas.openxmlformats.org/drawingml/2006/main">
          <a:srgbClr val="1635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109A2F-7349-43EA-BE96-6984A0F2129D}"/>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GoviLink</a:t>
            </a:r>
          </a:p>
        </p:txBody>
      </p:sp>
      <p:sp>
        <p:nvSpPr>
          <p:cNvPr id="2" name="">
            <a:extLst xmlns:a="http://schemas.openxmlformats.org/drawingml/2006/main">
              <a:ext uri="{FF2B5EF4-FFF2-40B4-BE49-F238E27FC236}">
                <a16:creationId xmlns:a16="http://schemas.microsoft.com/office/drawing/2014/main" id="{FEE934DB-6093-48DC-BD2F-1557605AB4EB}"/>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D4C6"/>
                </a:solidFill>
                <a:latin typeface="Arial"/>
                <a:ea typeface="Arial"/>
                <a:cs typeface="Arial"/>
              </a:defRPr>
            </a:defPPr>
          </a:lstStyle>
          <a:p xmlns:a="http://schemas.openxmlformats.org/drawingml/2006/main">
            <a:pPr>
              <a:defRPr sz="1125" b="0">
                <a:solidFill>
                  <a:srgbClr val="B8D4C6"/>
                </a:solidFill>
                <a:latin typeface="Arial"/>
                <a:ea typeface="Arial"/>
                <a:cs typeface="Arial"/>
              </a:defRPr>
            </a:pPr>
            <a:r>
              <a:rPr sz="1125" b="0">
                <a:solidFill>
                  <a:srgbClr val="B8D4C6"/>
                </a:solidFill>
                <a:latin typeface="Arial"/>
                <a:ea typeface="Arial"/>
                <a:cs typeface="Arial"/>
              </a:rPr>
              <a:t>GoviLink   /   1</a:t>
            </a:r>
          </a:p>
        </p:txBody>
      </p:sp>
      <p:sp>
        <p:nvSpPr>
          <p:cNvPr id="3" name="">
            <a:extLst xmlns:a="http://schemas.openxmlformats.org/drawingml/2006/main">
              <a:ext uri="{FF2B5EF4-FFF2-40B4-BE49-F238E27FC236}">
                <a16:creationId xmlns:a16="http://schemas.microsoft.com/office/drawing/2014/main" id="{D866511E-B8E5-4DA9-B1D1-9F4D78F8B6FF}"/>
              </a:ext>
            </a:extLst>
          </p:cNvPr>
          <p:cNvSpPr>
            <a:spLocks xmlns:a="http://schemas.openxmlformats.org/drawingml/2006/main" noGrp="1"/>
          </p:cNvSpPr>
          <p:nvPr/>
        </p:nvSpPr>
        <p:spPr>
          <a:xfrm xmlns:a="http://schemas.openxmlformats.org/drawingml/2006/main">
            <a:off x="6096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A clearer path from</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harvest to buyer</a:t>
            </a:r>
          </a:p>
        </p:txBody>
      </p:sp>
      <p:sp>
        <p:nvSpPr>
          <p:cNvPr id="4" name="">
            <a:extLst xmlns:a="http://schemas.openxmlformats.org/drawingml/2006/main">
              <a:ext uri="{FF2B5EF4-FFF2-40B4-BE49-F238E27FC236}">
                <a16:creationId xmlns:a16="http://schemas.microsoft.com/office/drawing/2014/main" id="{B8DB9773-ABBD-4B7C-82D2-E9B0C7A467C8}"/>
              </a:ext>
            </a:extLst>
          </p:cNvPr>
          <p:cNvSpPr>
            <a:spLocks xmlns:a="http://schemas.openxmlformats.org/drawingml/2006/main" noGrp="1"/>
          </p:cNvSpPr>
          <p:nvPr/>
        </p:nvSpPr>
        <p:spPr>
          <a:xfrm xmlns:a="http://schemas.openxmlformats.org/drawingml/2006/main">
            <a:off x="609600" y="4524375"/>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DD6C8"/>
                </a:solidFill>
                <a:latin typeface="Arial"/>
                <a:ea typeface="Arial"/>
                <a:cs typeface="Arial"/>
              </a:defRPr>
            </a:defPPr>
          </a:lstStyle>
          <a:p xmlns:a="http://schemas.openxmlformats.org/drawingml/2006/main">
            <a:pPr>
              <a:defRPr sz="1800" b="0">
                <a:solidFill>
                  <a:srgbClr val="BDD6C8"/>
                </a:solidFill>
                <a:latin typeface="Arial"/>
                <a:ea typeface="Arial"/>
                <a:cs typeface="Arial"/>
              </a:defRPr>
            </a:pPr>
            <a:r>
              <a:rPr sz="1800" b="0">
                <a:solidFill>
                  <a:srgbClr val="BDD6C8"/>
                </a:solidFill>
                <a:latin typeface="Arial"/>
                <a:ea typeface="Arial"/>
                <a:cs typeface="Arial"/>
              </a:rPr>
              <a:t>Business pitch · SE3050</a:t>
            </a:r>
          </a:p>
          <a:p xmlns:a="http://schemas.openxmlformats.org/drawingml/2006/main">
            <a:pPr>
              <a:defRPr sz="1800" b="0">
                <a:solidFill>
                  <a:srgbClr val="BDD6C8"/>
                </a:solidFill>
                <a:latin typeface="Arial"/>
                <a:ea typeface="Arial"/>
                <a:cs typeface="Arial"/>
              </a:defRPr>
            </a:pPr>
            <a:r>
              <a:rPr sz="1800" b="0">
                <a:solidFill>
                  <a:srgbClr val="BDD6C8"/>
                </a:solidFill>
                <a:latin typeface="Arial"/>
                <a:ea typeface="Arial"/>
                <a:cs typeface="Arial"/>
              </a:rPr>
              <a:t>User Experience Engineering · Semester 2, 2026</a:t>
            </a:r>
          </a:p>
        </p:txBody>
      </p:sp>
      <p:sp>
        <p:nvSpPr>
          <p:cNvPr id="5" name="">
            <a:extLst xmlns:a="http://schemas.openxmlformats.org/drawingml/2006/main">
              <a:ext uri="{FF2B5EF4-FFF2-40B4-BE49-F238E27FC236}">
                <a16:creationId xmlns:a16="http://schemas.microsoft.com/office/drawing/2014/main" id="{649749CA-FF2F-440F-8386-D1556E059704}"/>
              </a:ext>
            </a:extLst>
          </p:cNvPr>
          <p:cNvSpPr>
            <a:spLocks xmlns:a="http://schemas.openxmlformats.org/drawingml/2006/main" noGrp="1"/>
          </p:cNvSpPr>
          <p:nvPr/>
        </p:nvSpPr>
        <p:spPr>
          <a:xfrm xmlns:a="http://schemas.openxmlformats.org/drawingml/2006/main">
            <a:off x="609600" y="575310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6C8"/>
                </a:solidFill>
                <a:latin typeface="Arial"/>
                <a:ea typeface="Arial"/>
                <a:cs typeface="Arial"/>
              </a:defRPr>
            </a:defPPr>
          </a:lstStyle>
          <a:p xmlns:a="http://schemas.openxmlformats.org/drawingml/2006/main">
            <a:pPr>
              <a:defRPr sz="1350" b="0">
                <a:solidFill>
                  <a:srgbClr val="BDD6C8"/>
                </a:solidFill>
                <a:latin typeface="Arial"/>
                <a:ea typeface="Arial"/>
                <a:cs typeface="Arial"/>
              </a:defRPr>
            </a:pPr>
            <a:r>
              <a:rPr sz="1350" b="0">
                <a:solidFill>
                  <a:srgbClr val="BDD6C8"/>
                </a:solidFill>
                <a:latin typeface="Arial"/>
                <a:ea typeface="Arial"/>
                <a:cs typeface="Arial"/>
              </a:rPr>
              <a:t>Student names and IDs: add before submission</a:t>
            </a:r>
          </a:p>
        </p:txBody>
      </p:sp>
      <p:pic>
        <p:nvPicPr>
          <p:cNvPr id="6" name="">
            <a:extLst xmlns:a="http://schemas.openxmlformats.org/drawingml/2006/main">
              <a:ext uri="{FF2B5EF4-FFF2-40B4-BE49-F238E27FC236}">
                <a16:creationId xmlns:a16="http://schemas.microsoft.com/office/drawing/2014/main" id="{AD47FA0E-47D5-4D8A-827B-117577DAA72F}"/>
              </a:ext>
            </a:extLst>
          </p:cNvPr>
          <p:cNvPicPr>
            <a:picLocks xmlns:a="http://schemas.openxmlformats.org/drawingml/2006/main" noChangeAspect="1"/>
          </p:cNvPicPr>
          <p:nvPr/>
        </p:nvPicPr>
        <p:blipFill>
          <a:blip xmlns:r="http://schemas.openxmlformats.org/officeDocument/2006/relationships" xmlns:a="http://schemas.openxmlformats.org/drawingml/2006/main" r:embed="R2ac932215725441a"/>
          <a:stretch xmlns:a="http://schemas.openxmlformats.org/drawingml/2006/main"/>
        </p:blipFill>
        <p:spPr>
          <a:xfrm xmlns:a="http://schemas.openxmlformats.org/drawingml/2006/main">
            <a:off x="8705850" y="630238"/>
            <a:ext cx="2476500" cy="5359400"/>
          </a:xfrm>
          <a:prstGeom xmlns:a="http://schemas.openxmlformats.org/drawingml/2006/main" prst="rect">
            <a:avLst/>
          </a:prstGeom>
        </p:spPr>
      </p:pic>
    </p:spTree>
    <p:extLst>
      <p:ext uri="{BB962C8B-B14F-4D97-AF65-F5344CB8AC3E}">
        <p14:creationId xmlns:p14="http://schemas.microsoft.com/office/powerpoint/2010/main" val="1242760516"/>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C51615-21F2-47B4-AD53-AA6C318CE429}"/>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8A26D9AB-2900-486D-9F66-6CBC3F8F156A}"/>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2</a:t>
            </a:r>
          </a:p>
        </p:txBody>
      </p:sp>
      <p:sp>
        <p:nvSpPr>
          <p:cNvPr id="3" name="">
            <a:extLst xmlns:a="http://schemas.openxmlformats.org/drawingml/2006/main">
              <a:ext uri="{FF2B5EF4-FFF2-40B4-BE49-F238E27FC236}">
                <a16:creationId xmlns:a16="http://schemas.microsoft.com/office/drawing/2014/main" id="{B1D813E2-78D9-4A06-A8A3-69D6F76742A4}"/>
              </a:ext>
            </a:extLst>
          </p:cNvPr>
          <p:cNvSpPr>
            <a:spLocks xmlns:a="http://schemas.openxmlformats.org/drawingml/2006/main" noGrp="1"/>
          </p:cNvSpPr>
          <p:nvPr/>
        </p:nvSpPr>
        <p:spPr>
          <a:xfrm xmlns:a="http://schemas.openxmlformats.org/drawingml/2006/main">
            <a:off x="6096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Farmer</a:t>
            </a:r>
          </a:p>
        </p:txBody>
      </p:sp>
      <p:sp>
        <p:nvSpPr>
          <p:cNvPr id="4" name="">
            <a:extLst xmlns:a="http://schemas.openxmlformats.org/drawingml/2006/main">
              <a:ext uri="{FF2B5EF4-FFF2-40B4-BE49-F238E27FC236}">
                <a16:creationId xmlns:a16="http://schemas.microsoft.com/office/drawing/2014/main" id="{6C5D4F4A-3B9F-4E36-81C5-00F3A99B1FF9}"/>
              </a:ext>
            </a:extLst>
          </p:cNvPr>
          <p:cNvSpPr>
            <a:spLocks xmlns:a="http://schemas.openxmlformats.org/drawingml/2006/main" noGrp="1"/>
          </p:cNvSpPr>
          <p:nvPr/>
        </p:nvSpPr>
        <p:spPr>
          <a:xfrm xmlns:a="http://schemas.openxmlformats.org/drawingml/2006/main">
            <a:off x="60960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Finding a buyer before produce loses value can take time and repeated follow-up.</a:t>
            </a:r>
          </a:p>
        </p:txBody>
      </p:sp>
      <p:sp>
        <p:nvSpPr>
          <p:cNvPr id="5" name="">
            <a:extLst xmlns:a="http://schemas.openxmlformats.org/drawingml/2006/main">
              <a:ext uri="{FF2B5EF4-FFF2-40B4-BE49-F238E27FC236}">
                <a16:creationId xmlns:a16="http://schemas.microsoft.com/office/drawing/2014/main" id="{381121D3-2DE4-4CB8-9D82-04CCF4CC1C8A}"/>
              </a:ext>
            </a:extLst>
          </p:cNvPr>
          <p:cNvSpPr>
            <a:spLocks xmlns:a="http://schemas.openxmlformats.org/drawingml/2006/main" noGrp="1"/>
          </p:cNvSpPr>
          <p:nvPr/>
        </p:nvSpPr>
        <p:spPr>
          <a:xfrm xmlns:a="http://schemas.openxmlformats.org/drawingml/2006/main">
            <a:off x="6524625"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Buyer</a:t>
            </a:r>
          </a:p>
        </p:txBody>
      </p:sp>
      <p:sp>
        <p:nvSpPr>
          <p:cNvPr id="6" name="">
            <a:extLst xmlns:a="http://schemas.openxmlformats.org/drawingml/2006/main">
              <a:ext uri="{FF2B5EF4-FFF2-40B4-BE49-F238E27FC236}">
                <a16:creationId xmlns:a16="http://schemas.microsoft.com/office/drawing/2014/main" id="{A0228182-4D21-4F43-9B18-30E603E3C8B4}"/>
              </a:ext>
            </a:extLst>
          </p:cNvPr>
          <p:cNvSpPr>
            <a:spLocks xmlns:a="http://schemas.openxmlformats.org/drawingml/2006/main" noGrp="1"/>
          </p:cNvSpPr>
          <p:nvPr/>
        </p:nvSpPr>
        <p:spPr>
          <a:xfrm xmlns:a="http://schemas.openxmlformats.org/drawingml/2006/main">
            <a:off x="6524625"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Checking quantity, price and collection details across suppliers adds work.</a:t>
            </a:r>
          </a:p>
        </p:txBody>
      </p:sp>
      <p:sp>
        <p:nvSpPr>
          <p:cNvPr id="7" name="">
            <a:extLst xmlns:a="http://schemas.openxmlformats.org/drawingml/2006/main">
              <a:ext uri="{FF2B5EF4-FFF2-40B4-BE49-F238E27FC236}">
                <a16:creationId xmlns:a16="http://schemas.microsoft.com/office/drawing/2014/main" id="{C3088D0D-BFFA-448D-AC91-5B1FAFA982D6}"/>
              </a:ext>
            </a:extLst>
          </p:cNvPr>
          <p:cNvSpPr>
            <a:spLocks xmlns:a="http://schemas.openxmlformats.org/drawingml/2006/main" noGrp="1"/>
          </p:cNvSpPr>
          <p:nvPr/>
        </p:nvSpPr>
        <p:spPr>
          <a:xfrm xmlns:a="http://schemas.openxmlformats.org/drawingml/2006/main">
            <a:off x="609600" y="39719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458"/>
                </a:solidFill>
                <a:latin typeface="Arial"/>
                <a:ea typeface="Arial"/>
                <a:cs typeface="Arial"/>
              </a:defRPr>
            </a:defPPr>
          </a:lstStyle>
          <a:p xmlns:a="http://schemas.openxmlformats.org/drawingml/2006/main">
            <a:pPr>
              <a:defRPr sz="2250" b="1">
                <a:solidFill>
                  <a:srgbClr val="167458"/>
                </a:solidFill>
                <a:latin typeface="Arial"/>
                <a:ea typeface="Arial"/>
                <a:cs typeface="Arial"/>
              </a:defRPr>
            </a:pPr>
            <a:r>
              <a:rPr sz="2250" b="1">
                <a:solidFill>
                  <a:srgbClr val="167458"/>
                </a:solidFill>
                <a:latin typeface="Arial"/>
                <a:ea typeface="Arial"/>
                <a:cs typeface="Arial"/>
              </a:rPr>
              <a:t>The gap we will test</a:t>
            </a:r>
          </a:p>
        </p:txBody>
      </p:sp>
      <p:sp>
        <p:nvSpPr>
          <p:cNvPr id="8" name="">
            <a:extLst xmlns:a="http://schemas.openxmlformats.org/drawingml/2006/main">
              <a:ext uri="{FF2B5EF4-FFF2-40B4-BE49-F238E27FC236}">
                <a16:creationId xmlns:a16="http://schemas.microsoft.com/office/drawing/2014/main" id="{B0DC6CCE-EAEC-4FBB-BF63-5A7D5A956F96}"/>
              </a:ext>
            </a:extLst>
          </p:cNvPr>
          <p:cNvSpPr>
            <a:spLocks xmlns:a="http://schemas.openxmlformats.org/drawingml/2006/main" noGrp="1"/>
          </p:cNvSpPr>
          <p:nvPr/>
        </p:nvSpPr>
        <p:spPr>
          <a:xfrm xmlns:a="http://schemas.openxmlformats.org/drawingml/2006/main">
            <a:off x="609600" y="459105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6352D"/>
                </a:solidFill>
                <a:latin typeface="Arial"/>
                <a:ea typeface="Arial"/>
                <a:cs typeface="Arial"/>
              </a:defRPr>
            </a:defPPr>
          </a:lstStyle>
          <a:p xmlns:a="http://schemas.openxmlformats.org/drawingml/2006/main">
            <a:pPr>
              <a:defRPr sz="2625" b="0">
                <a:solidFill>
                  <a:srgbClr val="16352D"/>
                </a:solidFill>
                <a:latin typeface="Arial"/>
                <a:ea typeface="Arial"/>
                <a:cs typeface="Arial"/>
              </a:defRPr>
            </a:pPr>
            <a:r>
              <a:rPr sz="2625" b="0">
                <a:solidFill>
                  <a:srgbClr val="16352D"/>
                </a:solidFill>
                <a:latin typeface="Arial"/>
                <a:ea typeface="Arial"/>
                <a:cs typeface="Arial"/>
              </a:rPr>
              <a:t>Can one shared listing and order workflow reduce coordination effort and help more orders reach completion?</a:t>
            </a:r>
          </a:p>
        </p:txBody>
      </p:sp>
      <p:sp>
        <p:nvSpPr>
          <p:cNvPr id="9" name="">
            <a:extLst xmlns:a="http://schemas.openxmlformats.org/drawingml/2006/main">
              <a:ext uri="{FF2B5EF4-FFF2-40B4-BE49-F238E27FC236}">
                <a16:creationId xmlns:a16="http://schemas.microsoft.com/office/drawing/2014/main" id="{81054B23-40D0-4970-A4F9-946DAD8A8F29}"/>
              </a:ext>
            </a:extLst>
          </p:cNvPr>
          <p:cNvSpPr>
            <a:spLocks xmlns:a="http://schemas.openxmlformats.org/drawingml/2006/main" noGrp="1"/>
          </p:cNvSpPr>
          <p:nvPr/>
        </p:nvSpPr>
        <p:spPr>
          <a:xfrm xmlns:a="http://schemas.openxmlformats.org/drawingml/2006/main">
            <a:off x="609600" y="6029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Evidence: FAO supply-chain cases. Specific customer pain points remain hypotheses.</a:t>
            </a:r>
          </a:p>
        </p:txBody>
      </p:sp>
    </p:spTree>
    <p:extLst>
      <p:ext uri="{BB962C8B-B14F-4D97-AF65-F5344CB8AC3E}">
        <p14:creationId xmlns:p14="http://schemas.microsoft.com/office/powerpoint/2010/main" val="1449585833"/>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2F559C-202C-45AB-A775-34513D39324F}"/>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Market context in Sri Lanka</a:t>
            </a:r>
          </a:p>
        </p:txBody>
      </p:sp>
      <p:sp>
        <p:nvSpPr>
          <p:cNvPr id="2" name="">
            <a:extLst xmlns:a="http://schemas.openxmlformats.org/drawingml/2006/main">
              <a:ext uri="{FF2B5EF4-FFF2-40B4-BE49-F238E27FC236}">
                <a16:creationId xmlns:a16="http://schemas.microsoft.com/office/drawing/2014/main" id="{AB1CD5C8-5293-491E-9468-6200799AFB63}"/>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3</a:t>
            </a:r>
          </a:p>
        </p:txBody>
      </p:sp>
      <p:sp>
        <p:nvSpPr>
          <p:cNvPr id="3" name="">
            <a:extLst xmlns:a="http://schemas.openxmlformats.org/drawingml/2006/main">
              <a:ext uri="{FF2B5EF4-FFF2-40B4-BE49-F238E27FC236}">
                <a16:creationId xmlns:a16="http://schemas.microsoft.com/office/drawing/2014/main" id="{847D4323-FAA2-47C6-8C54-B8F358F9AA9B}"/>
              </a:ext>
            </a:extLst>
          </p:cNvPr>
          <p:cNvSpPr>
            <a:spLocks xmlns:a="http://schemas.openxmlformats.org/drawingml/2006/main" noGrp="1"/>
          </p:cNvSpPr>
          <p:nvPr/>
        </p:nvSpPr>
        <p:spPr>
          <a:xfrm xmlns:a="http://schemas.openxmlformats.org/drawingml/2006/main">
            <a:off x="609600" y="17335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67458"/>
                </a:solidFill>
                <a:latin typeface="Arial"/>
                <a:ea typeface="Arial"/>
                <a:cs typeface="Arial"/>
              </a:defRPr>
            </a:defPPr>
          </a:lstStyle>
          <a:p xmlns:a="http://schemas.openxmlformats.org/drawingml/2006/main">
            <a:pPr>
              <a:defRPr sz="5700" b="1">
                <a:solidFill>
                  <a:srgbClr val="167458"/>
                </a:solidFill>
                <a:latin typeface="Arial"/>
                <a:ea typeface="Arial"/>
                <a:cs typeface="Arial"/>
              </a:defRPr>
            </a:pPr>
            <a:r>
              <a:rPr sz="5700" b="1">
                <a:solidFill>
                  <a:srgbClr val="167458"/>
                </a:solidFill>
                <a:latin typeface="Arial"/>
                <a:ea typeface="Arial"/>
                <a:cs typeface="Arial"/>
              </a:rPr>
              <a:t>2.10 million</a:t>
            </a:r>
          </a:p>
        </p:txBody>
      </p:sp>
      <p:sp>
        <p:nvSpPr>
          <p:cNvPr id="4" name="">
            <a:extLst xmlns:a="http://schemas.openxmlformats.org/drawingml/2006/main">
              <a:ext uri="{FF2B5EF4-FFF2-40B4-BE49-F238E27FC236}">
                <a16:creationId xmlns:a16="http://schemas.microsoft.com/office/drawing/2014/main" id="{5B57C091-3EDB-4954-BF84-F074F9B2515D}"/>
              </a:ext>
            </a:extLst>
          </p:cNvPr>
          <p:cNvSpPr>
            <a:spLocks xmlns:a="http://schemas.openxmlformats.org/drawingml/2006/main" noGrp="1"/>
          </p:cNvSpPr>
          <p:nvPr/>
        </p:nvSpPr>
        <p:spPr>
          <a:xfrm xmlns:a="http://schemas.openxmlformats.org/drawingml/2006/main">
            <a:off x="609600" y="291465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52D"/>
                </a:solidFill>
                <a:latin typeface="Arial"/>
                <a:ea typeface="Arial"/>
                <a:cs typeface="Arial"/>
              </a:defRPr>
            </a:defPPr>
          </a:lstStyle>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people employed in agriculture</a:t>
            </a:r>
          </a:p>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25.7% of employment, Q2 2025</a:t>
            </a:r>
          </a:p>
        </p:txBody>
      </p:sp>
      <p:sp>
        <p:nvSpPr>
          <p:cNvPr id="5" name="">
            <a:extLst xmlns:a="http://schemas.openxmlformats.org/drawingml/2006/main">
              <a:ext uri="{FF2B5EF4-FFF2-40B4-BE49-F238E27FC236}">
                <a16:creationId xmlns:a16="http://schemas.microsoft.com/office/drawing/2014/main" id="{887B4B02-0045-459A-B62F-30744D373E52}"/>
              </a:ext>
            </a:extLst>
          </p:cNvPr>
          <p:cNvSpPr>
            <a:spLocks xmlns:a="http://schemas.openxmlformats.org/drawingml/2006/main" noGrp="1"/>
          </p:cNvSpPr>
          <p:nvPr/>
        </p:nvSpPr>
        <p:spPr>
          <a:xfrm xmlns:a="http://schemas.openxmlformats.org/drawingml/2006/main">
            <a:off x="7172325" y="17335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67458"/>
                </a:solidFill>
                <a:latin typeface="Arial"/>
                <a:ea typeface="Arial"/>
                <a:cs typeface="Arial"/>
              </a:defRPr>
            </a:defPPr>
          </a:lstStyle>
          <a:p xmlns:a="http://schemas.openxmlformats.org/drawingml/2006/main">
            <a:pPr>
              <a:defRPr sz="5700" b="1">
                <a:solidFill>
                  <a:srgbClr val="167458"/>
                </a:solidFill>
                <a:latin typeface="Arial"/>
                <a:ea typeface="Arial"/>
                <a:cs typeface="Arial"/>
              </a:defRPr>
            </a:pPr>
            <a:r>
              <a:rPr sz="5700" b="1">
                <a:solidFill>
                  <a:srgbClr val="167458"/>
                </a:solidFill>
                <a:latin typeface="Arial"/>
                <a:ea typeface="Arial"/>
                <a:cs typeface="Arial"/>
              </a:rPr>
              <a:t>70.8%</a:t>
            </a:r>
          </a:p>
        </p:txBody>
      </p:sp>
      <p:sp>
        <p:nvSpPr>
          <p:cNvPr id="6" name="">
            <a:extLst xmlns:a="http://schemas.openxmlformats.org/drawingml/2006/main">
              <a:ext uri="{FF2B5EF4-FFF2-40B4-BE49-F238E27FC236}">
                <a16:creationId xmlns:a16="http://schemas.microsoft.com/office/drawing/2014/main" id="{5A2F96B7-17DF-4BF1-9253-4AD986DB854C}"/>
              </a:ext>
            </a:extLst>
          </p:cNvPr>
          <p:cNvSpPr>
            <a:spLocks xmlns:a="http://schemas.openxmlformats.org/drawingml/2006/main" noGrp="1"/>
          </p:cNvSpPr>
          <p:nvPr/>
        </p:nvSpPr>
        <p:spPr>
          <a:xfrm xmlns:a="http://schemas.openxmlformats.org/drawingml/2006/main">
            <a:off x="7172325" y="291465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52D"/>
                </a:solidFill>
                <a:latin typeface="Arial"/>
                <a:ea typeface="Arial"/>
                <a:cs typeface="Arial"/>
              </a:defRPr>
            </a:defPPr>
          </a:lstStyle>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digital literacy, ages 5–69</a:t>
            </a:r>
          </a:p>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January–June 2025</a:t>
            </a:r>
          </a:p>
        </p:txBody>
      </p:sp>
      <p:sp>
        <p:nvSpPr>
          <p:cNvPr id="7" name="">
            <a:extLst xmlns:a="http://schemas.openxmlformats.org/drawingml/2006/main">
              <a:ext uri="{FF2B5EF4-FFF2-40B4-BE49-F238E27FC236}">
                <a16:creationId xmlns:a16="http://schemas.microsoft.com/office/drawing/2014/main" id="{C351B70B-41A4-4FE2-993A-DBB9541DF3AE}"/>
              </a:ext>
            </a:extLst>
          </p:cNvPr>
          <p:cNvSpPr>
            <a:spLocks xmlns:a="http://schemas.openxmlformats.org/drawingml/2006/main" noGrp="1"/>
          </p:cNvSpPr>
          <p:nvPr/>
        </p:nvSpPr>
        <p:spPr>
          <a:xfrm xmlns:a="http://schemas.openxmlformats.org/drawingml/2006/main">
            <a:off x="609600" y="4419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458"/>
                </a:solidFill>
                <a:latin typeface="Arial"/>
                <a:ea typeface="Arial"/>
                <a:cs typeface="Arial"/>
              </a:defRPr>
            </a:defPPr>
          </a:lstStyle>
          <a:p xmlns:a="http://schemas.openxmlformats.org/drawingml/2006/main">
            <a:pPr>
              <a:defRPr sz="2250" b="1">
                <a:solidFill>
                  <a:srgbClr val="167458"/>
                </a:solidFill>
                <a:latin typeface="Arial"/>
                <a:ea typeface="Arial"/>
                <a:cs typeface="Arial"/>
              </a:defRPr>
            </a:pPr>
            <a:r>
              <a:rPr sz="2250" b="1">
                <a:solidFill>
                  <a:srgbClr val="167458"/>
                </a:solidFill>
                <a:latin typeface="Arial"/>
                <a:ea typeface="Arial"/>
                <a:cs typeface="Arial"/>
              </a:rPr>
              <a:t>A focused first market</a:t>
            </a:r>
          </a:p>
        </p:txBody>
      </p:sp>
      <p:sp>
        <p:nvSpPr>
          <p:cNvPr id="8" name="">
            <a:extLst xmlns:a="http://schemas.openxmlformats.org/drawingml/2006/main">
              <a:ext uri="{FF2B5EF4-FFF2-40B4-BE49-F238E27FC236}">
                <a16:creationId xmlns:a16="http://schemas.microsoft.com/office/drawing/2014/main" id="{4A56E380-D1C1-4130-8C23-AFB1C1A5E287}"/>
              </a:ext>
            </a:extLst>
          </p:cNvPr>
          <p:cNvSpPr>
            <a:spLocks xmlns:a="http://schemas.openxmlformats.org/drawingml/2006/main" noGrp="1"/>
          </p:cNvSpPr>
          <p:nvPr/>
        </p:nvSpPr>
        <p:spPr>
          <a:xfrm xmlns:a="http://schemas.openxmlformats.org/drawingml/2006/main">
            <a:off x="609600" y="4981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52D"/>
                </a:solidFill>
                <a:latin typeface="Arial"/>
                <a:ea typeface="Arial"/>
                <a:cs typeface="Arial"/>
              </a:defRPr>
            </a:defPPr>
          </a:lstStyle>
          <a:p xmlns:a="http://schemas.openxmlformats.org/drawingml/2006/main">
            <a:pPr>
              <a:defRPr sz="2400" b="0">
                <a:solidFill>
                  <a:srgbClr val="16352D"/>
                </a:solidFill>
                <a:latin typeface="Arial"/>
                <a:ea typeface="Arial"/>
                <a:cs typeface="Arial"/>
              </a:defRPr>
            </a:pPr>
            <a:r>
              <a:rPr sz="2400" b="0">
                <a:solidFill>
                  <a:srgbClr val="16352D"/>
                </a:solidFill>
                <a:latin typeface="Arial"/>
                <a:ea typeface="Arial"/>
                <a:cs typeface="Arial"/>
              </a:rPr>
              <a:t>Vegetable growers in Nuwara Eliya and recurring produce buyers on one reachable delivery route.</a:t>
            </a:r>
          </a:p>
        </p:txBody>
      </p:sp>
      <p:sp>
        <p:nvSpPr>
          <p:cNvPr id="9" name="">
            <a:extLst xmlns:a="http://schemas.openxmlformats.org/drawingml/2006/main">
              <a:ext uri="{FF2B5EF4-FFF2-40B4-BE49-F238E27FC236}">
                <a16:creationId xmlns:a16="http://schemas.microsoft.com/office/drawing/2014/main" id="{6609ED8F-31B0-4776-B394-79D88E6D259A}"/>
              </a:ext>
            </a:extLst>
          </p:cNvPr>
          <p:cNvSpPr>
            <a:spLocks xmlns:a="http://schemas.openxmlformats.org/drawingml/2006/main" noGrp="1"/>
          </p:cNvSpPr>
          <p:nvPr/>
        </p:nvSpPr>
        <p:spPr>
          <a:xfrm xmlns:a="http://schemas.openxmlformats.org/drawingml/2006/main">
            <a:off x="609600" y="6029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DCS 2025 releases. Broad context, not a validated market-size estimate.</a:t>
            </a:r>
          </a:p>
        </p:txBody>
      </p:sp>
    </p:spTree>
    <p:extLst>
      <p:ext uri="{BB962C8B-B14F-4D97-AF65-F5344CB8AC3E}">
        <p14:creationId xmlns:p14="http://schemas.microsoft.com/office/powerpoint/2010/main" val="797502823"/>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77C26F-7635-4433-8B70-26E75EDC5982}"/>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Our first users</a:t>
            </a:r>
          </a:p>
        </p:txBody>
      </p:sp>
      <p:sp>
        <p:nvSpPr>
          <p:cNvPr id="2" name="">
            <a:extLst xmlns:a="http://schemas.openxmlformats.org/drawingml/2006/main">
              <a:ext uri="{FF2B5EF4-FFF2-40B4-BE49-F238E27FC236}">
                <a16:creationId xmlns:a16="http://schemas.microsoft.com/office/drawing/2014/main" id="{02B2A704-CC8E-41D2-8FD1-A8F9D4D9B9A8}"/>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4</a:t>
            </a:r>
          </a:p>
        </p:txBody>
      </p:sp>
      <p:sp>
        <p:nvSpPr>
          <p:cNvPr id="3" name="">
            <a:extLst xmlns:a="http://schemas.openxmlformats.org/drawingml/2006/main">
              <a:ext uri="{FF2B5EF4-FFF2-40B4-BE49-F238E27FC236}">
                <a16:creationId xmlns:a16="http://schemas.microsoft.com/office/drawing/2014/main" id="{9164FE57-C574-419C-99A7-5DCD1A3E82A3}"/>
              </a:ext>
            </a:extLst>
          </p:cNvPr>
          <p:cNvSpPr>
            <a:spLocks xmlns:a="http://schemas.openxmlformats.org/drawingml/2006/main" noGrp="1"/>
          </p:cNvSpPr>
          <p:nvPr/>
        </p:nvSpPr>
        <p:spPr>
          <a:xfrm xmlns:a="http://schemas.openxmlformats.org/drawingml/2006/main">
            <a:off x="6096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Farmers</a:t>
            </a:r>
          </a:p>
        </p:txBody>
      </p:sp>
      <p:sp>
        <p:nvSpPr>
          <p:cNvPr id="4" name="">
            <a:extLst xmlns:a="http://schemas.openxmlformats.org/drawingml/2006/main">
              <a:ext uri="{FF2B5EF4-FFF2-40B4-BE49-F238E27FC236}">
                <a16:creationId xmlns:a16="http://schemas.microsoft.com/office/drawing/2014/main" id="{D8A3AC57-AD95-4CA9-B074-36A24D0208A4}"/>
              </a:ext>
            </a:extLst>
          </p:cNvPr>
          <p:cNvSpPr>
            <a:spLocks xmlns:a="http://schemas.openxmlformats.org/drawingml/2006/main" noGrp="1"/>
          </p:cNvSpPr>
          <p:nvPr/>
        </p:nvSpPr>
        <p:spPr>
          <a:xfrm xmlns:a="http://schemas.openxmlformats.org/drawingml/2006/main">
            <a:off x="60960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Small and medium vegetable growers. Need simple listings, clear demand and visible order progress.</a:t>
            </a:r>
          </a:p>
        </p:txBody>
      </p:sp>
      <p:sp>
        <p:nvSpPr>
          <p:cNvPr id="5" name="">
            <a:extLst xmlns:a="http://schemas.openxmlformats.org/drawingml/2006/main">
              <a:ext uri="{FF2B5EF4-FFF2-40B4-BE49-F238E27FC236}">
                <a16:creationId xmlns:a16="http://schemas.microsoft.com/office/drawing/2014/main" id="{C2ED2131-10C2-47D4-BCA8-668C9AA08A33}"/>
              </a:ext>
            </a:extLst>
          </p:cNvPr>
          <p:cNvSpPr>
            <a:spLocks xmlns:a="http://schemas.openxmlformats.org/drawingml/2006/main" noGrp="1"/>
          </p:cNvSpPr>
          <p:nvPr/>
        </p:nvSpPr>
        <p:spPr>
          <a:xfrm xmlns:a="http://schemas.openxmlformats.org/drawingml/2006/main">
            <a:off x="6524625"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Business buyers</a:t>
            </a:r>
          </a:p>
        </p:txBody>
      </p:sp>
      <p:sp>
        <p:nvSpPr>
          <p:cNvPr id="6" name="">
            <a:extLst xmlns:a="http://schemas.openxmlformats.org/drawingml/2006/main">
              <a:ext uri="{FF2B5EF4-FFF2-40B4-BE49-F238E27FC236}">
                <a16:creationId xmlns:a16="http://schemas.microsoft.com/office/drawing/2014/main" id="{8D53ED2D-C70E-466C-86BF-C7BBCB41AE60}"/>
              </a:ext>
            </a:extLst>
          </p:cNvPr>
          <p:cNvSpPr>
            <a:spLocks xmlns:a="http://schemas.openxmlformats.org/drawingml/2006/main" noGrp="1"/>
          </p:cNvSpPr>
          <p:nvPr/>
        </p:nvSpPr>
        <p:spPr>
          <a:xfrm xmlns:a="http://schemas.openxmlformats.org/drawingml/2006/main">
            <a:off x="6524625"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Grocers, restaurants and small wholesalers. Need repeat supply with known quantity and timing.</a:t>
            </a:r>
          </a:p>
        </p:txBody>
      </p:sp>
      <p:sp>
        <p:nvSpPr>
          <p:cNvPr id="7" name="">
            <a:extLst xmlns:a="http://schemas.openxmlformats.org/drawingml/2006/main">
              <a:ext uri="{FF2B5EF4-FFF2-40B4-BE49-F238E27FC236}">
                <a16:creationId xmlns:a16="http://schemas.microsoft.com/office/drawing/2014/main" id="{9D74D161-EFFD-4E2E-B13C-4DA0F8B227E0}"/>
              </a:ext>
            </a:extLst>
          </p:cNvPr>
          <p:cNvSpPr>
            <a:spLocks xmlns:a="http://schemas.openxmlformats.org/drawingml/2006/main" noGrp="1"/>
          </p:cNvSpPr>
          <p:nvPr/>
        </p:nvSpPr>
        <p:spPr>
          <a:xfrm xmlns:a="http://schemas.openxmlformats.org/drawingml/2006/main">
            <a:off x="609600"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Delivery partners</a:t>
            </a:r>
          </a:p>
        </p:txBody>
      </p:sp>
      <p:sp>
        <p:nvSpPr>
          <p:cNvPr id="8" name="">
            <a:extLst xmlns:a="http://schemas.openxmlformats.org/drawingml/2006/main">
              <a:ext uri="{FF2B5EF4-FFF2-40B4-BE49-F238E27FC236}">
                <a16:creationId xmlns:a16="http://schemas.microsoft.com/office/drawing/2014/main" id="{B15F097F-1204-49EB-AEAD-10211F0E654D}"/>
              </a:ext>
            </a:extLst>
          </p:cNvPr>
          <p:cNvSpPr>
            <a:spLocks xmlns:a="http://schemas.openxmlformats.org/drawingml/2006/main" noGrp="1"/>
          </p:cNvSpPr>
          <p:nvPr/>
        </p:nvSpPr>
        <p:spPr>
          <a:xfrm xmlns:a="http://schemas.openxmlformats.org/drawingml/2006/main">
            <a:off x="609600"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Local drivers and cooperative coordinators. Need clear pickup and handover information.</a:t>
            </a:r>
          </a:p>
        </p:txBody>
      </p:sp>
      <p:sp>
        <p:nvSpPr>
          <p:cNvPr id="9" name="">
            <a:extLst xmlns:a="http://schemas.openxmlformats.org/drawingml/2006/main">
              <a:ext uri="{FF2B5EF4-FFF2-40B4-BE49-F238E27FC236}">
                <a16:creationId xmlns:a16="http://schemas.microsoft.com/office/drawing/2014/main" id="{31111304-B21D-4F91-9097-9026F2090513}"/>
              </a:ext>
            </a:extLst>
          </p:cNvPr>
          <p:cNvSpPr>
            <a:spLocks xmlns:a="http://schemas.openxmlformats.org/drawingml/2006/main" noGrp="1"/>
          </p:cNvSpPr>
          <p:nvPr/>
        </p:nvSpPr>
        <p:spPr>
          <a:xfrm xmlns:a="http://schemas.openxmlformats.org/drawingml/2006/main">
            <a:off x="6524625"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Research before launch</a:t>
            </a:r>
          </a:p>
        </p:txBody>
      </p:sp>
      <p:sp>
        <p:nvSpPr>
          <p:cNvPr id="10" name="">
            <a:extLst xmlns:a="http://schemas.openxmlformats.org/drawingml/2006/main">
              <a:ext uri="{FF2B5EF4-FFF2-40B4-BE49-F238E27FC236}">
                <a16:creationId xmlns:a16="http://schemas.microsoft.com/office/drawing/2014/main" id="{F879FFC2-3236-453C-96A6-6066A08449F4}"/>
              </a:ext>
            </a:extLst>
          </p:cNvPr>
          <p:cNvSpPr>
            <a:spLocks xmlns:a="http://schemas.openxmlformats.org/drawingml/2006/main" noGrp="1"/>
          </p:cNvSpPr>
          <p:nvPr/>
        </p:nvSpPr>
        <p:spPr>
          <a:xfrm xmlns:a="http://schemas.openxmlformats.org/drawingml/2006/main">
            <a:off x="6524625"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Interview 15 farmers, 10 buyers and 5 drivers. Test tasks with 5 users per main role.</a:t>
            </a:r>
          </a:p>
        </p:txBody>
      </p:sp>
    </p:spTree>
    <p:extLst>
      <p:ext uri="{BB962C8B-B14F-4D97-AF65-F5344CB8AC3E}">
        <p14:creationId xmlns:p14="http://schemas.microsoft.com/office/powerpoint/2010/main" val="878325402"/>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B20482-15BA-44A4-940C-4F130746DCC4}"/>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The GoviLink workflow</a:t>
            </a:r>
          </a:p>
        </p:txBody>
      </p:sp>
      <p:sp>
        <p:nvSpPr>
          <p:cNvPr id="2" name="">
            <a:extLst xmlns:a="http://schemas.openxmlformats.org/drawingml/2006/main">
              <a:ext uri="{FF2B5EF4-FFF2-40B4-BE49-F238E27FC236}">
                <a16:creationId xmlns:a16="http://schemas.microsoft.com/office/drawing/2014/main" id="{5FA5E021-3481-430F-BD54-3A93AD4141F7}"/>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5</a:t>
            </a:r>
          </a:p>
        </p:txBody>
      </p:sp>
      <p:pic>
        <p:nvPicPr>
          <p:cNvPr id="3" name="">
            <a:extLst xmlns:a="http://schemas.openxmlformats.org/drawingml/2006/main">
              <a:ext uri="{FF2B5EF4-FFF2-40B4-BE49-F238E27FC236}">
                <a16:creationId xmlns:a16="http://schemas.microsoft.com/office/drawing/2014/main" id="{B71CC0C0-E584-4025-92FE-5263ACF2214B}"/>
              </a:ext>
            </a:extLst>
          </p:cNvPr>
          <p:cNvPicPr>
            <a:picLocks xmlns:a="http://schemas.openxmlformats.org/drawingml/2006/main" noChangeAspect="1"/>
          </p:cNvPicPr>
          <p:nvPr/>
        </p:nvPicPr>
        <p:blipFill>
          <a:blip xmlns:r="http://schemas.openxmlformats.org/officeDocument/2006/relationships" xmlns:a="http://schemas.openxmlformats.org/drawingml/2006/main" r:embed="R77b1effee4da4b50"/>
          <a:stretch xmlns:a="http://schemas.openxmlformats.org/drawingml/2006/main"/>
        </p:blipFill>
        <p:spPr>
          <a:xfrm xmlns:a="http://schemas.openxmlformats.org/drawingml/2006/main">
            <a:off x="938145" y="1609725"/>
            <a:ext cx="1971810" cy="4267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1362E3C-13E6-4E58-BB13-FD06C72B773D}"/>
              </a:ext>
            </a:extLst>
          </p:cNvPr>
          <p:cNvPicPr>
            <a:picLocks xmlns:a="http://schemas.openxmlformats.org/drawingml/2006/main" noChangeAspect="1"/>
          </p:cNvPicPr>
          <p:nvPr/>
        </p:nvPicPr>
        <p:blipFill>
          <a:blip xmlns:r="http://schemas.openxmlformats.org/officeDocument/2006/relationships" xmlns:a="http://schemas.openxmlformats.org/drawingml/2006/main" r:embed="R2eb800ffbd844a22"/>
          <a:stretch xmlns:a="http://schemas.openxmlformats.org/drawingml/2006/main"/>
        </p:blipFill>
        <p:spPr>
          <a:xfrm xmlns:a="http://schemas.openxmlformats.org/drawingml/2006/main">
            <a:off x="5043420" y="1609725"/>
            <a:ext cx="1971810" cy="42672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067AEA8-5AD0-4BFC-800C-0F0FCB9A2951}"/>
              </a:ext>
            </a:extLst>
          </p:cNvPr>
          <p:cNvPicPr>
            <a:picLocks xmlns:a="http://schemas.openxmlformats.org/drawingml/2006/main" noChangeAspect="1"/>
          </p:cNvPicPr>
          <p:nvPr/>
        </p:nvPicPr>
        <p:blipFill>
          <a:blip xmlns:r="http://schemas.openxmlformats.org/officeDocument/2006/relationships" xmlns:a="http://schemas.openxmlformats.org/drawingml/2006/main" r:embed="Rd97990a8b9d241e7"/>
          <a:stretch xmlns:a="http://schemas.openxmlformats.org/drawingml/2006/main"/>
        </p:blipFill>
        <p:spPr>
          <a:xfrm xmlns:a="http://schemas.openxmlformats.org/drawingml/2006/main">
            <a:off x="9101070" y="1609725"/>
            <a:ext cx="1971810" cy="4267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AB7A43-16B2-42C4-A6D5-405F80C7F3D2}"/>
              </a:ext>
            </a:extLst>
          </p:cNvPr>
          <p:cNvSpPr>
            <a:spLocks xmlns:a="http://schemas.openxmlformats.org/drawingml/2006/main" noGrp="1"/>
          </p:cNvSpPr>
          <p:nvPr/>
        </p:nvSpPr>
        <p:spPr>
          <a:xfrm xmlns:a="http://schemas.openxmlformats.org/drawingml/2006/main">
            <a:off x="609600" y="59245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01  Publish a harvest</a:t>
            </a:r>
          </a:p>
        </p:txBody>
      </p:sp>
      <p:sp>
        <p:nvSpPr>
          <p:cNvPr id="7" name="">
            <a:extLst xmlns:a="http://schemas.openxmlformats.org/drawingml/2006/main">
              <a:ext uri="{FF2B5EF4-FFF2-40B4-BE49-F238E27FC236}">
                <a16:creationId xmlns:a16="http://schemas.microsoft.com/office/drawing/2014/main" id="{C28297B7-5BFB-4640-81F2-7C3DC6F40F42}"/>
              </a:ext>
            </a:extLst>
          </p:cNvPr>
          <p:cNvSpPr>
            <a:spLocks xmlns:a="http://schemas.openxmlformats.org/drawingml/2006/main" noGrp="1"/>
          </p:cNvSpPr>
          <p:nvPr/>
        </p:nvSpPr>
        <p:spPr>
          <a:xfrm xmlns:a="http://schemas.openxmlformats.org/drawingml/2006/main">
            <a:off x="4657725" y="59245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02  Review demand</a:t>
            </a:r>
          </a:p>
        </p:txBody>
      </p:sp>
      <p:sp>
        <p:nvSpPr>
          <p:cNvPr id="8" name="">
            <a:extLst xmlns:a="http://schemas.openxmlformats.org/drawingml/2006/main">
              <a:ext uri="{FF2B5EF4-FFF2-40B4-BE49-F238E27FC236}">
                <a16:creationId xmlns:a16="http://schemas.microsoft.com/office/drawing/2014/main" id="{2376E457-AC94-485E-A374-6471DC15AC07}"/>
              </a:ext>
            </a:extLst>
          </p:cNvPr>
          <p:cNvSpPr>
            <a:spLocks xmlns:a="http://schemas.openxmlformats.org/drawingml/2006/main" noGrp="1"/>
          </p:cNvSpPr>
          <p:nvPr/>
        </p:nvSpPr>
        <p:spPr>
          <a:xfrm xmlns:a="http://schemas.openxmlformats.org/drawingml/2006/main">
            <a:off x="8705850" y="5924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03  Manage the order</a:t>
            </a:r>
          </a:p>
        </p:txBody>
      </p:sp>
    </p:spTree>
    <p:extLst>
      <p:ext uri="{BB962C8B-B14F-4D97-AF65-F5344CB8AC3E}">
        <p14:creationId xmlns:p14="http://schemas.microsoft.com/office/powerpoint/2010/main" val="1685837054"/>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E47825-9453-4A1C-B83F-57B4B0F24A5C}"/>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Our proposed advantage</a:t>
            </a:r>
          </a:p>
        </p:txBody>
      </p:sp>
      <p:sp>
        <p:nvSpPr>
          <p:cNvPr id="2" name="">
            <a:extLst xmlns:a="http://schemas.openxmlformats.org/drawingml/2006/main">
              <a:ext uri="{FF2B5EF4-FFF2-40B4-BE49-F238E27FC236}">
                <a16:creationId xmlns:a16="http://schemas.microsoft.com/office/drawing/2014/main" id="{6F5295AA-A9A8-41B4-901A-F423E32B177E}"/>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6</a:t>
            </a:r>
          </a:p>
        </p:txBody>
      </p:sp>
      <p:sp>
        <p:nvSpPr>
          <p:cNvPr id="3" name="">
            <a:extLst xmlns:a="http://schemas.openxmlformats.org/drawingml/2006/main">
              <a:ext uri="{FF2B5EF4-FFF2-40B4-BE49-F238E27FC236}">
                <a16:creationId xmlns:a16="http://schemas.microsoft.com/office/drawing/2014/main" id="{62EDF0D5-4347-4D89-8A46-7FF4C33AD4F7}"/>
              </a:ext>
            </a:extLst>
          </p:cNvPr>
          <p:cNvSpPr>
            <a:spLocks xmlns:a="http://schemas.openxmlformats.org/drawingml/2006/main" noGrp="1"/>
          </p:cNvSpPr>
          <p:nvPr/>
        </p:nvSpPr>
        <p:spPr>
          <a:xfrm xmlns:a="http://schemas.openxmlformats.org/drawingml/2006/main">
            <a:off x="609600" y="16764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7458"/>
                </a:solidFill>
                <a:latin typeface="Arial"/>
                <a:ea typeface="Arial"/>
                <a:cs typeface="Arial"/>
              </a:defRPr>
            </a:defPPr>
          </a:lstStyle>
          <a:p xmlns:a="http://schemas.openxmlformats.org/drawingml/2006/main">
            <a:pPr>
              <a:defRPr sz="3150" b="1">
                <a:solidFill>
                  <a:srgbClr val="167458"/>
                </a:solidFill>
                <a:latin typeface="Arial"/>
                <a:ea typeface="Arial"/>
                <a:cs typeface="Arial"/>
              </a:defRPr>
            </a:pPr>
            <a:r>
              <a:rPr sz="3150" b="1">
                <a:solidFill>
                  <a:srgbClr val="167458"/>
                </a:solidFill>
                <a:latin typeface="Arial"/>
                <a:ea typeface="Arial"/>
                <a:cs typeface="Arial"/>
              </a:rPr>
              <a:t>A focused workflow for repeat local trade</a:t>
            </a:r>
          </a:p>
        </p:txBody>
      </p:sp>
      <p:sp>
        <p:nvSpPr>
          <p:cNvPr id="4" name="">
            <a:extLst xmlns:a="http://schemas.openxmlformats.org/drawingml/2006/main">
              <a:ext uri="{FF2B5EF4-FFF2-40B4-BE49-F238E27FC236}">
                <a16:creationId xmlns:a16="http://schemas.microsoft.com/office/drawing/2014/main" id="{3D8B2BC8-848D-4BA3-A409-D4CDCA5609A9}"/>
              </a:ext>
            </a:extLst>
          </p:cNvPr>
          <p:cNvSpPr>
            <a:spLocks xmlns:a="http://schemas.openxmlformats.org/drawingml/2006/main" noGrp="1"/>
          </p:cNvSpPr>
          <p:nvPr/>
        </p:nvSpPr>
        <p:spPr>
          <a:xfrm xmlns:a="http://schemas.openxmlformats.org/drawingml/2006/main">
            <a:off x="609600" y="29813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Harvest details and buyer requests stay connected to order progress.</a:t>
            </a:r>
          </a:p>
        </p:txBody>
      </p:sp>
      <p:sp>
        <p:nvSpPr>
          <p:cNvPr id="5" name="">
            <a:extLst xmlns:a="http://schemas.openxmlformats.org/drawingml/2006/main">
              <a:ext uri="{FF2B5EF4-FFF2-40B4-BE49-F238E27FC236}">
                <a16:creationId xmlns:a16="http://schemas.microsoft.com/office/drawing/2014/main" id="{1018279C-CBCC-41F8-BA12-E505CFDE2BDC}"/>
              </a:ext>
            </a:extLst>
          </p:cNvPr>
          <p:cNvSpPr>
            <a:spLocks xmlns:a="http://schemas.openxmlformats.org/drawingml/2006/main" noGrp="1"/>
          </p:cNvSpPr>
          <p:nvPr/>
        </p:nvSpPr>
        <p:spPr>
          <a:xfrm xmlns:a="http://schemas.openxmlformats.org/drawingml/2006/main">
            <a:off x="609600" y="38957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Farmer, buyer and driver roles support the same transaction.</a:t>
            </a:r>
          </a:p>
        </p:txBody>
      </p:sp>
      <p:sp>
        <p:nvSpPr>
          <p:cNvPr id="6" name="">
            <a:extLst xmlns:a="http://schemas.openxmlformats.org/drawingml/2006/main">
              <a:ext uri="{FF2B5EF4-FFF2-40B4-BE49-F238E27FC236}">
                <a16:creationId xmlns:a16="http://schemas.microsoft.com/office/drawing/2014/main" id="{19907BFC-786F-4867-A91D-746DD1649E00}"/>
              </a:ext>
            </a:extLst>
          </p:cNvPr>
          <p:cNvSpPr>
            <a:spLocks xmlns:a="http://schemas.openxmlformats.org/drawingml/2006/main" noGrp="1"/>
          </p:cNvSpPr>
          <p:nvPr/>
        </p:nvSpPr>
        <p:spPr>
          <a:xfrm xmlns:a="http://schemas.openxmlformats.org/drawingml/2006/main">
            <a:off x="609600" y="4810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Pilot advantage to prove: easier coordination and reliable handover.</a:t>
            </a:r>
          </a:p>
        </p:txBody>
      </p:sp>
      <p:sp>
        <p:nvSpPr>
          <p:cNvPr id="7" name="">
            <a:extLst xmlns:a="http://schemas.openxmlformats.org/drawingml/2006/main">
              <a:ext uri="{FF2B5EF4-FFF2-40B4-BE49-F238E27FC236}">
                <a16:creationId xmlns:a16="http://schemas.microsoft.com/office/drawing/2014/main" id="{0C39081B-7401-43EA-A686-F91EECE336D9}"/>
              </a:ext>
            </a:extLst>
          </p:cNvPr>
          <p:cNvSpPr>
            <a:spLocks xmlns:a="http://schemas.openxmlformats.org/drawingml/2006/main" noGrp="1"/>
          </p:cNvSpPr>
          <p:nvPr/>
        </p:nvSpPr>
        <p:spPr>
          <a:xfrm xmlns:a="http://schemas.openxmlformats.org/drawingml/2006/main">
            <a:off x="609600" y="60579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Prototype today. Commercial reliability and customer outcomes remain unproven.</a:t>
            </a:r>
          </a:p>
        </p:txBody>
      </p:sp>
    </p:spTree>
    <p:extLst>
      <p:ext uri="{BB962C8B-B14F-4D97-AF65-F5344CB8AC3E}">
        <p14:creationId xmlns:p14="http://schemas.microsoft.com/office/powerpoint/2010/main" val="913930956"/>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07DE1E-32B8-4305-BE89-36FB9EDACD5C}"/>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Competitive landscape</a:t>
            </a:r>
          </a:p>
        </p:txBody>
      </p:sp>
      <p:sp>
        <p:nvSpPr>
          <p:cNvPr id="2" name="">
            <a:extLst xmlns:a="http://schemas.openxmlformats.org/drawingml/2006/main">
              <a:ext uri="{FF2B5EF4-FFF2-40B4-BE49-F238E27FC236}">
                <a16:creationId xmlns:a16="http://schemas.microsoft.com/office/drawing/2014/main" id="{200E4BA9-BA05-4C81-98D8-8B5E92905990}"/>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7</a:t>
            </a:r>
          </a:p>
        </p:txBody>
      </p:sp>
      <p:graphicFrame>
        <p:nvGraphicFramePr>
          <p:cNvPr id="3" name="">
            <a:extLst xmlns:a="http://schemas.openxmlformats.org/drawingml/2006/main">
              <a:ext uri="{FF2B5EF4-FFF2-40B4-BE49-F238E27FC236}">
                <a16:creationId xmlns:a16="http://schemas.microsoft.com/office/drawing/2014/main" id="{6C0F5B2F-9DE6-4409-BC90-4FF23A738CD8}"/>
              </a:ext>
            </a:extLst>
          </p:cNvPr>
          <p:cNvGraphicFramePr/>
          <p:nvPr/>
        </p:nvGraphicFramePr>
        <p:xfrm>
          <a:off xmlns:a="http://schemas.openxmlformats.org/drawingml/2006/main" x="609600" y="1628775"/>
          <a:ext xmlns:a="http://schemas.openxmlformats.org/drawingml/2006/main" cx="10972800" cy="3571875"/>
        </p:xfrm>
        <a:graphic xmlns:a="http://schemas.openxmlformats.org/drawingml/2006/main">
          <a:graphicData uri="http://schemas.openxmlformats.org/drawingml/2006/table">
            <a:tbl>
              <a:tblPr/>
              <a:tblGrid>
                <a:gridCol w="2286000"/>
                <a:gridCol w="4324350"/>
                <a:gridCol w="4362450"/>
              </a:tblGrid>
              <a:tr h="892969">
                <a:tc>
                  <a:txBody>
                    <a:bodyPr/>
                    <a:lstStyle/>
                    <a:p>
                      <a:r>
                        <a:rPr sz="1875" b="1">
                          <a:solidFill>
                            <a:srgbClr val="FFFFFF"/>
                          </a:solidFill>
                          <a:latin typeface="Arial"/>
                          <a:ea typeface="Arial"/>
                          <a:cs typeface="Arial"/>
                        </a:rPr>
                        <a:t>Alternative</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Documented role / strength</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GoviLink response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892969">
                <a:tc>
                  <a:txBody>
                    <a:bodyPr/>
                    <a:lstStyle/>
                    <a:p>
                      <a:r>
                        <a:rPr sz="1875" b="0">
                          <a:solidFill>
                            <a:srgbClr val="16352D"/>
                          </a:solidFill>
                          <a:latin typeface="Arial"/>
                          <a:ea typeface="Arial"/>
                          <a:cs typeface="Arial"/>
                        </a:rPr>
                        <a:t>Govi Mithuru</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Crop advice and agricultural alerts</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Focus on trading and order coordination</a:t>
                      </a:r>
                    </a:p>
                  </a:txBody>
                  <a:tcPr marL="91440" marR="91440" marT="45720" marB="45720">
                    <a:lnR w="19050">
                      <a:solidFill>
                        <a:srgbClr val="F5F7F2"/>
                      </a:solidFill>
                    </a:lnR>
                    <a:lnB w="19050">
                      <a:solidFill>
                        <a:srgbClr val="F5F7F2"/>
                      </a:solidFill>
                    </a:lnB>
                    <a:solidFill>
                      <a:srgbClr val="FFFFFF"/>
                    </a:solidFill>
                  </a:tcPr>
                </a:tc>
              </a:tr>
              <a:tr h="892969">
                <a:tc>
                  <a:txBody>
                    <a:bodyPr/>
                    <a:lstStyle/>
                    <a:p>
                      <a:r>
                        <a:rPr sz="1875" b="0">
                          <a:solidFill>
                            <a:srgbClr val="16352D"/>
                          </a:solidFill>
                          <a:latin typeface="Arial"/>
                          <a:ea typeface="Arial"/>
                          <a:cs typeface="Arial"/>
                        </a:rPr>
                        <a:t>Govipola</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Marketplace and supply–demand matching¹</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Prove reliable service on one route</a:t>
                      </a:r>
                    </a:p>
                  </a:txBody>
                  <a:tcPr marL="91440" marR="91440" marT="45720" marB="45720">
                    <a:lnR w="19050">
                      <a:solidFill>
                        <a:srgbClr val="F5F7F2"/>
                      </a:solidFill>
                    </a:lnR>
                    <a:lnB w="19050">
                      <a:solidFill>
                        <a:srgbClr val="F5F7F2"/>
                      </a:solidFill>
                    </a:lnB>
                    <a:solidFill>
                      <a:srgbClr val="E8F3EC"/>
                    </a:solidFill>
                  </a:tcPr>
                </a:tc>
              </a:tr>
              <a:tr h="892969">
                <a:tc>
                  <a:txBody>
                    <a:bodyPr/>
                    <a:lstStyle/>
                    <a:p>
                      <a:r>
                        <a:rPr sz="1875" b="0">
                          <a:solidFill>
                            <a:srgbClr val="16352D"/>
                          </a:solidFill>
                          <a:latin typeface="Arial"/>
                          <a:ea typeface="Arial"/>
                          <a:cs typeface="Arial"/>
                        </a:rPr>
                        <a:t>Calls and messages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Familiar communication²</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Test value of shared order records</a:t>
                      </a:r>
                    </a:p>
                  </a:txBody>
                  <a:tcPr marL="91440" marR="91440" marT="45720" marB="45720">
                    <a:lnR w="19050">
                      <a:solidFill>
                        <a:srgbClr val="F5F7F2"/>
                      </a:solidFill>
                    </a:lnR>
                    <a:lnB w="19050">
                      <a:solidFill>
                        <a:srgbClr val="F5F7F2"/>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BD167A5-2A15-4007-965F-2DFF4A9977D2}"/>
              </a:ext>
            </a:extLst>
          </p:cNvPr>
          <p:cNvSpPr>
            <a:spLocks xmlns:a="http://schemas.openxmlformats.org/drawingml/2006/main" noGrp="1"/>
          </p:cNvSpPr>
          <p:nvPr/>
        </p:nvSpPr>
        <p:spPr>
          <a:xfrm xmlns:a="http://schemas.openxmlformats.org/drawingml/2006/main">
            <a:off x="609600" y="55816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2756A"/>
                </a:solidFill>
                <a:latin typeface="Arial"/>
                <a:ea typeface="Arial"/>
                <a:cs typeface="Arial"/>
              </a:defRPr>
            </a:defPPr>
          </a:lstStyle>
          <a:p xmlns:a="http://schemas.openxmlformats.org/drawingml/2006/main">
            <a:pPr>
              <a:defRPr sz="1425" b="0">
                <a:solidFill>
                  <a:srgbClr val="62756A"/>
                </a:solidFill>
                <a:latin typeface="Arial"/>
                <a:ea typeface="Arial"/>
                <a:cs typeface="Arial"/>
              </a:defRPr>
            </a:pPr>
            <a:r>
              <a:rPr sz="1425" b="0">
                <a:solidFill>
                  <a:srgbClr val="62756A"/>
                </a:solidFill>
                <a:latin typeface="Arial"/>
                <a:ea typeface="Arial"/>
                <a:cs typeface="Arial"/>
              </a:rPr>
              <a:t>¹ Historical CBSL description, 2019. Current service status unverified.</a:t>
            </a:r>
          </a:p>
          <a:p xmlns:a="http://schemas.openxmlformats.org/drawingml/2006/main">
            <a:pPr>
              <a:defRPr sz="1425" b="0">
                <a:solidFill>
                  <a:srgbClr val="62756A"/>
                </a:solidFill>
                <a:latin typeface="Arial"/>
                <a:ea typeface="Arial"/>
                <a:cs typeface="Arial"/>
              </a:defRPr>
            </a:pPr>
            <a:r>
              <a:rPr sz="1425" b="0">
                <a:solidFill>
                  <a:srgbClr val="62756A"/>
                </a:solidFill>
                <a:latin typeface="Arial"/>
                <a:ea typeface="Arial"/>
                <a:cs typeface="Arial"/>
              </a:rPr>
              <a:t>² Customer-behaviour hypothesis for interviews. No exclusivity claim.</a:t>
            </a:r>
          </a:p>
        </p:txBody>
      </p:sp>
    </p:spTree>
    <p:extLst>
      <p:ext uri="{BB962C8B-B14F-4D97-AF65-F5344CB8AC3E}">
        <p14:creationId xmlns:p14="http://schemas.microsoft.com/office/powerpoint/2010/main" val="635762159"/>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3FFFF2-A7EA-4CDA-B22F-C52C7BD8654D}"/>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Proposed revenue model</a:t>
            </a:r>
          </a:p>
        </p:txBody>
      </p:sp>
      <p:sp>
        <p:nvSpPr>
          <p:cNvPr id="2" name="">
            <a:extLst xmlns:a="http://schemas.openxmlformats.org/drawingml/2006/main">
              <a:ext uri="{FF2B5EF4-FFF2-40B4-BE49-F238E27FC236}">
                <a16:creationId xmlns:a16="http://schemas.microsoft.com/office/drawing/2014/main" id="{06C470C1-D70E-4EE6-A6C8-22696377D696}"/>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8</a:t>
            </a:r>
          </a:p>
        </p:txBody>
      </p:sp>
      <p:sp>
        <p:nvSpPr>
          <p:cNvPr id="3" name="">
            <a:extLst xmlns:a="http://schemas.openxmlformats.org/drawingml/2006/main">
              <a:ext uri="{FF2B5EF4-FFF2-40B4-BE49-F238E27FC236}">
                <a16:creationId xmlns:a16="http://schemas.microsoft.com/office/drawing/2014/main" id="{2C366221-E62D-4A88-9957-9543FEA874C5}"/>
              </a:ext>
            </a:extLst>
          </p:cNvPr>
          <p:cNvSpPr>
            <a:spLocks xmlns:a="http://schemas.openxmlformats.org/drawingml/2006/main" noGrp="1"/>
          </p:cNvSpPr>
          <p:nvPr/>
        </p:nvSpPr>
        <p:spPr>
          <a:xfrm xmlns:a="http://schemas.openxmlformats.org/drawingml/2006/main">
            <a:off x="609600" y="1724025"/>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7458"/>
                </a:solidFill>
                <a:latin typeface="Arial"/>
                <a:ea typeface="Arial"/>
                <a:cs typeface="Arial"/>
              </a:defRPr>
            </a:defPPr>
          </a:lstStyle>
          <a:p xmlns:a="http://schemas.openxmlformats.org/drawingml/2006/main">
            <a:pPr>
              <a:defRPr sz="3150" b="1">
                <a:solidFill>
                  <a:srgbClr val="167458"/>
                </a:solidFill>
                <a:latin typeface="Arial"/>
                <a:ea typeface="Arial"/>
                <a:cs typeface="Arial"/>
              </a:defRPr>
            </a:pPr>
            <a:r>
              <a:rPr sz="3150" b="1">
                <a:solidFill>
                  <a:srgbClr val="167458"/>
                </a:solidFill>
                <a:latin typeface="Arial"/>
                <a:ea typeface="Arial"/>
                <a:cs typeface="Arial"/>
              </a:rPr>
              <a:t>Free to join and list</a:t>
            </a:r>
          </a:p>
        </p:txBody>
      </p:sp>
      <p:sp>
        <p:nvSpPr>
          <p:cNvPr id="4" name="">
            <a:extLst xmlns:a="http://schemas.openxmlformats.org/drawingml/2006/main">
              <a:ext uri="{FF2B5EF4-FFF2-40B4-BE49-F238E27FC236}">
                <a16:creationId xmlns:a16="http://schemas.microsoft.com/office/drawing/2014/main" id="{062219E4-3565-437D-947B-BF5D72568958}"/>
              </a:ext>
            </a:extLst>
          </p:cNvPr>
          <p:cNvSpPr>
            <a:spLocks xmlns:a="http://schemas.openxmlformats.org/drawingml/2006/main" noGrp="1"/>
          </p:cNvSpPr>
          <p:nvPr/>
        </p:nvSpPr>
        <p:spPr>
          <a:xfrm xmlns:a="http://schemas.openxmlformats.org/drawingml/2006/main">
            <a:off x="609600" y="2714625"/>
            <a:ext cx="1028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16352D"/>
                </a:solidFill>
                <a:latin typeface="Arial"/>
                <a:ea typeface="Arial"/>
                <a:cs typeface="Arial"/>
              </a:defRPr>
            </a:defPPr>
          </a:lstStyle>
          <a:p xmlns:a="http://schemas.openxmlformats.org/drawingml/2006/main">
            <a:pPr>
              <a:defRPr sz="2925" b="0">
                <a:solidFill>
                  <a:srgbClr val="16352D"/>
                </a:solidFill>
                <a:latin typeface="Arial"/>
                <a:ea typeface="Arial"/>
                <a:cs typeface="Arial"/>
              </a:defRPr>
            </a:pPr>
            <a:r>
              <a:rPr sz="2925" b="0">
                <a:solidFill>
                  <a:srgbClr val="16352D"/>
                </a:solidFill>
                <a:latin typeface="Arial"/>
                <a:ea typeface="Arial"/>
                <a:cs typeface="Arial"/>
              </a:rPr>
              <a:t>A proposed 3% fee on completed, settled produce orders</a:t>
            </a:r>
          </a:p>
        </p:txBody>
      </p:sp>
      <p:sp>
        <p:nvSpPr>
          <p:cNvPr id="5" name="">
            <a:extLst xmlns:a="http://schemas.openxmlformats.org/drawingml/2006/main">
              <a:ext uri="{FF2B5EF4-FFF2-40B4-BE49-F238E27FC236}">
                <a16:creationId xmlns:a16="http://schemas.microsoft.com/office/drawing/2014/main" id="{5B8E090F-EE6B-4BC6-9F74-8C0C08752741}"/>
              </a:ext>
            </a:extLst>
          </p:cNvPr>
          <p:cNvSpPr>
            <a:spLocks xmlns:a="http://schemas.openxmlformats.org/drawingml/2006/main" noGrp="1"/>
          </p:cNvSpPr>
          <p:nvPr/>
        </p:nvSpPr>
        <p:spPr>
          <a:xfrm xmlns:a="http://schemas.openxmlformats.org/drawingml/2006/main">
            <a:off x="609600" y="4381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Clear charging rules</a:t>
            </a:r>
          </a:p>
        </p:txBody>
      </p:sp>
      <p:sp>
        <p:nvSpPr>
          <p:cNvPr id="6" name="">
            <a:extLst xmlns:a="http://schemas.openxmlformats.org/drawingml/2006/main">
              <a:ext uri="{FF2B5EF4-FFF2-40B4-BE49-F238E27FC236}">
                <a16:creationId xmlns:a16="http://schemas.microsoft.com/office/drawing/2014/main" id="{AEA5D44B-361C-4F0E-93ED-785D0769183A}"/>
              </a:ext>
            </a:extLst>
          </p:cNvPr>
          <p:cNvSpPr>
            <a:spLocks xmlns:a="http://schemas.openxmlformats.org/drawingml/2006/main" noGrp="1"/>
          </p:cNvSpPr>
          <p:nvPr/>
        </p:nvSpPr>
        <p:spPr>
          <a:xfrm xmlns:a="http://schemas.openxmlformats.org/drawingml/2006/main">
            <a:off x="609600" y="4905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Show seller fees before acceptance. Quote delivery separately. No fee on cancelled orders.</a:t>
            </a:r>
          </a:p>
        </p:txBody>
      </p:sp>
      <p:sp>
        <p:nvSpPr>
          <p:cNvPr id="7" name="">
            <a:extLst xmlns:a="http://schemas.openxmlformats.org/drawingml/2006/main">
              <a:ext uri="{FF2B5EF4-FFF2-40B4-BE49-F238E27FC236}">
                <a16:creationId xmlns:a16="http://schemas.microsoft.com/office/drawing/2014/main" id="{8ECF270A-689E-4DED-999B-6333B012B7D9}"/>
              </a:ext>
            </a:extLst>
          </p:cNvPr>
          <p:cNvSpPr>
            <a:spLocks xmlns:a="http://schemas.openxmlformats.org/drawingml/2006/main" noGrp="1"/>
          </p:cNvSpPr>
          <p:nvPr/>
        </p:nvSpPr>
        <p:spPr>
          <a:xfrm xmlns:a="http://schemas.openxmlformats.org/drawingml/2006/main">
            <a:off x="6524625" y="4381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Test before charging</a:t>
            </a:r>
          </a:p>
        </p:txBody>
      </p:sp>
      <p:sp>
        <p:nvSpPr>
          <p:cNvPr id="8" name="">
            <a:extLst xmlns:a="http://schemas.openxmlformats.org/drawingml/2006/main">
              <a:ext uri="{FF2B5EF4-FFF2-40B4-BE49-F238E27FC236}">
                <a16:creationId xmlns:a16="http://schemas.microsoft.com/office/drawing/2014/main" id="{A24CE560-527E-491D-83D7-ABAB6779062C}"/>
              </a:ext>
            </a:extLst>
          </p:cNvPr>
          <p:cNvSpPr>
            <a:spLocks xmlns:a="http://schemas.openxmlformats.org/drawingml/2006/main" noGrp="1"/>
          </p:cNvSpPr>
          <p:nvPr/>
        </p:nvSpPr>
        <p:spPr>
          <a:xfrm xmlns:a="http://schemas.openxmlformats.org/drawingml/2006/main">
            <a:off x="6524625" y="4905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Waive the first pilot month. Validate willingness to pay and payment reconciliation.</a:t>
            </a:r>
          </a:p>
        </p:txBody>
      </p:sp>
    </p:spTree>
    <p:extLst>
      <p:ext uri="{BB962C8B-B14F-4D97-AF65-F5344CB8AC3E}">
        <p14:creationId xmlns:p14="http://schemas.microsoft.com/office/powerpoint/2010/main" val="523942681"/>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8D58B7E-546D-47B6-A3C1-547B9244551B}"/>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Business model canvas</a:t>
            </a:r>
          </a:p>
        </p:txBody>
      </p:sp>
      <p:sp>
        <p:nvSpPr>
          <p:cNvPr id="2" name="">
            <a:extLst xmlns:a="http://schemas.openxmlformats.org/drawingml/2006/main">
              <a:ext uri="{FF2B5EF4-FFF2-40B4-BE49-F238E27FC236}">
                <a16:creationId xmlns:a16="http://schemas.microsoft.com/office/drawing/2014/main" id="{2099F39D-F504-400E-9B9B-46E6AC023786}"/>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9</a:t>
            </a:r>
          </a:p>
        </p:txBody>
      </p:sp>
      <p:graphicFrame>
        <p:nvGraphicFramePr>
          <p:cNvPr id="3" name="">
            <a:extLst xmlns:a="http://schemas.openxmlformats.org/drawingml/2006/main">
              <a:ext uri="{FF2B5EF4-FFF2-40B4-BE49-F238E27FC236}">
                <a16:creationId xmlns:a16="http://schemas.microsoft.com/office/drawing/2014/main" id="{619E1793-FCED-4C5B-9AB2-B07979B18192}"/>
              </a:ext>
            </a:extLst>
          </p:cNvPr>
          <p:cNvGraphicFramePr/>
          <p:nvPr/>
        </p:nvGraphicFramePr>
        <p:xfrm>
          <a:off xmlns:a="http://schemas.openxmlformats.org/drawingml/2006/main" x="609600" y="1504950"/>
          <a:ext xmlns:a="http://schemas.openxmlformats.org/drawingml/2006/main" cx="10972800" cy="4562475"/>
        </p:xfrm>
        <a:graphic xmlns:a="http://schemas.openxmlformats.org/drawingml/2006/main">
          <a:graphicData uri="http://schemas.openxmlformats.org/drawingml/2006/table">
            <a:tbl>
              <a:tblPr/>
              <a:tblGrid>
                <a:gridCol w="2190750"/>
                <a:gridCol w="2190750"/>
                <a:gridCol w="2209800"/>
                <a:gridCol w="2190750"/>
                <a:gridCol w="2190750"/>
              </a:tblGrid>
              <a:tr h="457200">
                <a:tc>
                  <a:txBody>
                    <a:bodyPr/>
                    <a:lstStyle/>
                    <a:p>
                      <a:r>
                        <a:rPr sz="1575" b="1">
                          <a:solidFill>
                            <a:srgbClr val="FFFFFF"/>
                          </a:solidFill>
                          <a:latin typeface="Arial"/>
                          <a:ea typeface="Arial"/>
                          <a:cs typeface="Arial"/>
                        </a:rPr>
                        <a:t>Key partners</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Key activities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Value proposition</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Relationships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Customer segments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1047750">
                <a:tc rowSpan="3">
                  <a:txBody>
                    <a:bodyPr/>
                    <a:lstStyle/>
                    <a:p>
                      <a:r>
                        <a:rPr sz="1575" b="0">
                          <a:solidFill>
                            <a:srgbClr val="16352D"/>
                          </a:solidFill>
                          <a:latin typeface="Arial"/>
                          <a:ea typeface="Arial"/>
                          <a:cs typeface="Arial"/>
                        </a:rPr>
                        <a:t>Farmer groups</a:t>
                      </a:r>
                    </a:p>
                    <a:p>
                      <a:r>
                        <a:rPr sz="1575" b="0">
                          <a:solidFill>
                            <a:srgbClr val="16352D"/>
                          </a:solidFill>
                          <a:latin typeface="Arial"/>
                          <a:ea typeface="Arial"/>
                          <a:cs typeface="Arial"/>
                        </a:rPr>
                        <a:t>Buyers</a:t>
                      </a:r>
                    </a:p>
                    <a:p>
                      <a:r>
                        <a:rPr sz="1575" b="0">
                          <a:solidFill>
                            <a:srgbClr val="16352D"/>
                          </a:solidFill>
                          <a:latin typeface="Arial"/>
                          <a:ea typeface="Arial"/>
                          <a:cs typeface="Arial"/>
                        </a:rPr>
                        <a:t>Delivery operators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Onboarding</a:t>
                      </a:r>
                    </a:p>
                    <a:p>
                      <a:r>
                        <a:rPr sz="1575" b="0">
                          <a:solidFill>
                            <a:srgbClr val="16352D"/>
                          </a:solidFill>
                          <a:latin typeface="Arial"/>
                          <a:ea typeface="Arial"/>
                          <a:cs typeface="Arial"/>
                        </a:rPr>
                        <a:t>Order support</a:t>
                      </a:r>
                    </a:p>
                    <a:p>
                      <a:r>
                        <a:rPr sz="1575" b="0">
                          <a:solidFill>
                            <a:srgbClr val="16352D"/>
                          </a:solidFill>
                          <a:latin typeface="Arial"/>
                          <a:ea typeface="Arial"/>
                          <a:cs typeface="Arial"/>
                        </a:rPr>
                        <a:t>Quality checks</a:t>
                      </a:r>
                    </a:p>
                  </a:txBody>
                  <a:tcPr marL="91440" marR="91440" marT="45720" marB="45720">
                    <a:lnR w="19050">
                      <a:solidFill>
                        <a:srgbClr val="F5F7F2"/>
                      </a:solidFill>
                    </a:lnR>
                    <a:lnB w="19050">
                      <a:solidFill>
                        <a:srgbClr val="F5F7F2"/>
                      </a:solidFill>
                    </a:lnB>
                    <a:solidFill>
                      <a:srgbClr val="FFFFFF"/>
                    </a:solidFill>
                  </a:tcPr>
                </a:tc>
                <a:tc rowSpan="3">
                  <a:txBody>
                    <a:bodyPr/>
                    <a:lstStyle/>
                    <a:p>
                      <a:r>
                        <a:rPr sz="1575" b="0">
                          <a:solidFill>
                            <a:srgbClr val="16352D"/>
                          </a:solidFill>
                          <a:latin typeface="Arial"/>
                          <a:ea typeface="Arial"/>
                          <a:cs typeface="Arial"/>
                        </a:rPr>
                        <a:t>Visible harvest supply</a:t>
                      </a:r>
                    </a:p>
                    <a:p>
                      <a:r>
                        <a:rPr sz="1575" b="0">
                          <a:solidFill>
                            <a:srgbClr val="16352D"/>
                          </a:solidFill>
                          <a:latin typeface="Arial"/>
                          <a:ea typeface="Arial"/>
                          <a:cs typeface="Arial"/>
                        </a:rPr>
                        <a:t>Buyer demand</a:t>
                      </a:r>
                    </a:p>
                    <a:p>
                      <a:r>
                        <a:rPr sz="1575" b="0">
                          <a:solidFill>
                            <a:srgbClr val="16352D"/>
                          </a:solidFill>
                          <a:latin typeface="Arial"/>
                          <a:ea typeface="Arial"/>
                          <a:cs typeface="Arial"/>
                        </a:rPr>
                        <a:t>Order coordination</a:t>
                      </a:r>
                    </a:p>
                  </a:txBody>
                  <a:tcPr marL="91440" marR="91440" marT="45720" marB="45720">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Assisted setup</a:t>
                      </a:r>
                    </a:p>
                    <a:p>
                      <a:r>
                        <a:rPr sz="1575" b="0">
                          <a:solidFill>
                            <a:srgbClr val="16352D"/>
                          </a:solidFill>
                          <a:latin typeface="Arial"/>
                          <a:ea typeface="Arial"/>
                          <a:cs typeface="Arial"/>
                        </a:rPr>
                        <a:t>Support</a:t>
                      </a:r>
                    </a:p>
                    <a:p>
                      <a:r>
                        <a:rPr sz="1575" b="0">
                          <a:solidFill>
                            <a:srgbClr val="16352D"/>
                          </a:solidFill>
                          <a:latin typeface="Arial"/>
                          <a:ea typeface="Arial"/>
                          <a:cs typeface="Arial"/>
                        </a:rPr>
                        <a:t>Dispute resolution</a:t>
                      </a:r>
                    </a:p>
                  </a:txBody>
                  <a:tcPr marL="91440" marR="91440" marT="45720" marB="45720">
                    <a:lnR w="19050">
                      <a:solidFill>
                        <a:srgbClr val="F5F7F2"/>
                      </a:solidFill>
                    </a:lnR>
                    <a:lnB w="19050">
                      <a:solidFill>
                        <a:srgbClr val="F5F7F2"/>
                      </a:solidFill>
                    </a:lnB>
                    <a:solidFill>
                      <a:srgbClr val="FFFFFF"/>
                    </a:solidFill>
                  </a:tcPr>
                </a:tc>
                <a:tc rowSpan="3">
                  <a:txBody>
                    <a:bodyPr/>
                    <a:lstStyle/>
                    <a:p>
                      <a:r>
                        <a:rPr sz="1575" b="0">
                          <a:solidFill>
                            <a:srgbClr val="16352D"/>
                          </a:solidFill>
                          <a:latin typeface="Arial"/>
                          <a:ea typeface="Arial"/>
                          <a:cs typeface="Arial"/>
                        </a:rPr>
                        <a:t>Vegetable growers</a:t>
                      </a:r>
                    </a:p>
                    <a:p>
                      <a:r>
                        <a:rPr sz="1575" b="0">
                          <a:solidFill>
                            <a:srgbClr val="16352D"/>
                          </a:solidFill>
                          <a:latin typeface="Arial"/>
                          <a:ea typeface="Arial"/>
                          <a:cs typeface="Arial"/>
                        </a:rPr>
                        <a:t>Grocers</a:t>
                      </a:r>
                    </a:p>
                    <a:p>
                      <a:r>
                        <a:rPr sz="1575" b="0">
                          <a:solidFill>
                            <a:srgbClr val="16352D"/>
                          </a:solidFill>
                          <a:latin typeface="Arial"/>
                          <a:ea typeface="Arial"/>
                          <a:cs typeface="Arial"/>
                        </a:rPr>
                        <a:t>Restaurants</a:t>
                      </a:r>
                    </a:p>
                    <a:p>
                      <a:r>
                        <a:rPr sz="1575" b="0">
                          <a:solidFill>
                            <a:srgbClr val="16352D"/>
                          </a:solidFill>
                          <a:latin typeface="Arial"/>
                          <a:ea typeface="Arial"/>
                          <a:cs typeface="Arial"/>
                        </a:rPr>
                        <a:t>Wholesalers</a:t>
                      </a:r>
                    </a:p>
                  </a:txBody>
                  <a:tcPr marL="91440" marR="91440" marT="45720" marB="45720">
                    <a:lnR w="19050">
                      <a:solidFill>
                        <a:srgbClr val="F5F7F2"/>
                      </a:solidFill>
                    </a:lnR>
                    <a:lnB w="19050">
                      <a:solidFill>
                        <a:srgbClr val="F5F7F2"/>
                      </a:solidFill>
                    </a:lnB>
                    <a:solidFill>
                      <a:srgbClr val="FFFFFF"/>
                    </a:solidFill>
                  </a:tcPr>
                </a:tc>
              </a:tr>
              <a:tr h="361950">
                <a:tc vMerge="1">
                  <a:txBody>
                    <a:bodyPr/>
                    <a:lstStyle/>
                    <a:p>
                      <a:r>
                        <a:rPr sz="1575" b="0">
                          <a:solidFill>
                            <a:srgbClr val="16352D"/>
                          </a:solidFill>
                          <a:latin typeface="Arial"/>
                          <a:ea typeface="Arial"/>
                          <a:cs typeface="Arial"/>
                        </a:rPr>
                        <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575" b="1">
                          <a:solidFill>
                            <a:srgbClr val="167458"/>
                          </a:solidFill>
                          <a:latin typeface="Arial"/>
                          <a:ea typeface="Arial"/>
                          <a:cs typeface="Arial"/>
                        </a:rPr>
                        <a:t>Key resources</a:t>
                      </a:r>
                    </a:p>
                  </a:txBody>
                  <a:tcPr marL="91440" marR="91440" marT="45720" marB="45720">
                    <a:lnR w="19050">
                      <a:solidFill>
                        <a:srgbClr val="F5F7F2"/>
                      </a:solidFill>
                    </a:lnR>
                    <a:lnB w="19050">
                      <a:solidFill>
                        <a:srgbClr val="F5F7F2"/>
                      </a:solidFill>
                    </a:lnB>
                    <a:solidFill>
                      <a:srgbClr val="E8F3EC"/>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a:txBody>
                    <a:bodyPr/>
                    <a:lstStyle/>
                    <a:p>
                      <a:r>
                        <a:rPr sz="1575" b="1">
                          <a:solidFill>
                            <a:srgbClr val="167458"/>
                          </a:solidFill>
                          <a:latin typeface="Arial"/>
                          <a:ea typeface="Arial"/>
                          <a:cs typeface="Arial"/>
                        </a:rPr>
                        <a:t>Channels</a:t>
                      </a:r>
                    </a:p>
                  </a:txBody>
                  <a:tcPr marL="91440" marR="91440" marT="45720" marB="45720">
                    <a:lnR w="19050">
                      <a:solidFill>
                        <a:srgbClr val="F5F7F2"/>
                      </a:solidFill>
                    </a:lnR>
                    <a:lnB w="19050">
                      <a:solidFill>
                        <a:srgbClr val="F5F7F2"/>
                      </a:solidFill>
                    </a:lnB>
                    <a:solidFill>
                      <a:srgbClr val="E8F3EC"/>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r>
              <a:tr h="857250">
                <a:tc vMerge="1">
                  <a:txBody>
                    <a:bodyPr/>
                    <a:lstStyle/>
                    <a:p>
                      <a:r>
                        <a:rPr sz="1575" b="0">
                          <a:solidFill>
                            <a:srgbClr val="16352D"/>
                          </a:solidFill>
                          <a:latin typeface="Arial"/>
                          <a:ea typeface="Arial"/>
                          <a:cs typeface="Arial"/>
                        </a:rPr>
                        <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App and backend</a:t>
                      </a:r>
                    </a:p>
                    <a:p>
                      <a:r>
                        <a:rPr sz="1575" b="0">
                          <a:solidFill>
                            <a:srgbClr val="16352D"/>
                          </a:solidFill>
                          <a:latin typeface="Arial"/>
                          <a:ea typeface="Arial"/>
                          <a:cs typeface="Arial"/>
                        </a:rPr>
                        <a:t>Team</a:t>
                      </a:r>
                    </a:p>
                    <a:p>
                      <a:r>
                        <a:rPr sz="1575" b="0">
                          <a:solidFill>
                            <a:srgbClr val="16352D"/>
                          </a:solidFill>
                          <a:latin typeface="Arial"/>
                          <a:ea typeface="Arial"/>
                          <a:cs typeface="Arial"/>
                        </a:rPr>
                        <a:t>Partner network</a:t>
                      </a:r>
                    </a:p>
                  </a:txBody>
                  <a:tcPr marL="91440" marR="91440" marT="45720" marB="45720">
                    <a:lnR w="19050">
                      <a:solidFill>
                        <a:srgbClr val="F5F7F2"/>
                      </a:solidFill>
                    </a:lnR>
                    <a:lnB w="19050">
                      <a:solidFill>
                        <a:srgbClr val="F5F7F2"/>
                      </a:solidFill>
                    </a:lnB>
                    <a:solidFill>
                      <a:srgbClr val="FFFFFF"/>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Cooperatives</a:t>
                      </a:r>
                    </a:p>
                    <a:p>
                      <a:r>
                        <a:rPr sz="1575" b="0">
                          <a:solidFill>
                            <a:srgbClr val="16352D"/>
                          </a:solidFill>
                          <a:latin typeface="Arial"/>
                          <a:ea typeface="Arial"/>
                          <a:cs typeface="Arial"/>
                        </a:rPr>
                        <a:t>Buyer visits</a:t>
                      </a:r>
                    </a:p>
                    <a:p>
                      <a:r>
                        <a:rPr sz="1575" b="0">
                          <a:solidFill>
                            <a:srgbClr val="16352D"/>
                          </a:solidFill>
                          <a:latin typeface="Arial"/>
                          <a:ea typeface="Arial"/>
                          <a:cs typeface="Arial"/>
                        </a:rPr>
                        <a:t>Referrals</a:t>
                      </a:r>
                    </a:p>
                  </a:txBody>
                  <a:tcPr marL="91440" marR="91440" marT="45720" marB="45720">
                    <a:lnR w="19050">
                      <a:solidFill>
                        <a:srgbClr val="F5F7F2"/>
                      </a:solidFill>
                    </a:lnR>
                    <a:lnB w="19050">
                      <a:solidFill>
                        <a:srgbClr val="F5F7F2"/>
                      </a:solidFill>
                    </a:lnB>
                    <a:solidFill>
                      <a:srgbClr val="FFFFFF"/>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r>
              <a:tr h="361950">
                <a:tc gridSpan="3">
                  <a:txBody>
                    <a:bodyPr/>
                    <a:lstStyle/>
                    <a:p>
                      <a:r>
                        <a:rPr sz="1575" b="1">
                          <a:solidFill>
                            <a:srgbClr val="167458"/>
                          </a:solidFill>
                          <a:latin typeface="Arial"/>
                          <a:ea typeface="Arial"/>
                          <a:cs typeface="Arial"/>
                        </a:rPr>
                        <a:t>Cost structure</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gridSpan="2">
                  <a:txBody>
                    <a:bodyPr/>
                    <a:lstStyle/>
                    <a:p>
                      <a:r>
                        <a:rPr sz="1575" b="1">
                          <a:solidFill>
                            <a:srgbClr val="167458"/>
                          </a:solidFill>
                          <a:latin typeface="Arial"/>
                          <a:ea typeface="Arial"/>
                          <a:cs typeface="Arial"/>
                        </a:rPr>
                        <a:t>Revenue streams</a:t>
                      </a:r>
                    </a:p>
                  </a:txBody>
                  <a:tcPr marL="91440" marR="91440" marT="45720" marB="45720">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r>
              <a:tr h="685800">
                <a:tc gridSpan="3">
                  <a:txBody>
                    <a:bodyPr/>
                    <a:lstStyle/>
                    <a:p>
                      <a:r>
                        <a:rPr sz="1575" b="0">
                          <a:solidFill>
                            <a:srgbClr val="16352D"/>
                          </a:solidFill>
                          <a:latin typeface="Arial"/>
                          <a:ea typeface="Arial"/>
                          <a:cs typeface="Arial"/>
                        </a:rPr>
                        <a:t>Product, hosting, support, onboarding and field operations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gridSpan="2">
                  <a:txBody>
                    <a:bodyPr/>
                    <a:lstStyle/>
                    <a:p>
                      <a:r>
                        <a:rPr sz="1575" b="0">
                          <a:solidFill>
                            <a:srgbClr val="16352D"/>
                          </a:solidFill>
                          <a:latin typeface="Arial"/>
                          <a:ea typeface="Arial"/>
                          <a:cs typeface="Arial"/>
                        </a:rPr>
                        <a:t>Proposed completed-order fee</a:t>
                      </a:r>
                    </a:p>
                    <a:p>
                      <a:r>
                        <a:rPr sz="1575" b="0">
                          <a:solidFill>
                            <a:srgbClr val="16352D"/>
                          </a:solidFill>
                          <a:latin typeface="Arial"/>
                          <a:ea typeface="Arial"/>
                          <a:cs typeface="Arial"/>
                        </a:rPr>
                        <a:t>Future premium buyer tools</a:t>
                      </a:r>
                    </a:p>
                  </a:txBody>
                  <a:tcPr marL="91440" marR="91440" marT="45720" marB="45720">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r>
            </a:tbl>
          </a:graphicData>
        </a:graphic>
      </p:graphicFrame>
    </p:spTree>
    <p:extLst>
      <p:ext uri="{BB962C8B-B14F-4D97-AF65-F5344CB8AC3E}">
        <p14:creationId xmlns:p14="http://schemas.microsoft.com/office/powerpoint/2010/main" val="511331401"/>
      </p:ext>
    </p:extLst>
  </p:cSld>
</p:sld>
</file>

<file path=ppt/slides/slide1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6E527F-CC2A-4141-A1A4-DA0452B2884D}"/>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Pilot and growth plan</a:t>
            </a:r>
          </a:p>
        </p:txBody>
      </p:sp>
      <p:sp>
        <p:nvSpPr>
          <p:cNvPr id="2" name="">
            <a:extLst xmlns:a="http://schemas.openxmlformats.org/drawingml/2006/main">
              <a:ext uri="{FF2B5EF4-FFF2-40B4-BE49-F238E27FC236}">
                <a16:creationId xmlns:a16="http://schemas.microsoft.com/office/drawing/2014/main" id="{79120571-0FBD-4999-82D3-ADDC1AC869B4}"/>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10</a:t>
            </a:r>
          </a:p>
        </p:txBody>
      </p:sp>
      <p:sp>
        <p:nvSpPr>
          <p:cNvPr id="3" name="">
            <a:extLst xmlns:a="http://schemas.openxmlformats.org/drawingml/2006/main">
              <a:ext uri="{FF2B5EF4-FFF2-40B4-BE49-F238E27FC236}">
                <a16:creationId xmlns:a16="http://schemas.microsoft.com/office/drawing/2014/main" id="{E687A411-015A-4C1B-A5E8-D5E37C69E637}"/>
              </a:ext>
            </a:extLst>
          </p:cNvPr>
          <p:cNvSpPr>
            <a:spLocks xmlns:a="http://schemas.openxmlformats.org/drawingml/2006/main" noGrp="1"/>
          </p:cNvSpPr>
          <p:nvPr/>
        </p:nvSpPr>
        <p:spPr>
          <a:xfrm xmlns:a="http://schemas.openxmlformats.org/drawingml/2006/main">
            <a:off x="609600" y="16859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1–30</a:t>
            </a:r>
          </a:p>
        </p:txBody>
      </p:sp>
      <p:sp>
        <p:nvSpPr>
          <p:cNvPr id="4" name="">
            <a:extLst xmlns:a="http://schemas.openxmlformats.org/drawingml/2006/main">
              <a:ext uri="{FF2B5EF4-FFF2-40B4-BE49-F238E27FC236}">
                <a16:creationId xmlns:a16="http://schemas.microsoft.com/office/drawing/2014/main" id="{FE3C785D-7A96-4D97-8132-29FCFED7AECC}"/>
              </a:ext>
            </a:extLst>
          </p:cNvPr>
          <p:cNvSpPr>
            <a:spLocks xmlns:a="http://schemas.openxmlformats.org/drawingml/2006/main" noGrp="1"/>
          </p:cNvSpPr>
          <p:nvPr/>
        </p:nvSpPr>
        <p:spPr>
          <a:xfrm xmlns:a="http://schemas.openxmlformats.org/drawingml/2006/main">
            <a:off x="609600" y="22098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Customer interviews, field visits, language review and delivery-route validation.</a:t>
            </a:r>
          </a:p>
        </p:txBody>
      </p:sp>
      <p:sp>
        <p:nvSpPr>
          <p:cNvPr id="5" name="">
            <a:extLst xmlns:a="http://schemas.openxmlformats.org/drawingml/2006/main">
              <a:ext uri="{FF2B5EF4-FFF2-40B4-BE49-F238E27FC236}">
                <a16:creationId xmlns:a16="http://schemas.microsoft.com/office/drawing/2014/main" id="{8E2D16BB-A394-4ABA-9156-8B4915F04ADB}"/>
              </a:ext>
            </a:extLst>
          </p:cNvPr>
          <p:cNvSpPr>
            <a:spLocks xmlns:a="http://schemas.openxmlformats.org/drawingml/2006/main" noGrp="1"/>
          </p:cNvSpPr>
          <p:nvPr/>
        </p:nvSpPr>
        <p:spPr>
          <a:xfrm xmlns:a="http://schemas.openxmlformats.org/drawingml/2006/main">
            <a:off x="6524625" y="16859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31–60</a:t>
            </a:r>
          </a:p>
        </p:txBody>
      </p:sp>
      <p:sp>
        <p:nvSpPr>
          <p:cNvPr id="6" name="">
            <a:extLst xmlns:a="http://schemas.openxmlformats.org/drawingml/2006/main">
              <a:ext uri="{FF2B5EF4-FFF2-40B4-BE49-F238E27FC236}">
                <a16:creationId xmlns:a16="http://schemas.microsoft.com/office/drawing/2014/main" id="{8863CCB4-EF5E-47A3-964D-C98BBEF28CE4}"/>
              </a:ext>
            </a:extLst>
          </p:cNvPr>
          <p:cNvSpPr>
            <a:spLocks xmlns:a="http://schemas.openxmlformats.org/drawingml/2006/main" noGrp="1"/>
          </p:cNvSpPr>
          <p:nvPr/>
        </p:nvSpPr>
        <p:spPr>
          <a:xfrm xmlns:a="http://schemas.openxmlformats.org/drawingml/2006/main">
            <a:off x="6524625" y="22098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Assisted onboarding and a small live trial with recurring business buyers.</a:t>
            </a:r>
          </a:p>
        </p:txBody>
      </p:sp>
      <p:sp>
        <p:nvSpPr>
          <p:cNvPr id="7" name="">
            <a:extLst xmlns:a="http://schemas.openxmlformats.org/drawingml/2006/main">
              <a:ext uri="{FF2B5EF4-FFF2-40B4-BE49-F238E27FC236}">
                <a16:creationId xmlns:a16="http://schemas.microsoft.com/office/drawing/2014/main" id="{C0E456CA-48B7-4E81-8C4C-B3D8D4472197}"/>
              </a:ext>
            </a:extLst>
          </p:cNvPr>
          <p:cNvSpPr>
            <a:spLocks xmlns:a="http://schemas.openxmlformats.org/drawingml/2006/main" noGrp="1"/>
          </p:cNvSpPr>
          <p:nvPr/>
        </p:nvSpPr>
        <p:spPr>
          <a:xfrm xmlns:a="http://schemas.openxmlformats.org/drawingml/2006/main">
            <a:off x="609600" y="39909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61–90</a:t>
            </a:r>
          </a:p>
        </p:txBody>
      </p:sp>
      <p:sp>
        <p:nvSpPr>
          <p:cNvPr id="8" name="">
            <a:extLst xmlns:a="http://schemas.openxmlformats.org/drawingml/2006/main">
              <a:ext uri="{FF2B5EF4-FFF2-40B4-BE49-F238E27FC236}">
                <a16:creationId xmlns:a16="http://schemas.microsoft.com/office/drawing/2014/main" id="{5E0C352F-4B1C-4243-BEDF-3FAA245A1FAE}"/>
              </a:ext>
            </a:extLst>
          </p:cNvPr>
          <p:cNvSpPr>
            <a:spLocks xmlns:a="http://schemas.openxmlformats.org/drawingml/2006/main" noGrp="1"/>
          </p:cNvSpPr>
          <p:nvPr/>
        </p:nvSpPr>
        <p:spPr>
          <a:xfrm xmlns:a="http://schemas.openxmlformats.org/drawingml/2006/main">
            <a:off x="609600" y="45148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Target 100 farmers, 30 buyers and 100 completed orders in month three.</a:t>
            </a:r>
          </a:p>
        </p:txBody>
      </p:sp>
      <p:sp>
        <p:nvSpPr>
          <p:cNvPr id="9" name="">
            <a:extLst xmlns:a="http://schemas.openxmlformats.org/drawingml/2006/main">
              <a:ext uri="{FF2B5EF4-FFF2-40B4-BE49-F238E27FC236}">
                <a16:creationId xmlns:a16="http://schemas.microsoft.com/office/drawing/2014/main" id="{79499CE7-C9AA-4B11-A7C1-0C7B0F716D8F}"/>
              </a:ext>
            </a:extLst>
          </p:cNvPr>
          <p:cNvSpPr>
            <a:spLocks xmlns:a="http://schemas.openxmlformats.org/drawingml/2006/main" noGrp="1"/>
          </p:cNvSpPr>
          <p:nvPr/>
        </p:nvSpPr>
        <p:spPr>
          <a:xfrm xmlns:a="http://schemas.openxmlformats.org/drawingml/2006/main">
            <a:off x="6524625" y="39909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Expansion gate</a:t>
            </a:r>
          </a:p>
        </p:txBody>
      </p:sp>
      <p:sp>
        <p:nvSpPr>
          <p:cNvPr id="10" name="">
            <a:extLst xmlns:a="http://schemas.openxmlformats.org/drawingml/2006/main">
              <a:ext uri="{FF2B5EF4-FFF2-40B4-BE49-F238E27FC236}">
                <a16:creationId xmlns:a16="http://schemas.microsoft.com/office/drawing/2014/main" id="{E27802B4-CB2C-4B21-AF3D-7A62A67FE74E}"/>
              </a:ext>
            </a:extLst>
          </p:cNvPr>
          <p:cNvSpPr>
            <a:spLocks xmlns:a="http://schemas.openxmlformats.org/drawingml/2006/main" noGrp="1"/>
          </p:cNvSpPr>
          <p:nvPr/>
        </p:nvSpPr>
        <p:spPr>
          <a:xfrm xmlns:a="http://schemas.openxmlformats.org/drawingml/2006/main">
            <a:off x="6524625" y="45148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Target ≥80% accepted-order completion and ≥30% buyer repeat within 30 days.</a:t>
            </a:r>
          </a:p>
        </p:txBody>
      </p:sp>
      <p:sp>
        <p:nvSpPr>
          <p:cNvPr id="11" name="">
            <a:extLst xmlns:a="http://schemas.openxmlformats.org/drawingml/2006/main">
              <a:ext uri="{FF2B5EF4-FFF2-40B4-BE49-F238E27FC236}">
                <a16:creationId xmlns:a16="http://schemas.microsoft.com/office/drawing/2014/main" id="{7A98A304-00DE-4CC7-B0B5-35FBB5F838B5}"/>
              </a:ext>
            </a:extLst>
          </p:cNvPr>
          <p:cNvSpPr>
            <a:spLocks xmlns:a="http://schemas.openxmlformats.org/drawingml/2006/main" noGrp="1"/>
          </p:cNvSpPr>
          <p:nvPr/>
        </p:nvSpPr>
        <p:spPr>
          <a:xfrm xmlns:a="http://schemas.openxmlformats.org/drawingml/2006/main">
            <a:off x="609600" y="609600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Targets, not achieved results. Expand to a second route only after the pilot meets its gates.</a:t>
            </a:r>
          </a:p>
        </p:txBody>
      </p:sp>
    </p:spTree>
    <p:extLst>
      <p:ext uri="{BB962C8B-B14F-4D97-AF65-F5344CB8AC3E}">
        <p14:creationId xmlns:p14="http://schemas.microsoft.com/office/powerpoint/2010/main" val="1460814251"/>
      </p:ext>
    </p:extLst>
  </p:cSld>
</p:sld>
</file>

<file path=ppt/slides/slide1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8CCE15-2056-45D3-9599-6F48A7EAEFD8}"/>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Illustrative monthly economics</a:t>
            </a:r>
          </a:p>
        </p:txBody>
      </p:sp>
      <p:sp>
        <p:nvSpPr>
          <p:cNvPr id="2" name="">
            <a:extLst xmlns:a="http://schemas.openxmlformats.org/drawingml/2006/main">
              <a:ext uri="{FF2B5EF4-FFF2-40B4-BE49-F238E27FC236}">
                <a16:creationId xmlns:a16="http://schemas.microsoft.com/office/drawing/2014/main" id="{F791C1DC-837A-40B3-87F8-8E5BFD82E80A}"/>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11</a:t>
            </a:r>
          </a:p>
        </p:txBody>
      </p:sp>
      <p:graphicFrame>
        <p:nvGraphicFramePr>
          <p:cNvPr id="3" name="">
            <a:extLst xmlns:a="http://schemas.openxmlformats.org/drawingml/2006/main">
              <a:ext uri="{FF2B5EF4-FFF2-40B4-BE49-F238E27FC236}">
                <a16:creationId xmlns:a16="http://schemas.microsoft.com/office/drawing/2014/main" id="{A864E08F-1176-404C-99A1-31795405903B}"/>
              </a:ext>
            </a:extLst>
          </p:cNvPr>
          <p:cNvGraphicFramePr/>
          <p:nvPr/>
        </p:nvGraphicFramePr>
        <p:xfrm>
          <a:off xmlns:a="http://schemas.openxmlformats.org/drawingml/2006/main" x="609600" y="1524000"/>
          <a:ext xmlns:a="http://schemas.openxmlformats.org/drawingml/2006/main" cx="10972800" cy="3781425"/>
        </p:xfrm>
        <a:graphic xmlns:a="http://schemas.openxmlformats.org/drawingml/2006/main">
          <a:graphicData uri="http://schemas.openxmlformats.org/drawingml/2006/table">
            <a:tbl>
              <a:tblPr/>
              <a:tblGrid>
                <a:gridCol w="4572000"/>
                <a:gridCol w="2133600"/>
                <a:gridCol w="2133600"/>
                <a:gridCol w="2133600"/>
              </a:tblGrid>
              <a:tr h="540204">
                <a:tc>
                  <a:txBody>
                    <a:bodyPr/>
                    <a:lstStyle/>
                    <a:p>
                      <a:r>
                        <a:rPr sz="1725" b="1">
                          <a:solidFill>
                            <a:srgbClr val="FFFFFF"/>
                          </a:solidFill>
                          <a:latin typeface="Arial"/>
                          <a:ea typeface="Arial"/>
                          <a:cs typeface="Arial"/>
                        </a:rPr>
                        <a:t>Monthly metric</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Low</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Base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High</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540204">
                <a:tc>
                  <a:txBody>
                    <a:bodyPr/>
                    <a:lstStyle/>
                    <a:p>
                      <a:r>
                        <a:rPr sz="1725" b="0">
                          <a:solidFill>
                            <a:srgbClr val="16352D"/>
                          </a:solidFill>
                          <a:latin typeface="Arial"/>
                          <a:ea typeface="Arial"/>
                          <a:cs typeface="Arial"/>
                        </a:rPr>
                        <a:t>Completed orders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300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600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Produce traded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1,000,000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3,000,000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6,000,000</a:t>
                      </a:r>
                    </a:p>
                  </a:txBody>
                  <a:tcPr marL="91440" marR="91440" marT="45720" marB="45720">
                    <a:lnR w="19050">
                      <a:solidFill>
                        <a:srgbClr val="F5F7F2"/>
                      </a:solidFill>
                    </a:lnR>
                    <a:lnB w="19050">
                      <a:solidFill>
                        <a:srgbClr val="F5F7F2"/>
                      </a:solidFill>
                    </a:lnB>
                    <a:solidFill>
                      <a:srgbClr val="E8F3EC"/>
                    </a:solidFill>
                  </a:tcPr>
                </a:tc>
              </a:tr>
              <a:tr h="540204">
                <a:tc>
                  <a:txBody>
                    <a:bodyPr/>
                    <a:lstStyle/>
                    <a:p>
                      <a:r>
                        <a:rPr sz="1725" b="0">
                          <a:solidFill>
                            <a:srgbClr val="16352D"/>
                          </a:solidFill>
                          <a:latin typeface="Arial"/>
                          <a:ea typeface="Arial"/>
                          <a:cs typeface="Arial"/>
                        </a:rPr>
                        <a:t>Fee revenue at 3% (Rs.)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30,000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90,000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180,000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Variable costs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10,000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30,000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60,000</a:t>
                      </a:r>
                    </a:p>
                  </a:txBody>
                  <a:tcPr marL="91440" marR="91440" marT="45720" marB="45720">
                    <a:lnR w="19050">
                      <a:solidFill>
                        <a:srgbClr val="F5F7F2"/>
                      </a:solidFill>
                    </a:lnR>
                    <a:lnB w="19050">
                      <a:solidFill>
                        <a:srgbClr val="F5F7F2"/>
                      </a:solidFill>
                    </a:lnB>
                    <a:solidFill>
                      <a:srgbClr val="E8F3EC"/>
                    </a:solidFill>
                  </a:tcPr>
                </a:tc>
              </a:tr>
              <a:tr h="540204">
                <a:tc>
                  <a:txBody>
                    <a:bodyPr/>
                    <a:lstStyle/>
                    <a:p>
                      <a:r>
                        <a:rPr sz="1725" b="0">
                          <a:solidFill>
                            <a:srgbClr val="16352D"/>
                          </a:solidFill>
                          <a:latin typeface="Arial"/>
                          <a:ea typeface="Arial"/>
                          <a:cs typeface="Arial"/>
                        </a:rPr>
                        <a:t>Fixed costs (Rs.)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Operating result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−80,000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−40,000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20,000</a:t>
                      </a:r>
                    </a:p>
                  </a:txBody>
                  <a:tcPr marL="91440" marR="91440" marT="45720" marB="45720">
                    <a:lnR w="19050">
                      <a:solidFill>
                        <a:srgbClr val="F5F7F2"/>
                      </a:solidFill>
                    </a:lnR>
                    <a:lnB w="19050">
                      <a:solidFill>
                        <a:srgbClr val="F5F7F2"/>
                      </a:solidFill>
                    </a:lnB>
                    <a:solidFill>
                      <a:srgbClr val="E8F3EC"/>
                    </a:solidFill>
                  </a:tcPr>
                </a:tc>
              </a:tr>
            </a:tbl>
          </a:graphicData>
        </a:graphic>
      </p:graphicFrame>
      <p:sp>
        <p:nvSpPr>
          <p:cNvPr id="4" name="">
            <a:extLst xmlns:a="http://schemas.openxmlformats.org/drawingml/2006/main">
              <a:ext uri="{FF2B5EF4-FFF2-40B4-BE49-F238E27FC236}">
                <a16:creationId xmlns:a16="http://schemas.microsoft.com/office/drawing/2014/main" id="{E5DAC982-6B53-46AF-B4E4-56AB00EADC13}"/>
              </a:ext>
            </a:extLst>
          </p:cNvPr>
          <p:cNvSpPr>
            <a:spLocks xmlns:a="http://schemas.openxmlformats.org/drawingml/2006/main" noGrp="1"/>
          </p:cNvSpPr>
          <p:nvPr/>
        </p:nvSpPr>
        <p:spPr>
          <a:xfrm xmlns:a="http://schemas.openxmlformats.org/drawingml/2006/main">
            <a:off x="609600" y="550545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2756A"/>
                </a:solidFill>
                <a:latin typeface="Arial"/>
                <a:ea typeface="Arial"/>
                <a:cs typeface="Arial"/>
              </a:defRPr>
            </a:defPPr>
          </a:lstStyle>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Rs. 10,000 average order. Rs. 100 variable cost per order.</a:t>
            </a:r>
          </a:p>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Simplified break-even: 500 orders/month. All inputs are unvalidated assumptions.</a:t>
            </a:r>
          </a:p>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Excludes initial development, founder compensation and tax.</a:t>
            </a:r>
          </a:p>
        </p:txBody>
      </p:sp>
    </p:spTree>
    <p:extLst>
      <p:ext uri="{BB962C8B-B14F-4D97-AF65-F5344CB8AC3E}">
        <p14:creationId xmlns:p14="http://schemas.microsoft.com/office/powerpoint/2010/main" val="807746034"/>
      </p:ext>
    </p:extLst>
  </p:cSld>
</p:sld>
</file>

<file path=ppt/slides/slide1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8E51BB-0476-42A7-AF70-A2E43CE2C46F}"/>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Risks and safeguards</a:t>
            </a:r>
          </a:p>
        </p:txBody>
      </p:sp>
      <p:sp>
        <p:nvSpPr>
          <p:cNvPr id="2" name="">
            <a:extLst xmlns:a="http://schemas.openxmlformats.org/drawingml/2006/main">
              <a:ext uri="{FF2B5EF4-FFF2-40B4-BE49-F238E27FC236}">
                <a16:creationId xmlns:a16="http://schemas.microsoft.com/office/drawing/2014/main" id="{E0828221-4D38-40DB-B6C6-2C82EFC6EA7A}"/>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12</a:t>
            </a:r>
          </a:p>
        </p:txBody>
      </p:sp>
      <p:graphicFrame>
        <p:nvGraphicFramePr>
          <p:cNvPr id="3" name="">
            <a:extLst xmlns:a="http://schemas.openxmlformats.org/drawingml/2006/main">
              <a:ext uri="{FF2B5EF4-FFF2-40B4-BE49-F238E27FC236}">
                <a16:creationId xmlns:a16="http://schemas.microsoft.com/office/drawing/2014/main" id="{66578CB9-795D-4512-861F-83F2CC7313DA}"/>
              </a:ext>
            </a:extLst>
          </p:cNvPr>
          <p:cNvGraphicFramePr/>
          <p:nvPr/>
        </p:nvGraphicFramePr>
        <p:xfrm>
          <a:off xmlns:a="http://schemas.openxmlformats.org/drawingml/2006/main" x="609600" y="1619250"/>
          <a:ext xmlns:a="http://schemas.openxmlformats.org/drawingml/2006/main" cx="10972800" cy="4000500"/>
        </p:xfrm>
        <a:graphic xmlns:a="http://schemas.openxmlformats.org/drawingml/2006/main">
          <a:graphicData uri="http://schemas.openxmlformats.org/drawingml/2006/table">
            <a:tbl>
              <a:tblPr/>
              <a:tblGrid>
                <a:gridCol w="3829050"/>
                <a:gridCol w="7143750"/>
              </a:tblGrid>
              <a:tr h="666750">
                <a:tc>
                  <a:txBody>
                    <a:bodyPr/>
                    <a:lstStyle/>
                    <a:p>
                      <a:r>
                        <a:rPr sz="1800" b="1">
                          <a:solidFill>
                            <a:srgbClr val="FFFFFF"/>
                          </a:solidFill>
                          <a:latin typeface="Arial"/>
                          <a:ea typeface="Arial"/>
                          <a:cs typeface="Arial"/>
                        </a:rPr>
                        <a:t>Risk</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00" b="1">
                          <a:solidFill>
                            <a:srgbClr val="FFFFFF"/>
                          </a:solidFill>
                          <a:latin typeface="Arial"/>
                          <a:ea typeface="Arial"/>
                          <a:cs typeface="Arial"/>
                        </a:rPr>
                        <a:t>Proposed response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666750">
                <a:tc>
                  <a:txBody>
                    <a:bodyPr/>
                    <a:lstStyle/>
                    <a:p>
                      <a:r>
                        <a:rPr sz="1800" b="0">
                          <a:solidFill>
                            <a:srgbClr val="16352D"/>
                          </a:solidFill>
                          <a:latin typeface="Arial"/>
                          <a:ea typeface="Arial"/>
                          <a:cs typeface="Arial"/>
                        </a:rPr>
                        <a:t>Too few matching buyers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Recruit recurring buyers before broad farmer acquisition</a:t>
                      </a:r>
                    </a:p>
                  </a:txBody>
                  <a:tcPr marL="91440" marR="91440" marT="45720" marB="45720">
                    <a:lnR w="19050">
                      <a:solidFill>
                        <a:srgbClr val="F5F7F2"/>
                      </a:solidFill>
                    </a:lnR>
                    <a:lnB w="19050">
                      <a:solidFill>
                        <a:srgbClr val="F5F7F2"/>
                      </a:solidFill>
                    </a:lnB>
                    <a:solidFill>
                      <a:srgbClr val="FFFFFF"/>
                    </a:solidFill>
                  </a:tcPr>
                </a:tc>
              </a:tr>
              <a:tr h="666750">
                <a:tc>
                  <a:txBody>
                    <a:bodyPr/>
                    <a:lstStyle/>
                    <a:p>
                      <a:r>
                        <a:rPr sz="1800" b="0">
                          <a:solidFill>
                            <a:srgbClr val="16352D"/>
                          </a:solidFill>
                          <a:latin typeface="Arial"/>
                          <a:ea typeface="Arial"/>
                          <a:cs typeface="Arial"/>
                        </a:rPr>
                        <a:t>Quality disputes or cancellations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Agree grades, confirm quantities and record handover</a:t>
                      </a:r>
                    </a:p>
                  </a:txBody>
                  <a:tcPr marL="91440" marR="91440" marT="45720" marB="45720">
                    <a:lnR w="19050">
                      <a:solidFill>
                        <a:srgbClr val="F5F7F2"/>
                      </a:solidFill>
                    </a:lnR>
                    <a:lnB w="19050">
                      <a:solidFill>
                        <a:srgbClr val="F5F7F2"/>
                      </a:solidFill>
                    </a:lnB>
                    <a:solidFill>
                      <a:srgbClr val="E8F3EC"/>
                    </a:solidFill>
                  </a:tcPr>
                </a:tc>
              </a:tr>
              <a:tr h="666750">
                <a:tc>
                  <a:txBody>
                    <a:bodyPr/>
                    <a:lstStyle/>
                    <a:p>
                      <a:r>
                        <a:rPr sz="1800" b="0">
                          <a:solidFill>
                            <a:srgbClr val="16352D"/>
                          </a:solidFill>
                          <a:latin typeface="Arial"/>
                          <a:ea typeface="Arial"/>
                          <a:cs typeface="Arial"/>
                        </a:rPr>
                        <a:t>Unreliable delivery</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Limit routes and maintain a backup delivery partner</a:t>
                      </a:r>
                    </a:p>
                  </a:txBody>
                  <a:tcPr marL="91440" marR="91440" marT="45720" marB="45720">
                    <a:lnR w="19050">
                      <a:solidFill>
                        <a:srgbClr val="F5F7F2"/>
                      </a:solidFill>
                    </a:lnR>
                    <a:lnB w="19050">
                      <a:solidFill>
                        <a:srgbClr val="F5F7F2"/>
                      </a:solidFill>
                    </a:lnB>
                    <a:solidFill>
                      <a:srgbClr val="FFFFFF"/>
                    </a:solidFill>
                  </a:tcPr>
                </a:tc>
              </a:tr>
              <a:tr h="666750">
                <a:tc>
                  <a:txBody>
                    <a:bodyPr/>
                    <a:lstStyle/>
                    <a:p>
                      <a:r>
                        <a:rPr sz="1800" b="0">
                          <a:solidFill>
                            <a:srgbClr val="16352D"/>
                          </a:solidFill>
                          <a:latin typeface="Arial"/>
                          <a:ea typeface="Arial"/>
                          <a:cs typeface="Arial"/>
                        </a:rPr>
                        <a:t>Digital access and language gaps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Assisted onboarding and Sinhala/Tamil usability testing</a:t>
                      </a:r>
                    </a:p>
                  </a:txBody>
                  <a:tcPr marL="91440" marR="91440" marT="45720" marB="45720">
                    <a:lnR w="19050">
                      <a:solidFill>
                        <a:srgbClr val="F5F7F2"/>
                      </a:solidFill>
                    </a:lnR>
                    <a:lnB w="19050">
                      <a:solidFill>
                        <a:srgbClr val="F5F7F2"/>
                      </a:solidFill>
                    </a:lnB>
                    <a:solidFill>
                      <a:srgbClr val="E8F3EC"/>
                    </a:solidFill>
                  </a:tcPr>
                </a:tc>
              </a:tr>
              <a:tr h="666750">
                <a:tc>
                  <a:txBody>
                    <a:bodyPr/>
                    <a:lstStyle/>
                    <a:p>
                      <a:r>
                        <a:rPr sz="1800" b="0">
                          <a:solidFill>
                            <a:srgbClr val="16352D"/>
                          </a:solidFill>
                          <a:latin typeface="Arial"/>
                          <a:ea typeface="Arial"/>
                          <a:cs typeface="Arial"/>
                        </a:rPr>
                        <a:t>Payment and data handling</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Reconciliation, access controls and pre-launch review</a:t>
                      </a:r>
                    </a:p>
                  </a:txBody>
                  <a:tcPr marL="91440" marR="91440" marT="45720" marB="45720">
                    <a:lnR w="19050">
                      <a:solidFill>
                        <a:srgbClr val="F5F7F2"/>
                      </a:solidFill>
                    </a:lnR>
                    <a:lnB w="19050">
                      <a:solidFill>
                        <a:srgbClr val="F5F7F2"/>
                      </a:solidFill>
                    </a:lnB>
                    <a:solidFill>
                      <a:srgbClr val="FFFFFF"/>
                    </a:solidFill>
                  </a:tcPr>
                </a:tc>
              </a:tr>
            </a:tbl>
          </a:graphicData>
        </a:graphic>
      </p:graphicFrame>
    </p:spTree>
    <p:extLst>
      <p:ext uri="{BB962C8B-B14F-4D97-AF65-F5344CB8AC3E}">
        <p14:creationId xmlns:p14="http://schemas.microsoft.com/office/powerpoint/2010/main" val="1482389630"/>
      </p:ext>
    </p:extLst>
  </p:cSld>
</p:sld>
</file>

<file path=ppt/slides/slide13.xml><?xml version="1.0" encoding="utf-8"?>
<p:sld xmlns:p="http://schemas.openxmlformats.org/presentationml/2006/main">
  <p:cSld>
    <p:bg>
      <p:bgPr>
        <a:solidFill xmlns:a="http://schemas.openxmlformats.org/drawingml/2006/main">
          <a:srgbClr val="1635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E6F6B8-A733-4036-B428-D5080496CDA5}"/>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pilot partnership request</a:t>
            </a:r>
          </a:p>
        </p:txBody>
      </p:sp>
      <p:sp>
        <p:nvSpPr>
          <p:cNvPr id="2" name="">
            <a:extLst xmlns:a="http://schemas.openxmlformats.org/drawingml/2006/main">
              <a:ext uri="{FF2B5EF4-FFF2-40B4-BE49-F238E27FC236}">
                <a16:creationId xmlns:a16="http://schemas.microsoft.com/office/drawing/2014/main" id="{097ECCAE-A232-4118-94CA-B58EFA788CFB}"/>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D4C6"/>
                </a:solidFill>
                <a:latin typeface="Arial"/>
                <a:ea typeface="Arial"/>
                <a:cs typeface="Arial"/>
              </a:defRPr>
            </a:defPPr>
          </a:lstStyle>
          <a:p xmlns:a="http://schemas.openxmlformats.org/drawingml/2006/main">
            <a:pPr>
              <a:defRPr sz="1125" b="0">
                <a:solidFill>
                  <a:srgbClr val="B8D4C6"/>
                </a:solidFill>
                <a:latin typeface="Arial"/>
                <a:ea typeface="Arial"/>
                <a:cs typeface="Arial"/>
              </a:defRPr>
            </a:pPr>
            <a:r>
              <a:rPr sz="1125" b="0">
                <a:solidFill>
                  <a:srgbClr val="B8D4C6"/>
                </a:solidFill>
                <a:latin typeface="Arial"/>
                <a:ea typeface="Arial"/>
                <a:cs typeface="Arial"/>
              </a:rPr>
              <a:t>GoviLink   /   13</a:t>
            </a:r>
          </a:p>
        </p:txBody>
      </p:sp>
      <p:sp>
        <p:nvSpPr>
          <p:cNvPr id="3" name="">
            <a:extLst xmlns:a="http://schemas.openxmlformats.org/drawingml/2006/main">
              <a:ext uri="{FF2B5EF4-FFF2-40B4-BE49-F238E27FC236}">
                <a16:creationId xmlns:a16="http://schemas.microsoft.com/office/drawing/2014/main" id="{01AADEA1-FA6C-48AC-AAD8-95452E653280}"/>
              </a:ext>
            </a:extLst>
          </p:cNvPr>
          <p:cNvSpPr>
            <a:spLocks xmlns:a="http://schemas.openxmlformats.org/drawingml/2006/main" noGrp="1"/>
          </p:cNvSpPr>
          <p:nvPr/>
        </p:nvSpPr>
        <p:spPr>
          <a:xfrm xmlns:a="http://schemas.openxmlformats.org/drawingml/2006/main">
            <a:off x="609600" y="1838325"/>
            <a:ext cx="10477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One farmer organization</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Ten recurring produce buyers</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Two delivery partners</a:t>
            </a:r>
          </a:p>
        </p:txBody>
      </p:sp>
      <p:sp>
        <p:nvSpPr>
          <p:cNvPr id="4" name="">
            <a:extLst xmlns:a="http://schemas.openxmlformats.org/drawingml/2006/main">
              <a:ext uri="{FF2B5EF4-FFF2-40B4-BE49-F238E27FC236}">
                <a16:creationId xmlns:a16="http://schemas.microsoft.com/office/drawing/2014/main" id="{8101AE69-8895-4350-B908-CB2A034BC761}"/>
              </a:ext>
            </a:extLst>
          </p:cNvPr>
          <p:cNvSpPr>
            <a:spLocks xmlns:a="http://schemas.openxmlformats.org/drawingml/2006/main" noGrp="1"/>
          </p:cNvSpPr>
          <p:nvPr/>
        </p:nvSpPr>
        <p:spPr>
          <a:xfrm xmlns:a="http://schemas.openxmlformats.org/drawingml/2006/main">
            <a:off x="609600" y="46005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BDD6C8"/>
                </a:solidFill>
                <a:latin typeface="Arial"/>
                <a:ea typeface="Arial"/>
                <a:cs typeface="Arial"/>
              </a:defRPr>
            </a:defPPr>
          </a:lstStyle>
          <a:p xmlns:a="http://schemas.openxmlformats.org/drawingml/2006/main">
            <a:pPr>
              <a:defRPr sz="2550" b="0">
                <a:solidFill>
                  <a:srgbClr val="BDD6C8"/>
                </a:solidFill>
                <a:latin typeface="Arial"/>
                <a:ea typeface="Arial"/>
                <a:cs typeface="Arial"/>
              </a:defRPr>
            </a:pPr>
            <a:r>
              <a:rPr sz="2550" b="0">
                <a:solidFill>
                  <a:srgbClr val="BDD6C8"/>
                </a:solidFill>
                <a:latin typeface="Arial"/>
                <a:ea typeface="Arial"/>
                <a:cs typeface="Arial"/>
              </a:rPr>
              <a:t>A 90-day pilot to test repeat demand and dependable delivery</a:t>
            </a:r>
          </a:p>
        </p:txBody>
      </p:sp>
      <p:sp>
        <p:nvSpPr>
          <p:cNvPr id="5" name="">
            <a:extLst xmlns:a="http://schemas.openxmlformats.org/drawingml/2006/main">
              <a:ext uri="{FF2B5EF4-FFF2-40B4-BE49-F238E27FC236}">
                <a16:creationId xmlns:a16="http://schemas.microsoft.com/office/drawing/2014/main" id="{83AFAEBC-B00F-4A3B-927F-9CB5EC692368}"/>
              </a:ext>
            </a:extLst>
          </p:cNvPr>
          <p:cNvSpPr>
            <a:spLocks xmlns:a="http://schemas.openxmlformats.org/drawingml/2006/main" noGrp="1"/>
          </p:cNvSpPr>
          <p:nvPr/>
        </p:nvSpPr>
        <p:spPr>
          <a:xfrm xmlns:a="http://schemas.openxmlformats.org/drawingml/2006/main">
            <a:off x="609600" y="56769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DD6C8"/>
                </a:solidFill>
                <a:latin typeface="Arial"/>
                <a:ea typeface="Arial"/>
                <a:cs typeface="Arial"/>
              </a:defRPr>
            </a:defPPr>
          </a:lstStyle>
          <a:p xmlns:a="http://schemas.openxmlformats.org/drawingml/2006/main">
            <a:pPr>
              <a:defRPr sz="1650" b="0">
                <a:solidFill>
                  <a:srgbClr val="BDD6C8"/>
                </a:solidFill>
                <a:latin typeface="Arial"/>
                <a:ea typeface="Arial"/>
                <a:cs typeface="Arial"/>
              </a:defRPr>
            </a:pPr>
            <a:r>
              <a:rPr sz="1650" b="0">
                <a:solidFill>
                  <a:srgbClr val="BDD6C8"/>
                </a:solidFill>
                <a:latin typeface="Arial"/>
                <a:ea typeface="Arial"/>
                <a:cs typeface="Arial"/>
              </a:rPr>
              <a:t>Next step: a pilot discovery meeting</a:t>
            </a:r>
          </a:p>
          <a:p xmlns:a="http://schemas.openxmlformats.org/drawingml/2006/main">
            <a:pPr>
              <a:defRPr sz="1650" b="0">
                <a:solidFill>
                  <a:srgbClr val="BDD6C8"/>
                </a:solidFill>
                <a:latin typeface="Arial"/>
                <a:ea typeface="Arial"/>
                <a:cs typeface="Arial"/>
              </a:defRPr>
            </a:pPr>
            <a:r>
              <a:rPr sz="1650" b="0">
                <a:solidFill>
                  <a:srgbClr val="BDD6C8"/>
                </a:solidFill>
                <a:latin typeface="Arial"/>
                <a:ea typeface="Arial"/>
                <a:cs typeface="Arial"/>
              </a:rPr>
              <a:t>Contact: add your team email or phone before presenting</a:t>
            </a:r>
          </a:p>
        </p:txBody>
      </p:sp>
    </p:spTree>
    <p:extLst>
      <p:ext uri="{BB962C8B-B14F-4D97-AF65-F5344CB8AC3E}">
        <p14:creationId xmlns:p14="http://schemas.microsoft.com/office/powerpoint/2010/main" val="270266608"/>
      </p:ext>
    </p:extLst>
  </p:cSld>
</p:sld>
</file>

<file path=ppt/slides/slide1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5E2F56-BCAE-4ABA-8F63-417084F9B763}"/>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Questions to expect</a:t>
            </a:r>
          </a:p>
        </p:txBody>
      </p:sp>
      <p:sp>
        <p:nvSpPr>
          <p:cNvPr id="2" name="">
            <a:extLst xmlns:a="http://schemas.openxmlformats.org/drawingml/2006/main">
              <a:ext uri="{FF2B5EF4-FFF2-40B4-BE49-F238E27FC236}">
                <a16:creationId xmlns:a16="http://schemas.microsoft.com/office/drawing/2014/main" id="{6A0A263E-59CC-4D57-8C35-6F38484DAD12}"/>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14</a:t>
            </a:r>
          </a:p>
        </p:txBody>
      </p:sp>
      <p:sp>
        <p:nvSpPr>
          <p:cNvPr id="3" name="">
            <a:extLst xmlns:a="http://schemas.openxmlformats.org/drawingml/2006/main">
              <a:ext uri="{FF2B5EF4-FFF2-40B4-BE49-F238E27FC236}">
                <a16:creationId xmlns:a16="http://schemas.microsoft.com/office/drawing/2014/main" id="{6A455645-E9ED-48ED-8F97-84378452BFA0}"/>
              </a:ext>
            </a:extLst>
          </p:cNvPr>
          <p:cNvSpPr>
            <a:spLocks xmlns:a="http://schemas.openxmlformats.org/drawingml/2006/main" noGrp="1"/>
          </p:cNvSpPr>
          <p:nvPr/>
        </p:nvSpPr>
        <p:spPr>
          <a:xfrm xmlns:a="http://schemas.openxmlformats.org/drawingml/2006/main">
            <a:off x="6096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Why will users switch?</a:t>
            </a:r>
          </a:p>
        </p:txBody>
      </p:sp>
      <p:sp>
        <p:nvSpPr>
          <p:cNvPr id="4" name="">
            <a:extLst xmlns:a="http://schemas.openxmlformats.org/drawingml/2006/main">
              <a:ext uri="{FF2B5EF4-FFF2-40B4-BE49-F238E27FC236}">
                <a16:creationId xmlns:a16="http://schemas.microsoft.com/office/drawing/2014/main" id="{2C2E848F-7902-403B-958B-D14EB7929A5A}"/>
              </a:ext>
            </a:extLst>
          </p:cNvPr>
          <p:cNvSpPr>
            <a:spLocks xmlns:a="http://schemas.openxmlformats.org/drawingml/2006/main" noGrp="1"/>
          </p:cNvSpPr>
          <p:nvPr/>
        </p:nvSpPr>
        <p:spPr>
          <a:xfrm xmlns:a="http://schemas.openxmlformats.org/drawingml/2006/main">
            <a:off x="60960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We must demonstrate less coordination effort and reliable completed orders during the pilot.</a:t>
            </a:r>
          </a:p>
        </p:txBody>
      </p:sp>
      <p:sp>
        <p:nvSpPr>
          <p:cNvPr id="5" name="">
            <a:extLst xmlns:a="http://schemas.openxmlformats.org/drawingml/2006/main">
              <a:ext uri="{FF2B5EF4-FFF2-40B4-BE49-F238E27FC236}">
                <a16:creationId xmlns:a16="http://schemas.microsoft.com/office/drawing/2014/main" id="{1F170B8E-E8D7-4893-AD3E-0349243334E1}"/>
              </a:ext>
            </a:extLst>
          </p:cNvPr>
          <p:cNvSpPr>
            <a:spLocks xmlns:a="http://schemas.openxmlformats.org/drawingml/2006/main" noGrp="1"/>
          </p:cNvSpPr>
          <p:nvPr/>
        </p:nvSpPr>
        <p:spPr>
          <a:xfrm xmlns:a="http://schemas.openxmlformats.org/drawingml/2006/main">
            <a:off x="6524625"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Why will farmers pay?</a:t>
            </a:r>
          </a:p>
        </p:txBody>
      </p:sp>
      <p:sp>
        <p:nvSpPr>
          <p:cNvPr id="6" name="">
            <a:extLst xmlns:a="http://schemas.openxmlformats.org/drawingml/2006/main">
              <a:ext uri="{FF2B5EF4-FFF2-40B4-BE49-F238E27FC236}">
                <a16:creationId xmlns:a16="http://schemas.microsoft.com/office/drawing/2014/main" id="{6FB6E8DD-2F4F-4505-A823-E6C29BB87B29}"/>
              </a:ext>
            </a:extLst>
          </p:cNvPr>
          <p:cNvSpPr>
            <a:spLocks xmlns:a="http://schemas.openxmlformats.org/drawingml/2006/main" noGrp="1"/>
          </p:cNvSpPr>
          <p:nvPr/>
        </p:nvSpPr>
        <p:spPr>
          <a:xfrm xmlns:a="http://schemas.openxmlformats.org/drawingml/2006/main">
            <a:off x="6524625"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Only if the service creates enough value. Test the fee after a free introductory period.</a:t>
            </a:r>
          </a:p>
        </p:txBody>
      </p:sp>
      <p:sp>
        <p:nvSpPr>
          <p:cNvPr id="7" name="">
            <a:extLst xmlns:a="http://schemas.openxmlformats.org/drawingml/2006/main">
              <a:ext uri="{FF2B5EF4-FFF2-40B4-BE49-F238E27FC236}">
                <a16:creationId xmlns:a16="http://schemas.microsoft.com/office/drawing/2014/main" id="{4FDB57E7-3E46-449A-B808-E3D4E760EAF8}"/>
              </a:ext>
            </a:extLst>
          </p:cNvPr>
          <p:cNvSpPr>
            <a:spLocks xmlns:a="http://schemas.openxmlformats.org/drawingml/2006/main" noGrp="1"/>
          </p:cNvSpPr>
          <p:nvPr/>
        </p:nvSpPr>
        <p:spPr>
          <a:xfrm xmlns:a="http://schemas.openxmlformats.org/drawingml/2006/main">
            <a:off x="609600"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What prevents off-app trading?</a:t>
            </a:r>
          </a:p>
        </p:txBody>
      </p:sp>
      <p:sp>
        <p:nvSpPr>
          <p:cNvPr id="8" name="">
            <a:extLst xmlns:a="http://schemas.openxmlformats.org/drawingml/2006/main">
              <a:ext uri="{FF2B5EF4-FFF2-40B4-BE49-F238E27FC236}">
                <a16:creationId xmlns:a16="http://schemas.microsoft.com/office/drawing/2014/main" id="{EFD31379-3FAE-42D7-8801-7E6474811FDE}"/>
              </a:ext>
            </a:extLst>
          </p:cNvPr>
          <p:cNvSpPr>
            <a:spLocks xmlns:a="http://schemas.openxmlformats.org/drawingml/2006/main" noGrp="1"/>
          </p:cNvSpPr>
          <p:nvPr/>
        </p:nvSpPr>
        <p:spPr>
          <a:xfrm xmlns:a="http://schemas.openxmlformats.org/drawingml/2006/main">
            <a:off x="609600"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Useful delivery support and records may encourage return use. Leakage remains a risk.</a:t>
            </a:r>
          </a:p>
        </p:txBody>
      </p:sp>
      <p:sp>
        <p:nvSpPr>
          <p:cNvPr id="9" name="">
            <a:extLst xmlns:a="http://schemas.openxmlformats.org/drawingml/2006/main">
              <a:ext uri="{FF2B5EF4-FFF2-40B4-BE49-F238E27FC236}">
                <a16:creationId xmlns:a16="http://schemas.microsoft.com/office/drawing/2014/main" id="{6B8AFF92-86F6-46C0-A279-229F5D96D7BE}"/>
              </a:ext>
            </a:extLst>
          </p:cNvPr>
          <p:cNvSpPr>
            <a:spLocks xmlns:a="http://schemas.openxmlformats.org/drawingml/2006/main" noGrp="1"/>
          </p:cNvSpPr>
          <p:nvPr/>
        </p:nvSpPr>
        <p:spPr>
          <a:xfrm xmlns:a="http://schemas.openxmlformats.org/drawingml/2006/main">
            <a:off x="6524625"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How will it scale?</a:t>
            </a:r>
          </a:p>
        </p:txBody>
      </p:sp>
      <p:sp>
        <p:nvSpPr>
          <p:cNvPr id="10" name="">
            <a:extLst xmlns:a="http://schemas.openxmlformats.org/drawingml/2006/main">
              <a:ext uri="{FF2B5EF4-FFF2-40B4-BE49-F238E27FC236}">
                <a16:creationId xmlns:a16="http://schemas.microsoft.com/office/drawing/2014/main" id="{58D72A56-E28B-4476-8727-7B17738AE758}"/>
              </a:ext>
            </a:extLst>
          </p:cNvPr>
          <p:cNvSpPr>
            <a:spLocks xmlns:a="http://schemas.openxmlformats.org/drawingml/2006/main" noGrp="1"/>
          </p:cNvSpPr>
          <p:nvPr/>
        </p:nvSpPr>
        <p:spPr>
          <a:xfrm xmlns:a="http://schemas.openxmlformats.org/drawingml/2006/main">
            <a:off x="6524625"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Expand route by route after repeat demand, service reliability and viable costs.</a:t>
            </a:r>
          </a:p>
        </p:txBody>
      </p:sp>
    </p:spTree>
    <p:extLst>
      <p:ext uri="{BB962C8B-B14F-4D97-AF65-F5344CB8AC3E}">
        <p14:creationId xmlns:p14="http://schemas.microsoft.com/office/powerpoint/2010/main" val="727846597"/>
      </p:ext>
    </p:extLst>
  </p:cSld>
</p:sld>
</file>

<file path=ppt/slides/slide1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3133112-C6CA-4C97-81A3-B3C6B9AD5864}"/>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53F6F924-6EA0-486E-850F-39482AC1C582}"/>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15</a:t>
            </a:r>
          </a:p>
        </p:txBody>
      </p:sp>
      <p:sp>
        <p:nvSpPr>
          <p:cNvPr id="3" name="">
            <a:extLst xmlns:a="http://schemas.openxmlformats.org/drawingml/2006/main">
              <a:ext uri="{FF2B5EF4-FFF2-40B4-BE49-F238E27FC236}">
                <a16:creationId xmlns:a16="http://schemas.microsoft.com/office/drawing/2014/main" id="{7ABE2367-03E2-41EC-B1D7-0A163092C2A0}"/>
              </a:ext>
            </a:extLst>
          </p:cNvPr>
          <p:cNvSpPr>
            <a:spLocks xmlns:a="http://schemas.openxmlformats.org/drawingml/2006/main" noGrp="1"/>
          </p:cNvSpPr>
          <p:nvPr/>
        </p:nvSpPr>
        <p:spPr>
          <a:xfrm xmlns:a="http://schemas.openxmlformats.org/drawingml/2006/main">
            <a:off x="609600" y="1533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1  Department of Census and Statistics</a:t>
            </a:r>
          </a:p>
        </p:txBody>
      </p:sp>
      <p:sp>
        <p:nvSpPr>
          <p:cNvPr id="4" name="">
            <a:extLst xmlns:a="http://schemas.openxmlformats.org/drawingml/2006/main">
              <a:ext uri="{FF2B5EF4-FFF2-40B4-BE49-F238E27FC236}">
                <a16:creationId xmlns:a16="http://schemas.microsoft.com/office/drawing/2014/main" id="{36B71068-F33F-4D02-823C-CE6AEDDAA32F}"/>
              </a:ext>
            </a:extLst>
          </p:cNvPr>
          <p:cNvSpPr>
            <a:spLocks xmlns:a="http://schemas.openxmlformats.org/drawingml/2006/main" noGrp="1"/>
          </p:cNvSpPr>
          <p:nvPr/>
        </p:nvSpPr>
        <p:spPr>
          <a:xfrm xmlns:a="http://schemas.openxmlformats.org/drawingml/2006/main">
            <a:off x="609600" y="18954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Labour Force Survey, Q2 2025, Table 5. Agricultural employment.</a:t>
            </a:r>
          </a:p>
        </p:txBody>
      </p:sp>
      <p:sp>
        <p:nvSpPr>
          <p:cNvPr id="5" name="">
            <a:extLst xmlns:a="http://schemas.openxmlformats.org/drawingml/2006/main">
              <a:ext uri="{FF2B5EF4-FFF2-40B4-BE49-F238E27FC236}">
                <a16:creationId xmlns:a16="http://schemas.microsoft.com/office/drawing/2014/main" id="{D745A996-392B-4C3F-98CF-4823B88D0FA3}"/>
              </a:ext>
            </a:extLst>
          </p:cNvPr>
          <p:cNvSpPr>
            <a:spLocks xmlns:a="http://schemas.openxmlformats.org/drawingml/2006/main" noGrp="1"/>
          </p:cNvSpPr>
          <p:nvPr/>
        </p:nvSpPr>
        <p:spPr>
          <a:xfrm xmlns:a="http://schemas.openxmlformats.org/drawingml/2006/main">
            <a:off x="609600" y="24003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2  Department of Census and Statistics</a:t>
            </a:r>
          </a:p>
        </p:txBody>
      </p:sp>
      <p:sp>
        <p:nvSpPr>
          <p:cNvPr id="6" name="">
            <a:extLst xmlns:a="http://schemas.openxmlformats.org/drawingml/2006/main">
              <a:ext uri="{FF2B5EF4-FFF2-40B4-BE49-F238E27FC236}">
                <a16:creationId xmlns:a16="http://schemas.microsoft.com/office/drawing/2014/main" id="{CD094F74-08E0-4859-B3A5-B424D1073417}"/>
              </a:ext>
            </a:extLst>
          </p:cNvPr>
          <p:cNvSpPr>
            <a:spLocks xmlns:a="http://schemas.openxmlformats.org/drawingml/2006/main" noGrp="1"/>
          </p:cNvSpPr>
          <p:nvPr/>
        </p:nvSpPr>
        <p:spPr>
          <a:xfrm xmlns:a="http://schemas.openxmlformats.org/drawingml/2006/main">
            <a:off x="609600" y="2762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Computer Literacy Statistics, January–June 2025. Digital literacy.</a:t>
            </a:r>
          </a:p>
        </p:txBody>
      </p:sp>
      <p:sp>
        <p:nvSpPr>
          <p:cNvPr id="7" name="">
            <a:extLst xmlns:a="http://schemas.openxmlformats.org/drawingml/2006/main">
              <a:ext uri="{FF2B5EF4-FFF2-40B4-BE49-F238E27FC236}">
                <a16:creationId xmlns:a16="http://schemas.microsoft.com/office/drawing/2014/main" id="{6204FB77-046F-4F4C-A047-6509F83EAA1B}"/>
              </a:ext>
            </a:extLst>
          </p:cNvPr>
          <p:cNvSpPr>
            <a:spLocks xmlns:a="http://schemas.openxmlformats.org/drawingml/2006/main" noGrp="1"/>
          </p:cNvSpPr>
          <p:nvPr/>
        </p:nvSpPr>
        <p:spPr>
          <a:xfrm xmlns:a="http://schemas.openxmlformats.org/drawingml/2006/main">
            <a:off x="609600" y="3267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3  Food and Agriculture Organization</a:t>
            </a:r>
          </a:p>
        </p:txBody>
      </p:sp>
      <p:sp>
        <p:nvSpPr>
          <p:cNvPr id="8" name="">
            <a:extLst xmlns:a="http://schemas.openxmlformats.org/drawingml/2006/main">
              <a:ext uri="{FF2B5EF4-FFF2-40B4-BE49-F238E27FC236}">
                <a16:creationId xmlns:a16="http://schemas.microsoft.com/office/drawing/2014/main" id="{90453AA2-BC07-4F69-B9FA-D9E6119E4781}"/>
              </a:ext>
            </a:extLst>
          </p:cNvPr>
          <p:cNvSpPr>
            <a:spLocks xmlns:a="http://schemas.openxmlformats.org/drawingml/2006/main" noGrp="1"/>
          </p:cNvSpPr>
          <p:nvPr/>
        </p:nvSpPr>
        <p:spPr>
          <a:xfrm xmlns:a="http://schemas.openxmlformats.org/drawingml/2006/main">
            <a:off x="609600" y="36290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South Asian produce supply-chain case studies, including Sri Lanka.</a:t>
            </a:r>
          </a:p>
        </p:txBody>
      </p:sp>
      <p:sp>
        <p:nvSpPr>
          <p:cNvPr id="9" name="">
            <a:extLst xmlns:a="http://schemas.openxmlformats.org/drawingml/2006/main">
              <a:ext uri="{FF2B5EF4-FFF2-40B4-BE49-F238E27FC236}">
                <a16:creationId xmlns:a16="http://schemas.microsoft.com/office/drawing/2014/main" id="{E238AB60-6C80-418F-AD9F-71C23A250F8D}"/>
              </a:ext>
            </a:extLst>
          </p:cNvPr>
          <p:cNvSpPr>
            <a:spLocks xmlns:a="http://schemas.openxmlformats.org/drawingml/2006/main" noGrp="1"/>
          </p:cNvSpPr>
          <p:nvPr/>
        </p:nvSpPr>
        <p:spPr>
          <a:xfrm xmlns:a="http://schemas.openxmlformats.org/drawingml/2006/main">
            <a:off x="609600" y="41338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4  Dialog Axiata</a:t>
            </a:r>
          </a:p>
        </p:txBody>
      </p:sp>
      <p:sp>
        <p:nvSpPr>
          <p:cNvPr id="10" name="">
            <a:extLst xmlns:a="http://schemas.openxmlformats.org/drawingml/2006/main">
              <a:ext uri="{FF2B5EF4-FFF2-40B4-BE49-F238E27FC236}">
                <a16:creationId xmlns:a16="http://schemas.microsoft.com/office/drawing/2014/main" id="{ADC5E769-4A47-4509-8AF8-2EA64EBB2648}"/>
              </a:ext>
            </a:extLst>
          </p:cNvPr>
          <p:cNvSpPr>
            <a:spLocks xmlns:a="http://schemas.openxmlformats.org/drawingml/2006/main" noGrp="1"/>
          </p:cNvSpPr>
          <p:nvPr/>
        </p:nvSpPr>
        <p:spPr>
          <a:xfrm xmlns:a="http://schemas.openxmlformats.org/drawingml/2006/main">
            <a:off x="609600" y="4495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Govi Mithuru app listing. Published advisory features.</a:t>
            </a:r>
          </a:p>
        </p:txBody>
      </p:sp>
      <p:sp>
        <p:nvSpPr>
          <p:cNvPr id="11" name="">
            <a:extLst xmlns:a="http://schemas.openxmlformats.org/drawingml/2006/main">
              <a:ext uri="{FF2B5EF4-FFF2-40B4-BE49-F238E27FC236}">
                <a16:creationId xmlns:a16="http://schemas.microsoft.com/office/drawing/2014/main" id="{8365CF68-9AA2-4931-BF65-AC06CE1B0114}"/>
              </a:ext>
            </a:extLst>
          </p:cNvPr>
          <p:cNvSpPr>
            <a:spLocks xmlns:a="http://schemas.openxmlformats.org/drawingml/2006/main" noGrp="1"/>
          </p:cNvSpPr>
          <p:nvPr/>
        </p:nvSpPr>
        <p:spPr>
          <a:xfrm xmlns:a="http://schemas.openxmlformats.org/drawingml/2006/main">
            <a:off x="609600" y="500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5  Central Bank of Sri Lanka</a:t>
            </a:r>
          </a:p>
        </p:txBody>
      </p:sp>
      <p:sp>
        <p:nvSpPr>
          <p:cNvPr id="12" name="">
            <a:extLst xmlns:a="http://schemas.openxmlformats.org/drawingml/2006/main">
              <a:ext uri="{FF2B5EF4-FFF2-40B4-BE49-F238E27FC236}">
                <a16:creationId xmlns:a16="http://schemas.microsoft.com/office/drawing/2014/main" id="{31CBB814-6B1F-43E4-BAD7-B1E6EF4EC032}"/>
              </a:ext>
            </a:extLst>
          </p:cNvPr>
          <p:cNvSpPr>
            <a:spLocks xmlns:a="http://schemas.openxmlformats.org/drawingml/2006/main" noGrp="1"/>
          </p:cNvSpPr>
          <p:nvPr/>
        </p:nvSpPr>
        <p:spPr>
          <a:xfrm xmlns:a="http://schemas.openxmlformats.org/drawingml/2006/main">
            <a:off x="609600" y="5362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Annual Report 2019, Box 4. Historical Govipola description.</a:t>
            </a:r>
          </a:p>
        </p:txBody>
      </p:sp>
      <p:sp>
        <p:nvSpPr>
          <p:cNvPr id="13" name="">
            <a:extLst xmlns:a="http://schemas.openxmlformats.org/drawingml/2006/main">
              <a:ext uri="{FF2B5EF4-FFF2-40B4-BE49-F238E27FC236}">
                <a16:creationId xmlns:a16="http://schemas.microsoft.com/office/drawing/2014/main" id="{180C8433-93F4-4E48-9044-2E83BBB7BC5B}"/>
              </a:ext>
            </a:extLst>
          </p:cNvPr>
          <p:cNvSpPr>
            <a:spLocks xmlns:a="http://schemas.openxmlformats.org/drawingml/2006/main" noGrp="1"/>
          </p:cNvSpPr>
          <p:nvPr/>
        </p:nvSpPr>
        <p:spPr>
          <a:xfrm xmlns:a="http://schemas.openxmlformats.org/drawingml/2006/main">
            <a:off x="609600" y="610552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Full source links in slide notes and companion guide. Prototype screenshots use demo data.</a:t>
            </a:r>
          </a:p>
        </p:txBody>
      </p:sp>
    </p:spTree>
    <p:extLst>
      <p:ext uri="{BB962C8B-B14F-4D97-AF65-F5344CB8AC3E}">
        <p14:creationId xmlns:p14="http://schemas.microsoft.com/office/powerpoint/2010/main" val="528377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2026-10-12T06:21:29.6440000Z</dcterms:created>
  <dcterms:modified xsi:type="dcterms:W3CDTF">2026-10-12T06:21:29.6440000Z</dcterms:modified>
</coreProperties>
</file>
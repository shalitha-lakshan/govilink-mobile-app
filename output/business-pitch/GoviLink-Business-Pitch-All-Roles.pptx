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172f0fcaf94db5" /><Relationship Type="http://schemas.openxmlformats.org/officeDocument/2006/relationships/extended-properties" Target="/docProps/app.xml" Id="R84f4b8280bf34f98" /><Relationship Type="http://schemas.openxmlformats.org/officeDocument/2006/relationships/officeDocument" Target="/ppt/presentation.xml" Id="R1b721d6e5beb4b1d" /></Relationships>
</file>

<file path=ppt/presentation.xml><?xml version="1.0" encoding="utf-8"?>
<p:presentation xmlns:p="http://schemas.openxmlformats.org/presentationml/2006/main">
  <p:sldMasterIdLst>
    <p:sldMasterId xmlns:r="http://schemas.openxmlformats.org/officeDocument/2006/relationships" id="2147483648" r:id="Rfb00080e5b5a436b"/>
  </p:sldMasterIdLst>
  <p:notesMasterIdLst>
    <p:notesMasterId xmlns:r="http://schemas.openxmlformats.org/officeDocument/2006/relationships" r:id="Rb993fe42f663400e"/>
  </p:notesMasterIdLst>
  <p:sldIdLst>
    <p:sldId xmlns:r="http://schemas.openxmlformats.org/officeDocument/2006/relationships" id="256" r:id="R368fda23b4a9490d"/>
    <p:sldId xmlns:r="http://schemas.openxmlformats.org/officeDocument/2006/relationships" id="257" r:id="Re24425f0342f4098"/>
    <p:sldId xmlns:r="http://schemas.openxmlformats.org/officeDocument/2006/relationships" id="258" r:id="Rbf3c5a5283c74986"/>
    <p:sldId xmlns:r="http://schemas.openxmlformats.org/officeDocument/2006/relationships" id="259" r:id="R7590afc1ae8d467f"/>
    <p:sldId xmlns:r="http://schemas.openxmlformats.org/officeDocument/2006/relationships" id="260" r:id="Rf0d14913f39b4b4a"/>
    <p:sldId xmlns:r="http://schemas.openxmlformats.org/officeDocument/2006/relationships" id="261" r:id="R31b41c51edd64233"/>
    <p:sldId xmlns:r="http://schemas.openxmlformats.org/officeDocument/2006/relationships" id="262" r:id="Rd28896ad4c0c4999"/>
    <p:sldId xmlns:r="http://schemas.openxmlformats.org/officeDocument/2006/relationships" id="263" r:id="R99332d8f2d434aa1"/>
    <p:sldId xmlns:r="http://schemas.openxmlformats.org/officeDocument/2006/relationships" id="264" r:id="Rc818e5dcc5bb484c"/>
    <p:sldId xmlns:r="http://schemas.openxmlformats.org/officeDocument/2006/relationships" id="265" r:id="R9e40e34abfa940dd"/>
    <p:sldId xmlns:r="http://schemas.openxmlformats.org/officeDocument/2006/relationships" id="266" r:id="R164eaca94e8c404e"/>
    <p:sldId xmlns:r="http://schemas.openxmlformats.org/officeDocument/2006/relationships" id="267" r:id="R2a3f3a16843649b3"/>
    <p:sldId xmlns:r="http://schemas.openxmlformats.org/officeDocument/2006/relationships" id="268" r:id="Rb3fcd8e5af3f40c6"/>
    <p:sldId xmlns:r="http://schemas.openxmlformats.org/officeDocument/2006/relationships" id="269" r:id="R992e4bb727d5474e"/>
    <p:sldId xmlns:r="http://schemas.openxmlformats.org/officeDocument/2006/relationships" id="270" r:id="R65b955a2cfc74e3c"/>
    <p:sldId xmlns:r="http://schemas.openxmlformats.org/officeDocument/2006/relationships" id="271" r:id="R0fc508be81164e77"/>
    <p:sldId xmlns:r="http://schemas.openxmlformats.org/officeDocument/2006/relationships" id="272" r:id="Rf3b811a7ffab4f79"/>
    <p:sldId xmlns:r="http://schemas.openxmlformats.org/officeDocument/2006/relationships" id="273" r:id="R481efc236a7340f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3bf07bd3f24c83" /><Relationship Type="http://schemas.openxmlformats.org/officeDocument/2006/relationships/slideMaster" Target="/ppt/slideMasters/slideMaster1.xml" Id="Rfb00080e5b5a436b" /><Relationship Type="http://schemas.openxmlformats.org/officeDocument/2006/relationships/notesMaster" Target="/ppt/notesMasters/notesMaster1.xml" Id="Rb993fe42f663400e" /><Relationship Type="http://schemas.openxmlformats.org/officeDocument/2006/relationships/presProps" Target="/ppt/presProps.xml" Id="R998a811b6755446e" /><Relationship Type="http://schemas.openxmlformats.org/officeDocument/2006/relationships/tableStyles" Target="/ppt/tableStyles.xml" Id="R4ca5f0f413b847c3" /><Relationship Type="http://schemas.openxmlformats.org/officeDocument/2006/relationships/slide" Target="/ppt/slides/slide1.xml" Id="R368fda23b4a9490d" /><Relationship Type="http://schemas.openxmlformats.org/officeDocument/2006/relationships/slide" Target="/ppt/slides/slide2.xml" Id="Re24425f0342f4098" /><Relationship Type="http://schemas.openxmlformats.org/officeDocument/2006/relationships/slide" Target="/ppt/slides/slide3.xml" Id="Rbf3c5a5283c74986" /><Relationship Type="http://schemas.openxmlformats.org/officeDocument/2006/relationships/slide" Target="/ppt/slides/slide4.xml" Id="R7590afc1ae8d467f" /><Relationship Type="http://schemas.openxmlformats.org/officeDocument/2006/relationships/slide" Target="/ppt/slides/slide5.xml" Id="Rf0d14913f39b4b4a" /><Relationship Type="http://schemas.openxmlformats.org/officeDocument/2006/relationships/slide" Target="/ppt/slides/slide6.xml" Id="R31b41c51edd64233" /><Relationship Type="http://schemas.openxmlformats.org/officeDocument/2006/relationships/slide" Target="/ppt/slides/slide7.xml" Id="Rd28896ad4c0c4999" /><Relationship Type="http://schemas.openxmlformats.org/officeDocument/2006/relationships/slide" Target="/ppt/slides/slide8.xml" Id="R99332d8f2d434aa1" /><Relationship Type="http://schemas.openxmlformats.org/officeDocument/2006/relationships/slide" Target="/ppt/slides/slide9.xml" Id="Rc818e5dcc5bb484c" /><Relationship Type="http://schemas.openxmlformats.org/officeDocument/2006/relationships/slide" Target="/ppt/slides/slide10.xml" Id="R9e40e34abfa940dd" /><Relationship Type="http://schemas.openxmlformats.org/officeDocument/2006/relationships/slide" Target="/ppt/slides/slide11.xml" Id="R164eaca94e8c404e" /><Relationship Type="http://schemas.openxmlformats.org/officeDocument/2006/relationships/slide" Target="/ppt/slides/slide12.xml" Id="R2a3f3a16843649b3" /><Relationship Type="http://schemas.openxmlformats.org/officeDocument/2006/relationships/slide" Target="/ppt/slides/slide13.xml" Id="Rb3fcd8e5af3f40c6" /><Relationship Type="http://schemas.openxmlformats.org/officeDocument/2006/relationships/slide" Target="/ppt/slides/slide14.xml" Id="R992e4bb727d5474e" /><Relationship Type="http://schemas.openxmlformats.org/officeDocument/2006/relationships/slide" Target="/ppt/slides/slide15.xml" Id="R65b955a2cfc74e3c" /><Relationship Type="http://schemas.openxmlformats.org/officeDocument/2006/relationships/slide" Target="/ppt/slides/slide16.xml" Id="R0fc508be81164e77" /><Relationship Type="http://schemas.openxmlformats.org/officeDocument/2006/relationships/slide" Target="/ppt/slides/slide17.xml" Id="Rf3b811a7ffab4f79" /><Relationship Type="http://schemas.openxmlformats.org/officeDocument/2006/relationships/slide" Target="/ppt/slides/slide18.xml" Id="R481efc236a7340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96f6f9dc2a4a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2233092fd24bad" /><Relationship Type="http://schemas.openxmlformats.org/officeDocument/2006/relationships/notesMaster" Target="/ppt/notesMasters/notesMaster1.xml" Id="R87488fe5b9ba47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7ec77654ad4f77" /><Relationship Type="http://schemas.openxmlformats.org/officeDocument/2006/relationships/notesMaster" Target="/ppt/notesMasters/notesMaster1.xml" Id="Rd4ea0af2f7bd42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7e21e802c547bc" /><Relationship Type="http://schemas.openxmlformats.org/officeDocument/2006/relationships/notesMaster" Target="/ppt/notesMasters/notesMaster1.xml" Id="R048678572f7945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696bf22cfe4797" /><Relationship Type="http://schemas.openxmlformats.org/officeDocument/2006/relationships/notesMaster" Target="/ppt/notesMasters/notesMaster1.xml" Id="Ra23c65ff934a44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0850cb8f13412a" /><Relationship Type="http://schemas.openxmlformats.org/officeDocument/2006/relationships/notesMaster" Target="/ppt/notesMasters/notesMaster1.xml" Id="R0d55886ae96d4d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379531254e43f6" /><Relationship Type="http://schemas.openxmlformats.org/officeDocument/2006/relationships/notesMaster" Target="/ppt/notesMasters/notesMaster1.xml" Id="Rd26bbddfa4a342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8e1099fa7e4c08" /><Relationship Type="http://schemas.openxmlformats.org/officeDocument/2006/relationships/notesMaster" Target="/ppt/notesMasters/notesMaster1.xml" Id="R1b61c621710540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a29c4cec64456a" /><Relationship Type="http://schemas.openxmlformats.org/officeDocument/2006/relationships/notesMaster" Target="/ppt/notesMasters/notesMaster1.xml" Id="Re668d67472c145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c0d37005644f7a" /><Relationship Type="http://schemas.openxmlformats.org/officeDocument/2006/relationships/notesMaster" Target="/ppt/notesMasters/notesMaster1.xml" Id="Rbdef3e8fa57c44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00c8c109264743" /><Relationship Type="http://schemas.openxmlformats.org/officeDocument/2006/relationships/notesMaster" Target="/ppt/notesMasters/notesMaster1.xml" Id="Rc3233cf68e0c41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9519c3f7124afb" /><Relationship Type="http://schemas.openxmlformats.org/officeDocument/2006/relationships/notesMaster" Target="/ppt/notesMasters/notesMaster1.xml" Id="R557ba20c278147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3312ecdecd4aaa" /><Relationship Type="http://schemas.openxmlformats.org/officeDocument/2006/relationships/notesMaster" Target="/ppt/notesMasters/notesMaster1.xml" Id="R05ce85808a53482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2fc0807d8549d4" /><Relationship Type="http://schemas.openxmlformats.org/officeDocument/2006/relationships/notesMaster" Target="/ppt/notesMasters/notesMaster1.xml" Id="Rb994fbd6c7a0415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e04e773e2fc4f0c" /><Relationship Type="http://schemas.openxmlformats.org/officeDocument/2006/relationships/notesMaster" Target="/ppt/notesMasters/notesMaster1.xml" Id="R06e779f1d5524e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b6a2bfff3d246d1" /><Relationship Type="http://schemas.openxmlformats.org/officeDocument/2006/relationships/notesMaster" Target="/ppt/notesMasters/notesMaster1.xml" Id="R7a162d5dba2646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3a9e70c964f4258" /><Relationship Type="http://schemas.openxmlformats.org/officeDocument/2006/relationships/notesMaster" Target="/ppt/notesMasters/notesMaster1.xml" Id="R631414f277b34ec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76094e08a754d84" /><Relationship Type="http://schemas.openxmlformats.org/officeDocument/2006/relationships/notesMaster" Target="/ppt/notesMasters/notesMaster1.xml" Id="R39c5f617adcf48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6641e03546849c3" /><Relationship Type="http://schemas.openxmlformats.org/officeDocument/2006/relationships/notesMaster" Target="/ppt/notesMasters/notesMaster1.xml" Id="R6b18e8868f0d44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20 seconds. GoviLink is a three-role mobile app prototype connecting Sri Lankan farmers, produce buyers and drivers through linked trading and delivery workflows. We propose a focused pilot to test whether this workflow leads to repeat, completed orders. Screenshots throughout use demonstration data. The project has no verified commercial traction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Farmers need to find demand and prepare agreed quantities. Buyers need to locate supply and know order progress. Drivers need usable pickup details, delivery information and a way to report trip progress. These pain points are hypotheses to validate. FAO describes post-harvest losses in traditional produce chains, including Sri Lankan cases. Software complements physical handling and transport practices. Source: https://www.fao.org/family-farming/detail/en/c/1756714/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DCS reports 2,104,353 agricultural workers, 25.7% of employment, in Q2 2025. DCS reports 70.8% digital literacy among people aged 5–69 in January–June 2025. These are national context measures, not our addressable customer count or farmers’ smartphone ownership. We will estimate the reachable market by counting eligible farms and repeat buyers on a chosen route. Sources: https://www.statistics.gov.lk/Resource/en/LabourForce/Bulletins/LFS_Q2_Bulletin_2025.pdf</a:t>
            </a:r>
          </a:p>
          <a:p xmlns:a="http://schemas.openxmlformats.org/drawingml/2006/main">
            <a:r>
              <a:t>https://www.statistics.gov.lk/Resource/en/ComputerLiteracy/Bulletins/2025-FirstSixMonths.pdf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These are proposed segments, not observed demographics. We will recruit adult small and medium vegetable growers, including people who use a shared household smartphone. Buyers are purchasing decision-makers at groceries, restaurants and small wholesalers. Language preference, device access, order frequency and current sourcing practices will be measured through interviews. Drivers are a core app user segment as well as delivery partners. They are not assumed paying subscribers.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A farmer publishes a harvest with quantity, unit, price and date. Farmers can review buyer requests and manage accepted orders. The codebase includes buyer request creation, order status transitions and driver assignment. These are prototype features, not proof of field reliability. The current UI includes some Sinhala and Tamil support, but full language coverage still needs an audit. Screenshots are from this project with demonstration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Buyers can search produce and filter by category or origin district, then sort results and view listing details. They can place a direct order with quantity, destination and notes. A second route is posting a custom requirement by region and date for farmers to review. The order view and delivery details show progress. Benefits are hypotheses: less sourcing effort and clearer order visibility. The prototype uses a fixed delivery fee in the direct-order form. Commercial delivery pricing and payment settlement still require validation. Evidence: BuyerHomeScreen.js and BuyerRequestProduceScreen.js.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Drivers can register and manage vehicles, including an active vehicle. The dashboard displays an on-duty control and delivery jobs with farmer details, pickup location, buyer destination and handling notes. The trip action moves an eligible order to in transit and then delivered. The dashboard calculates an earnings summary from completed jobs. This is an indicative record, not proof of payment settlement. Do not claim automated route optimization, verified GPS tracking, driver-specific access control or guaranteed earnings. Evidence: DriverHomeScreen.js, DriverVehiclesListScreen.js and AddVehicleScreen.js.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This is the intended service handoff, not a guarantee that every state transition or notification is production-ready. A farmer publishes supply and a buyer places an order, or a buyer posts demand that a farmer accepts. The farmer prepares produce. Where delivery is needed, a coordinator arranges a driver using the assignment workflow. The driver reviews the job, reports pickup and marks delivery. The buyer follows progress. A buyer request can also specify self-pickup, so driver delivery is not compulsory for every transaction. Payment reconciliation remains a separate proposed operating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GoviLink brings harvest listings, buyer demand, order progress and delivery coordination into a consistent role-based workflow. This is our positioning, not a claim of exclusive features. We aim to win through reliable completion and support on one route. We must validate usability, language completeness and partner reliability before expanding.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Govi Mithuru’s published app listing describes agricultural advice, crop information and alerts. Govipola is a direct marketplace precedent documented by CBSL in 2019. We have not verified its present operational status, pricing or complete feature set. Phone and messaging workflows are an assumed alternative to investigate. We will run task-based comparisons rather than assert missing competitor features. Sources: https://play.google.com/store/apps/details?id=com.arimaclanka.android.govimithuru</a:t>
            </a:r>
          </a:p>
          <a:p xmlns:a="http://schemas.openxmlformats.org/drawingml/2006/main">
            <a:r>
              <a:t>https://www.cbsl.gov.lk/sites/default/files/cbslweb_documents/publications/annual_report/2019/en/13_Box_04.pdf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Free registration and listings keep adoption simple. After an introductory pilot waiver, test a 3% fee on the produce value of completed, settled orders, deducted from the seller payout with consent and disclosure. Delivery is a separately quoted buyer charge passed to the delivery partner. Drivers are core users with no proposed pilot subscription. Driver payment comes from delivery charges, not the 3% platform produce fee. Fee collection and payment reconciliation are planned work, not verified production functionality. Do not charge on cancellations. Test willingness to pay before fixing prices. Premium buyer tools are a later option, excluded from projections.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detail, 20 seconds. Proposed model. Partners: farmer groups, recurring buyers and delivery operators. Activities: onboarding, marketplace operations, quality checks and dispute handling. Resources: app, cloud backend, staff and partner network. Value: visible supply and coordinated orders. Relationships: assisted onboarding and support. Channels: cooperatives, buyer visits and referrals. Customer/user segments: growers, business buyers and drivers. Costs: product, hosting, support and acquisition. Revenue: completed-order fees, with premium tools only after validation. No partners or contracts are 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First, interview customers and confirm one viable route. Next, seek a farmer group and recurring buyers, then run a controlled 90-day pilot. Recruitment targets are 100 registered farmers, 30 registered buyers and 5 active drivers by day 90, not current traction. Aim for 100 completed orders in month three, at least 80% completion of accepted orders and 30% of transacting buyers returning within 30 days. Define cohorts so late users are not counted prematurely. An active driver completes at least one pilot delivery in the measurement month. Measure pickup timeliness and net driver earnings per trip after fuel and time costs. Set an on-time target after confirming the route baseline. Expand only after reliability, repeat purchasing and positive contribution per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These scenarios are assumptions, not forecasts or actual performance. Average completed produce order value is Rs. 10,000. At 3%, revenue is Rs. 300 per order. Assume Rs. 100 variable cost per order, leaving Rs. 200 contribution. At Rs. 100,000 monthly fixed operating cost, simplified operating break-even is 500 orders. The high scenario yields Rs. 20,000 before tax. Excludes initial development, founder compensation, delivery pass-through, payment fees beyond the allowance and extraordinary refunds. At Rs. 200 variable cost, break-even doubles to 1,000 orders. Validate every cost and collection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Marketplace liquidity is the central risk: sign up repeat buyers before recruiting widely. For quality issues, agree grades and record handover evidence. For missed deliveries, cap coverage and maintain a backup partner. For digital access, offer assisted onboarding and test local language task completion. Before launch, review permissions, payment reconciliation and data handling. Measure outcomes rather than promise a fixed income increase or waste reduction.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We are seeking introductions to one farmer organization, ten recurring produce buyers and five pilot drivers. We also need mentorship to test pricing and service operations. No partnership, funding or customer commitment is confirmed. Our next step is a discovery meeting to agree the route, pilot responsibilities and measurable outcomes. Contact details and presenter identity must be added before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Use the expanded questions and answers in the companion guide. Avoid claiming verified traction, full translation coverage, a production payment system or guaranteed profits. Be candid about pilot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appendix. Sources accessed 12 October 2026. National statistics use the named 2025 periods, not a claim to the latest release. Govipola evidence is historical. App screenshots and implemented feature descriptions derive from the project source and demo previews. All pilot figures, commercial terms and economics are proposed assumptions.</a:t>
            </a:r>
          </a:p>
          <a:p xmlns:a="http://schemas.openxmlformats.org/drawingml/2006/main">
            <a:r>
              <a:t>employment: https://www.statistics.gov.lk/Resource/en/LabourForce/Bulletins/LFS_Q2_Bulletin_2025.pdf</a:t>
            </a:r>
          </a:p>
          <a:p xmlns:a="http://schemas.openxmlformats.org/drawingml/2006/main">
            <a:r>
              <a:t>digital: https://www.statistics.gov.lk/Resource/en/ComputerLiteracy/Bulletins/2025-FirstSixMonths.pdf</a:t>
            </a:r>
          </a:p>
          <a:p xmlns:a="http://schemas.openxmlformats.org/drawingml/2006/main">
            <a:r>
              <a:t>loss: https://www.fao.org/family-farming/detail/en/c/1756714/</a:t>
            </a:r>
          </a:p>
          <a:p xmlns:a="http://schemas.openxmlformats.org/drawingml/2006/main">
            <a:r>
              <a:t>dialog: https://play.google.com/store/apps/details?id=com.arimaclanka.android.govimithuru</a:t>
            </a:r>
          </a:p>
          <a:p xmlns:a="http://schemas.openxmlformats.org/drawingml/2006/main">
            <a:r>
              <a:t>govipola: https://www.cbsl.gov.lk/sites/default/files/cbslweb_documents/publications/annual_report/2019/en/13_Box_04.pdf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a6792f92fc4e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b376aa1b2d41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c4e2199d094ba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dee29dd93d453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ca3f7d59b4a462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9706bf2b27745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788782-5F74-4AD2-973A-6E8B0B16EA5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CA52F1-F190-4B5B-92DD-71C7AD25E1C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10A141B-6628-4FCB-ADFC-FD11A0C85F1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251465-4455-407C-AC6F-C557B841C7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1217C37-8395-4828-8EF8-095C5C8D55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21045A9-B8C8-4748-A42D-63C09477E2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8FA643-C77B-4F00-B9F4-D4D2A4ACDD0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CB7F5F2-B913-4279-B632-B0CA57B616B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131926-AD22-4B8D-8DEE-ABCDBE248F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6E0A8F-0159-467A-8BEB-56E1E8804C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b49fa859e34682" /><Relationship Type="http://schemas.openxmlformats.org/officeDocument/2006/relationships/slideLayout" Target="/ppt/slideLayouts/slideLayout1.xml" Id="R3e649101ec5b4336" /><Relationship Type="http://schemas.openxmlformats.org/officeDocument/2006/relationships/slideLayout" Target="/ppt/slideLayouts/slideLayout2.xml" Id="R8e3c1c8876de4fcc" /><Relationship Type="http://schemas.openxmlformats.org/officeDocument/2006/relationships/slideLayout" Target="/ppt/slideLayouts/slideLayout3.xml" Id="R563c1f87f7e54fdf" /><Relationship Type="http://schemas.openxmlformats.org/officeDocument/2006/relationships/slideLayout" Target="/ppt/slideLayouts/slideLayout4.xml" Id="R6894e98e8e054590" /><Relationship Type="http://schemas.openxmlformats.org/officeDocument/2006/relationships/slideLayout" Target="/ppt/slideLayouts/slideLayout5.xml" Id="R163b62a303334453" /><Relationship Type="http://schemas.openxmlformats.org/officeDocument/2006/relationships/slideLayout" Target="/ppt/slideLayouts/slideLayout6.xml" Id="R716b1ef91d0842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649101ec5b4336"/>
    <p:sldLayoutId xmlns:r="http://schemas.openxmlformats.org/officeDocument/2006/relationships" id="2147483650" r:id="R8e3c1c8876de4fcc"/>
    <p:sldLayoutId xmlns:r="http://schemas.openxmlformats.org/officeDocument/2006/relationships" id="2147483651" r:id="R563c1f87f7e54fdf"/>
    <p:sldLayoutId xmlns:r="http://schemas.openxmlformats.org/officeDocument/2006/relationships" id="2147483652" r:id="R6894e98e8e054590"/>
    <p:sldLayoutId xmlns:r="http://schemas.openxmlformats.org/officeDocument/2006/relationships" id="2147483653" r:id="R163b62a303334453"/>
    <p:sldLayoutId xmlns:r="http://schemas.openxmlformats.org/officeDocument/2006/relationships" id="2147483654" r:id="R716b1ef91d0842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a11f0052b1e4007" /><Relationship Type="http://schemas.openxmlformats.org/officeDocument/2006/relationships/image" Target="/ppt/media/image.jpeg" Id="Rbc8f42d32faa4b87" /><Relationship Type="http://schemas.openxmlformats.org/officeDocument/2006/relationships/notesSlide" Target="/ppt/notesSlides/notesSlide1.xml" Id="Rc318122f58094f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b9d1604efd24f52" /><Relationship Type="http://schemas.openxmlformats.org/officeDocument/2006/relationships/notesSlide" Target="/ppt/notesSlides/notesSlide2.xml" Id="R94f1bd3c23aa40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945645849d74f9f" /><Relationship Type="http://schemas.openxmlformats.org/officeDocument/2006/relationships/notesSlide" Target="/ppt/notesSlides/notesSlide3.xml" Id="R591a635485bc4d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6e01010496e4a65" /><Relationship Type="http://schemas.openxmlformats.org/officeDocument/2006/relationships/notesSlide" Target="/ppt/notesSlides/notesSlide4.xml" Id="R5e37e3699e6c41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079b7e88bb74a5b" /><Relationship Type="http://schemas.openxmlformats.org/officeDocument/2006/relationships/image" Target="/ppt/media/image2.jpeg" Id="R9b03414f869e4dc2" /><Relationship Type="http://schemas.openxmlformats.org/officeDocument/2006/relationships/image" Target="/ppt/media/image3.jpeg" Id="R59ea1b9717bb4d2b" /><Relationship Type="http://schemas.openxmlformats.org/officeDocument/2006/relationships/image" Target="/ppt/media/image4.jpeg" Id="R799ffbf5ef424802" /><Relationship Type="http://schemas.openxmlformats.org/officeDocument/2006/relationships/notesSlide" Target="/ppt/notesSlides/notesSlide5.xml" Id="R678ccffbc72947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dd24e2c3af849f1" /><Relationship Type="http://schemas.openxmlformats.org/officeDocument/2006/relationships/notesSlide" Target="/ppt/notesSlides/notesSlide6.xml" Id="R144c73edec8d42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2e65af24ec0439f" /><Relationship Type="http://schemas.openxmlformats.org/officeDocument/2006/relationships/notesSlide" Target="/ppt/notesSlides/notesSlide7.xml" Id="Rd17fcf28bcc14c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b69b30a10214459" /><Relationship Type="http://schemas.openxmlformats.org/officeDocument/2006/relationships/notesSlide" Target="/ppt/notesSlides/notesSlide8.xml" Id="R7b5bed8350b348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66bc20cae064559" /><Relationship Type="http://schemas.openxmlformats.org/officeDocument/2006/relationships/notesSlide" Target="/ppt/notesSlides/notesSlide9.xml" Id="R17068d3c98c44c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a7360ffda0a4521" /><Relationship Type="http://schemas.openxmlformats.org/officeDocument/2006/relationships/notesSlide" Target="/ppt/notesSlides/notesSlide10.xml" Id="R2c02f87a0ec344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9718218434b4ec3" /><Relationship Type="http://schemas.openxmlformats.org/officeDocument/2006/relationships/notesSlide" Target="/ppt/notesSlides/notesSlide11.xml" Id="R0d96845e220a42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0bb9e7ace3d4948" /><Relationship Type="http://schemas.openxmlformats.org/officeDocument/2006/relationships/notesSlide" Target="/ppt/notesSlides/notesSlide12.xml" Id="R7bf1ca48110e40c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bc4fbeac416423a" /><Relationship Type="http://schemas.openxmlformats.org/officeDocument/2006/relationships/notesSlide" Target="/ppt/notesSlides/notesSlide13.xml" Id="R2a6561fbe877450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8e54deee70b465a" /><Relationship Type="http://schemas.openxmlformats.org/officeDocument/2006/relationships/notesSlide" Target="/ppt/notesSlides/notesSlide14.xml" Id="R5f3eaac52b274ff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bbbb55c913740ae" /><Relationship Type="http://schemas.openxmlformats.org/officeDocument/2006/relationships/notesSlide" Target="/ppt/notesSlides/notesSlide15.xml" Id="R177ac6dbf8934d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5fe63c2df0a4ae9" /><Relationship Type="http://schemas.openxmlformats.org/officeDocument/2006/relationships/notesSlide" Target="/ppt/notesSlides/notesSlide16.xml" Id="R90868b9da3b447e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dce0980610443cb" /><Relationship Type="http://schemas.openxmlformats.org/officeDocument/2006/relationships/notesSlide" Target="/ppt/notesSlides/notesSlide17.xml" Id="Rac754a51939e4f3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c83171f101d452f" /><Relationship Type="http://schemas.openxmlformats.org/officeDocument/2006/relationships/notesSlide" Target="/ppt/notesSlides/notesSlide18.xml" Id="Re8beef4f54824a1e" /></Relationships>
</file>

<file path=ppt/slides/slide1.xml><?xml version="1.0" encoding="utf-8"?>
<p:sld xmlns:p="http://schemas.openxmlformats.org/presentationml/2006/main">
  <p:cSld>
    <p:bg>
      <p:bgPr>
        <a:solidFill xmlns:a="http://schemas.openxmlformats.org/drawingml/2006/main">
          <a:srgbClr val="16352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50319D-5D9F-4469-AEC8-C35ECED73606}"/>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GoviLink</a:t>
            </a:r>
          </a:p>
        </p:txBody>
      </p:sp>
      <p:sp>
        <p:nvSpPr>
          <p:cNvPr id="2" name="">
            <a:extLst xmlns:a="http://schemas.openxmlformats.org/drawingml/2006/main">
              <a:ext uri="{FF2B5EF4-FFF2-40B4-BE49-F238E27FC236}">
                <a16:creationId xmlns:a16="http://schemas.microsoft.com/office/drawing/2014/main" id="{C84F304E-AF96-44D8-BE7C-FE9A97CEEE8F}"/>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8D4C6"/>
                </a:solidFill>
                <a:latin typeface="Arial"/>
                <a:ea typeface="Arial"/>
                <a:cs typeface="Arial"/>
              </a:defRPr>
            </a:defPPr>
          </a:lstStyle>
          <a:p xmlns:a="http://schemas.openxmlformats.org/drawingml/2006/main">
            <a:pPr>
              <a:defRPr sz="1125" b="0">
                <a:solidFill>
                  <a:srgbClr val="B8D4C6"/>
                </a:solidFill>
                <a:latin typeface="Arial"/>
                <a:ea typeface="Arial"/>
                <a:cs typeface="Arial"/>
              </a:defRPr>
            </a:pPr>
            <a:r>
              <a:rPr sz="1125" b="0">
                <a:solidFill>
                  <a:srgbClr val="B8D4C6"/>
                </a:solidFill>
                <a:latin typeface="Arial"/>
                <a:ea typeface="Arial"/>
                <a:cs typeface="Arial"/>
              </a:rPr>
              <a:t>GoviLink   /   1</a:t>
            </a:r>
          </a:p>
        </p:txBody>
      </p:sp>
      <p:sp>
        <p:nvSpPr>
          <p:cNvPr id="3" name="">
            <a:extLst xmlns:a="http://schemas.openxmlformats.org/drawingml/2006/main">
              <a:ext uri="{FF2B5EF4-FFF2-40B4-BE49-F238E27FC236}">
                <a16:creationId xmlns:a16="http://schemas.microsoft.com/office/drawing/2014/main" id="{CAC7DC30-0DC5-44BE-8E11-6263869606F7}"/>
              </a:ext>
            </a:extLst>
          </p:cNvPr>
          <p:cNvSpPr>
            <a:spLocks xmlns:a="http://schemas.openxmlformats.org/drawingml/2006/main" noGrp="1"/>
          </p:cNvSpPr>
          <p:nvPr/>
        </p:nvSpPr>
        <p:spPr>
          <a:xfrm xmlns:a="http://schemas.openxmlformats.org/drawingml/2006/main">
            <a:off x="609600" y="2000250"/>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FFFFFF"/>
                </a:solidFill>
                <a:latin typeface="Arial"/>
                <a:ea typeface="Arial"/>
                <a:cs typeface="Arial"/>
              </a:defRPr>
            </a:defPPr>
          </a:lstStyle>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Farmers, buyers and</a:t>
            </a:r>
          </a:p>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drivers connected</a:t>
            </a:r>
          </a:p>
        </p:txBody>
      </p:sp>
      <p:sp>
        <p:nvSpPr>
          <p:cNvPr id="4" name="">
            <a:extLst xmlns:a="http://schemas.openxmlformats.org/drawingml/2006/main">
              <a:ext uri="{FF2B5EF4-FFF2-40B4-BE49-F238E27FC236}">
                <a16:creationId xmlns:a16="http://schemas.microsoft.com/office/drawing/2014/main" id="{36CE1EF9-8171-43F3-AA7B-C4E0EAF7597E}"/>
              </a:ext>
            </a:extLst>
          </p:cNvPr>
          <p:cNvSpPr>
            <a:spLocks xmlns:a="http://schemas.openxmlformats.org/drawingml/2006/main" noGrp="1"/>
          </p:cNvSpPr>
          <p:nvPr/>
        </p:nvSpPr>
        <p:spPr>
          <a:xfrm xmlns:a="http://schemas.openxmlformats.org/drawingml/2006/main">
            <a:off x="609600" y="4524375"/>
            <a:ext cx="681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DD6C8"/>
                </a:solidFill>
                <a:latin typeface="Arial"/>
                <a:ea typeface="Arial"/>
                <a:cs typeface="Arial"/>
              </a:defRPr>
            </a:defPPr>
          </a:lstStyle>
          <a:p xmlns:a="http://schemas.openxmlformats.org/drawingml/2006/main">
            <a:pPr>
              <a:defRPr sz="1800" b="0">
                <a:solidFill>
                  <a:srgbClr val="BDD6C8"/>
                </a:solidFill>
                <a:latin typeface="Arial"/>
                <a:ea typeface="Arial"/>
                <a:cs typeface="Arial"/>
              </a:defRPr>
            </a:pPr>
            <a:r>
              <a:rPr sz="1800" b="0">
                <a:solidFill>
                  <a:srgbClr val="BDD6C8"/>
                </a:solidFill>
                <a:latin typeface="Arial"/>
                <a:ea typeface="Arial"/>
                <a:cs typeface="Arial"/>
              </a:rPr>
              <a:t>Business pitch · SE3050</a:t>
            </a:r>
          </a:p>
          <a:p xmlns:a="http://schemas.openxmlformats.org/drawingml/2006/main">
            <a:pPr>
              <a:defRPr sz="1800" b="0">
                <a:solidFill>
                  <a:srgbClr val="BDD6C8"/>
                </a:solidFill>
                <a:latin typeface="Arial"/>
                <a:ea typeface="Arial"/>
                <a:cs typeface="Arial"/>
              </a:defRPr>
            </a:pPr>
            <a:r>
              <a:rPr sz="1800" b="0">
                <a:solidFill>
                  <a:srgbClr val="BDD6C8"/>
                </a:solidFill>
                <a:latin typeface="Arial"/>
                <a:ea typeface="Arial"/>
                <a:cs typeface="Arial"/>
              </a:rPr>
              <a:t>User Experience Engineering · Semester 2, 2026</a:t>
            </a:r>
          </a:p>
        </p:txBody>
      </p:sp>
      <p:sp>
        <p:nvSpPr>
          <p:cNvPr id="5" name="">
            <a:extLst xmlns:a="http://schemas.openxmlformats.org/drawingml/2006/main">
              <a:ext uri="{FF2B5EF4-FFF2-40B4-BE49-F238E27FC236}">
                <a16:creationId xmlns:a16="http://schemas.microsoft.com/office/drawing/2014/main" id="{7526C8A9-97C9-47DB-B69B-BC34E3BA96A9}"/>
              </a:ext>
            </a:extLst>
          </p:cNvPr>
          <p:cNvSpPr>
            <a:spLocks xmlns:a="http://schemas.openxmlformats.org/drawingml/2006/main" noGrp="1"/>
          </p:cNvSpPr>
          <p:nvPr/>
        </p:nvSpPr>
        <p:spPr>
          <a:xfrm xmlns:a="http://schemas.openxmlformats.org/drawingml/2006/main">
            <a:off x="609600" y="575310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DD6C8"/>
                </a:solidFill>
                <a:latin typeface="Arial"/>
                <a:ea typeface="Arial"/>
                <a:cs typeface="Arial"/>
              </a:defRPr>
            </a:defPPr>
          </a:lstStyle>
          <a:p xmlns:a="http://schemas.openxmlformats.org/drawingml/2006/main">
            <a:pPr>
              <a:defRPr sz="1350" b="0">
                <a:solidFill>
                  <a:srgbClr val="BDD6C8"/>
                </a:solidFill>
                <a:latin typeface="Arial"/>
                <a:ea typeface="Arial"/>
                <a:cs typeface="Arial"/>
              </a:defRPr>
            </a:pPr>
            <a:r>
              <a:rPr sz="1350" b="0">
                <a:solidFill>
                  <a:srgbClr val="BDD6C8"/>
                </a:solidFill>
                <a:latin typeface="Arial"/>
                <a:ea typeface="Arial"/>
                <a:cs typeface="Arial"/>
              </a:rPr>
              <a:t>Student names and IDs: add before submission</a:t>
            </a:r>
          </a:p>
        </p:txBody>
      </p:sp>
      <p:pic>
        <p:nvPicPr>
          <p:cNvPr id="6" name="">
            <a:extLst xmlns:a="http://schemas.openxmlformats.org/drawingml/2006/main">
              <a:ext uri="{FF2B5EF4-FFF2-40B4-BE49-F238E27FC236}">
                <a16:creationId xmlns:a16="http://schemas.microsoft.com/office/drawing/2014/main" id="{506AA447-C342-486C-9868-9F750DE78872}"/>
              </a:ext>
            </a:extLst>
          </p:cNvPr>
          <p:cNvPicPr>
            <a:picLocks xmlns:a="http://schemas.openxmlformats.org/drawingml/2006/main" noChangeAspect="1"/>
          </p:cNvPicPr>
          <p:nvPr/>
        </p:nvPicPr>
        <p:blipFill>
          <a:blip xmlns:r="http://schemas.openxmlformats.org/officeDocument/2006/relationships" xmlns:a="http://schemas.openxmlformats.org/drawingml/2006/main" r:embed="Rbc8f42d32faa4b87"/>
          <a:stretch xmlns:a="http://schemas.openxmlformats.org/drawingml/2006/main"/>
        </p:blipFill>
        <p:spPr>
          <a:xfrm xmlns:a="http://schemas.openxmlformats.org/drawingml/2006/main">
            <a:off x="8705850" y="630238"/>
            <a:ext cx="2476500" cy="5359400"/>
          </a:xfrm>
          <a:prstGeom xmlns:a="http://schemas.openxmlformats.org/drawingml/2006/main" prst="rect">
            <a:avLst/>
          </a:prstGeom>
        </p:spPr>
      </p:pic>
    </p:spTree>
    <p:extLst>
      <p:ext uri="{BB962C8B-B14F-4D97-AF65-F5344CB8AC3E}">
        <p14:creationId xmlns:p14="http://schemas.microsoft.com/office/powerpoint/2010/main" val="1276581762"/>
      </p:ext>
    </p:extLst>
  </p:cSld>
</p:sld>
</file>

<file path=ppt/slides/slide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84F611C-85E0-4326-A45D-0EA391DAB624}"/>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Three roles, one coordination problem</a:t>
            </a:r>
          </a:p>
        </p:txBody>
      </p:sp>
      <p:sp>
        <p:nvSpPr>
          <p:cNvPr id="2" name="">
            <a:extLst xmlns:a="http://schemas.openxmlformats.org/drawingml/2006/main">
              <a:ext uri="{FF2B5EF4-FFF2-40B4-BE49-F238E27FC236}">
                <a16:creationId xmlns:a16="http://schemas.microsoft.com/office/drawing/2014/main" id="{75EA5909-66AA-47D6-9402-679FA2975C4C}"/>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2</a:t>
            </a:r>
          </a:p>
        </p:txBody>
      </p:sp>
      <p:sp>
        <p:nvSpPr>
          <p:cNvPr id="3" name="">
            <a:extLst xmlns:a="http://schemas.openxmlformats.org/drawingml/2006/main">
              <a:ext uri="{FF2B5EF4-FFF2-40B4-BE49-F238E27FC236}">
                <a16:creationId xmlns:a16="http://schemas.microsoft.com/office/drawing/2014/main" id="{E2EE4EF8-F741-410F-90FB-5453EEDAFD6B}"/>
              </a:ext>
            </a:extLst>
          </p:cNvPr>
          <p:cNvSpPr>
            <a:spLocks xmlns:a="http://schemas.openxmlformats.org/drawingml/2006/main" noGrp="1"/>
          </p:cNvSpPr>
          <p:nvPr/>
        </p:nvSpPr>
        <p:spPr>
          <a:xfrm xmlns:a="http://schemas.openxmlformats.org/drawingml/2006/main">
            <a:off x="609600" y="17145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Farmer</a:t>
            </a:r>
          </a:p>
        </p:txBody>
      </p:sp>
      <p:sp>
        <p:nvSpPr>
          <p:cNvPr id="4" name="">
            <a:extLst xmlns:a="http://schemas.openxmlformats.org/drawingml/2006/main">
              <a:ext uri="{FF2B5EF4-FFF2-40B4-BE49-F238E27FC236}">
                <a16:creationId xmlns:a16="http://schemas.microsoft.com/office/drawing/2014/main" id="{E3319B09-E1FB-4506-AB23-C0F206BA6F6E}"/>
              </a:ext>
            </a:extLst>
          </p:cNvPr>
          <p:cNvSpPr>
            <a:spLocks xmlns:a="http://schemas.openxmlformats.org/drawingml/2006/main" noGrp="1"/>
          </p:cNvSpPr>
          <p:nvPr/>
        </p:nvSpPr>
        <p:spPr>
          <a:xfrm xmlns:a="http://schemas.openxmlformats.org/drawingml/2006/main">
            <a:off x="609600" y="22383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Finding demand and confirming harvest quantity, price and pickup timing.</a:t>
            </a:r>
          </a:p>
        </p:txBody>
      </p:sp>
      <p:sp>
        <p:nvSpPr>
          <p:cNvPr id="5" name="">
            <a:extLst xmlns:a="http://schemas.openxmlformats.org/drawingml/2006/main">
              <a:ext uri="{FF2B5EF4-FFF2-40B4-BE49-F238E27FC236}">
                <a16:creationId xmlns:a16="http://schemas.microsoft.com/office/drawing/2014/main" id="{0D9614D1-7674-4279-8DEC-21DD4C5399BE}"/>
              </a:ext>
            </a:extLst>
          </p:cNvPr>
          <p:cNvSpPr>
            <a:spLocks xmlns:a="http://schemas.openxmlformats.org/drawingml/2006/main" noGrp="1"/>
          </p:cNvSpPr>
          <p:nvPr/>
        </p:nvSpPr>
        <p:spPr>
          <a:xfrm xmlns:a="http://schemas.openxmlformats.org/drawingml/2006/main">
            <a:off x="4429125" y="17145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Buyer</a:t>
            </a:r>
          </a:p>
        </p:txBody>
      </p:sp>
      <p:sp>
        <p:nvSpPr>
          <p:cNvPr id="6" name="">
            <a:extLst xmlns:a="http://schemas.openxmlformats.org/drawingml/2006/main">
              <a:ext uri="{FF2B5EF4-FFF2-40B4-BE49-F238E27FC236}">
                <a16:creationId xmlns:a16="http://schemas.microsoft.com/office/drawing/2014/main" id="{A214E143-4BC7-4B20-A997-18A57A20F495}"/>
              </a:ext>
            </a:extLst>
          </p:cNvPr>
          <p:cNvSpPr>
            <a:spLocks xmlns:a="http://schemas.openxmlformats.org/drawingml/2006/main" noGrp="1"/>
          </p:cNvSpPr>
          <p:nvPr/>
        </p:nvSpPr>
        <p:spPr>
          <a:xfrm xmlns:a="http://schemas.openxmlformats.org/drawingml/2006/main">
            <a:off x="4429125" y="22383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Finding suitable supply and understanding when the order will arrive.</a:t>
            </a:r>
          </a:p>
        </p:txBody>
      </p:sp>
      <p:sp>
        <p:nvSpPr>
          <p:cNvPr id="7" name="">
            <a:extLst xmlns:a="http://schemas.openxmlformats.org/drawingml/2006/main">
              <a:ext uri="{FF2B5EF4-FFF2-40B4-BE49-F238E27FC236}">
                <a16:creationId xmlns:a16="http://schemas.microsoft.com/office/drawing/2014/main" id="{563B97A8-13C4-48B3-9819-551F4D6118F2}"/>
              </a:ext>
            </a:extLst>
          </p:cNvPr>
          <p:cNvSpPr>
            <a:spLocks xmlns:a="http://schemas.openxmlformats.org/drawingml/2006/main" noGrp="1"/>
          </p:cNvSpPr>
          <p:nvPr/>
        </p:nvSpPr>
        <p:spPr>
          <a:xfrm xmlns:a="http://schemas.openxmlformats.org/drawingml/2006/main">
            <a:off x="8248650" y="17145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Driver</a:t>
            </a:r>
          </a:p>
        </p:txBody>
      </p:sp>
      <p:sp>
        <p:nvSpPr>
          <p:cNvPr id="8" name="">
            <a:extLst xmlns:a="http://schemas.openxmlformats.org/drawingml/2006/main">
              <a:ext uri="{FF2B5EF4-FFF2-40B4-BE49-F238E27FC236}">
                <a16:creationId xmlns:a16="http://schemas.microsoft.com/office/drawing/2014/main" id="{96155C85-28CF-49AF-8481-A7FA23E186EC}"/>
              </a:ext>
            </a:extLst>
          </p:cNvPr>
          <p:cNvSpPr>
            <a:spLocks xmlns:a="http://schemas.openxmlformats.org/drawingml/2006/main" noGrp="1"/>
          </p:cNvSpPr>
          <p:nvPr/>
        </p:nvSpPr>
        <p:spPr>
          <a:xfrm xmlns:a="http://schemas.openxmlformats.org/drawingml/2006/main">
            <a:off x="8248650" y="22383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Coordinating pickup and destination details while reporting delivery progress.</a:t>
            </a:r>
          </a:p>
        </p:txBody>
      </p:sp>
      <p:sp>
        <p:nvSpPr>
          <p:cNvPr id="9" name="">
            <a:extLst xmlns:a="http://schemas.openxmlformats.org/drawingml/2006/main">
              <a:ext uri="{FF2B5EF4-FFF2-40B4-BE49-F238E27FC236}">
                <a16:creationId xmlns:a16="http://schemas.microsoft.com/office/drawing/2014/main" id="{67CFA066-30AC-48EE-94A2-039E1EB094FE}"/>
              </a:ext>
            </a:extLst>
          </p:cNvPr>
          <p:cNvSpPr>
            <a:spLocks xmlns:a="http://schemas.openxmlformats.org/drawingml/2006/main" noGrp="1"/>
          </p:cNvSpPr>
          <p:nvPr/>
        </p:nvSpPr>
        <p:spPr>
          <a:xfrm xmlns:a="http://schemas.openxmlformats.org/drawingml/2006/main">
            <a:off x="609600" y="42862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7458"/>
                </a:solidFill>
                <a:latin typeface="Arial"/>
                <a:ea typeface="Arial"/>
                <a:cs typeface="Arial"/>
              </a:defRPr>
            </a:defPPr>
          </a:lstStyle>
          <a:p xmlns:a="http://schemas.openxmlformats.org/drawingml/2006/main">
            <a:pPr>
              <a:defRPr sz="2250" b="1">
                <a:solidFill>
                  <a:srgbClr val="167458"/>
                </a:solidFill>
                <a:latin typeface="Arial"/>
                <a:ea typeface="Arial"/>
                <a:cs typeface="Arial"/>
              </a:defRPr>
            </a:pPr>
            <a:r>
              <a:rPr sz="2250" b="1">
                <a:solidFill>
                  <a:srgbClr val="167458"/>
                </a:solidFill>
                <a:latin typeface="Arial"/>
                <a:ea typeface="Arial"/>
                <a:cs typeface="Arial"/>
              </a:rPr>
              <a:t>The gap we will test</a:t>
            </a:r>
          </a:p>
        </p:txBody>
      </p:sp>
      <p:sp>
        <p:nvSpPr>
          <p:cNvPr id="10" name="">
            <a:extLst xmlns:a="http://schemas.openxmlformats.org/drawingml/2006/main">
              <a:ext uri="{FF2B5EF4-FFF2-40B4-BE49-F238E27FC236}">
                <a16:creationId xmlns:a16="http://schemas.microsoft.com/office/drawing/2014/main" id="{02DB97DB-45F3-46D1-94FC-970E65E9BC0D}"/>
              </a:ext>
            </a:extLst>
          </p:cNvPr>
          <p:cNvSpPr>
            <a:spLocks xmlns:a="http://schemas.openxmlformats.org/drawingml/2006/main" noGrp="1"/>
          </p:cNvSpPr>
          <p:nvPr/>
        </p:nvSpPr>
        <p:spPr>
          <a:xfrm xmlns:a="http://schemas.openxmlformats.org/drawingml/2006/main">
            <a:off x="609600" y="4857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16352D"/>
                </a:solidFill>
                <a:latin typeface="Arial"/>
                <a:ea typeface="Arial"/>
                <a:cs typeface="Arial"/>
              </a:defRPr>
            </a:defPPr>
          </a:lstStyle>
          <a:p xmlns:a="http://schemas.openxmlformats.org/drawingml/2006/main">
            <a:pPr>
              <a:defRPr sz="2625" b="0">
                <a:solidFill>
                  <a:srgbClr val="16352D"/>
                </a:solidFill>
                <a:latin typeface="Arial"/>
                <a:ea typeface="Arial"/>
                <a:cs typeface="Arial"/>
              </a:defRPr>
            </a:pPr>
            <a:r>
              <a:rPr sz="2625" b="0">
                <a:solidFill>
                  <a:srgbClr val="16352D"/>
                </a:solidFill>
                <a:latin typeface="Arial"/>
                <a:ea typeface="Arial"/>
                <a:cs typeface="Arial"/>
              </a:rPr>
              <a:t>Can connected order information reduce repeated coordination for all three roles?</a:t>
            </a:r>
          </a:p>
        </p:txBody>
      </p:sp>
      <p:sp>
        <p:nvSpPr>
          <p:cNvPr id="11" name="">
            <a:extLst xmlns:a="http://schemas.openxmlformats.org/drawingml/2006/main">
              <a:ext uri="{FF2B5EF4-FFF2-40B4-BE49-F238E27FC236}">
                <a16:creationId xmlns:a16="http://schemas.microsoft.com/office/drawing/2014/main" id="{46C2F9A5-948B-44B9-BFBE-59571E636E1F}"/>
              </a:ext>
            </a:extLst>
          </p:cNvPr>
          <p:cNvSpPr>
            <a:spLocks xmlns:a="http://schemas.openxmlformats.org/drawingml/2006/main" noGrp="1"/>
          </p:cNvSpPr>
          <p:nvPr/>
        </p:nvSpPr>
        <p:spPr>
          <a:xfrm xmlns:a="http://schemas.openxmlformats.org/drawingml/2006/main">
            <a:off x="609600" y="6076950"/>
            <a:ext cx="1095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56A"/>
                </a:solidFill>
                <a:latin typeface="Arial"/>
                <a:ea typeface="Arial"/>
                <a:cs typeface="Arial"/>
              </a:defRPr>
            </a:defPPr>
          </a:lstStyle>
          <a:p xmlns:a="http://schemas.openxmlformats.org/drawingml/2006/main">
            <a:pPr>
              <a:defRPr sz="1275" b="0">
                <a:solidFill>
                  <a:srgbClr val="62756A"/>
                </a:solidFill>
                <a:latin typeface="Arial"/>
                <a:ea typeface="Arial"/>
                <a:cs typeface="Arial"/>
              </a:defRPr>
            </a:pPr>
            <a:r>
              <a:rPr sz="1275" b="0">
                <a:solidFill>
                  <a:srgbClr val="62756A"/>
                </a:solidFill>
                <a:latin typeface="Arial"/>
                <a:ea typeface="Arial"/>
                <a:cs typeface="Arial"/>
              </a:rPr>
              <a:t>FAO provides supply-chain context. Role-specific pain points require customer interviews.</a:t>
            </a:r>
          </a:p>
        </p:txBody>
      </p:sp>
    </p:spTree>
    <p:extLst>
      <p:ext uri="{BB962C8B-B14F-4D97-AF65-F5344CB8AC3E}">
        <p14:creationId xmlns:p14="http://schemas.microsoft.com/office/powerpoint/2010/main" val="1391901168"/>
      </p:ext>
    </p:extLst>
  </p:cSld>
</p:sld>
</file>

<file path=ppt/slides/slide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D472196-CF5A-440D-BE46-DE63759EF535}"/>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Market context in Sri Lanka</a:t>
            </a:r>
          </a:p>
        </p:txBody>
      </p:sp>
      <p:sp>
        <p:nvSpPr>
          <p:cNvPr id="2" name="">
            <a:extLst xmlns:a="http://schemas.openxmlformats.org/drawingml/2006/main">
              <a:ext uri="{FF2B5EF4-FFF2-40B4-BE49-F238E27FC236}">
                <a16:creationId xmlns:a16="http://schemas.microsoft.com/office/drawing/2014/main" id="{BC9FCA82-43FE-46D3-9721-778F01B5548A}"/>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3</a:t>
            </a:r>
          </a:p>
        </p:txBody>
      </p:sp>
      <p:sp>
        <p:nvSpPr>
          <p:cNvPr id="3" name="">
            <a:extLst xmlns:a="http://schemas.openxmlformats.org/drawingml/2006/main">
              <a:ext uri="{FF2B5EF4-FFF2-40B4-BE49-F238E27FC236}">
                <a16:creationId xmlns:a16="http://schemas.microsoft.com/office/drawing/2014/main" id="{7BD1501E-8A22-4DDF-91B4-AE95ADF8C818}"/>
              </a:ext>
            </a:extLst>
          </p:cNvPr>
          <p:cNvSpPr>
            <a:spLocks xmlns:a="http://schemas.openxmlformats.org/drawingml/2006/main" noGrp="1"/>
          </p:cNvSpPr>
          <p:nvPr/>
        </p:nvSpPr>
        <p:spPr>
          <a:xfrm xmlns:a="http://schemas.openxmlformats.org/drawingml/2006/main">
            <a:off x="609600" y="17335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167458"/>
                </a:solidFill>
                <a:latin typeface="Arial"/>
                <a:ea typeface="Arial"/>
                <a:cs typeface="Arial"/>
              </a:defRPr>
            </a:defPPr>
          </a:lstStyle>
          <a:p xmlns:a="http://schemas.openxmlformats.org/drawingml/2006/main">
            <a:pPr>
              <a:defRPr sz="5700" b="1">
                <a:solidFill>
                  <a:srgbClr val="167458"/>
                </a:solidFill>
                <a:latin typeface="Arial"/>
                <a:ea typeface="Arial"/>
                <a:cs typeface="Arial"/>
              </a:defRPr>
            </a:pPr>
            <a:r>
              <a:rPr sz="5700" b="1">
                <a:solidFill>
                  <a:srgbClr val="167458"/>
                </a:solidFill>
                <a:latin typeface="Arial"/>
                <a:ea typeface="Arial"/>
                <a:cs typeface="Arial"/>
              </a:rPr>
              <a:t>2.10 million</a:t>
            </a:r>
          </a:p>
        </p:txBody>
      </p:sp>
      <p:sp>
        <p:nvSpPr>
          <p:cNvPr id="4" name="">
            <a:extLst xmlns:a="http://schemas.openxmlformats.org/drawingml/2006/main">
              <a:ext uri="{FF2B5EF4-FFF2-40B4-BE49-F238E27FC236}">
                <a16:creationId xmlns:a16="http://schemas.microsoft.com/office/drawing/2014/main" id="{ACB41291-90AC-427C-B1C7-2F74A7AF7BDF}"/>
              </a:ext>
            </a:extLst>
          </p:cNvPr>
          <p:cNvSpPr>
            <a:spLocks xmlns:a="http://schemas.openxmlformats.org/drawingml/2006/main" noGrp="1"/>
          </p:cNvSpPr>
          <p:nvPr/>
        </p:nvSpPr>
        <p:spPr>
          <a:xfrm xmlns:a="http://schemas.openxmlformats.org/drawingml/2006/main">
            <a:off x="609600" y="2914650"/>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352D"/>
                </a:solidFill>
                <a:latin typeface="Arial"/>
                <a:ea typeface="Arial"/>
                <a:cs typeface="Arial"/>
              </a:defRPr>
            </a:defPPr>
          </a:lstStyle>
          <a:p xmlns:a="http://schemas.openxmlformats.org/drawingml/2006/main">
            <a:pPr>
              <a:defRPr sz="2175" b="0">
                <a:solidFill>
                  <a:srgbClr val="16352D"/>
                </a:solidFill>
                <a:latin typeface="Arial"/>
                <a:ea typeface="Arial"/>
                <a:cs typeface="Arial"/>
              </a:defRPr>
            </a:pPr>
            <a:r>
              <a:rPr sz="2175" b="0">
                <a:solidFill>
                  <a:srgbClr val="16352D"/>
                </a:solidFill>
                <a:latin typeface="Arial"/>
                <a:ea typeface="Arial"/>
                <a:cs typeface="Arial"/>
              </a:rPr>
              <a:t>people employed in agriculture</a:t>
            </a:r>
          </a:p>
          <a:p xmlns:a="http://schemas.openxmlformats.org/drawingml/2006/main">
            <a:pPr>
              <a:defRPr sz="2175" b="0">
                <a:solidFill>
                  <a:srgbClr val="16352D"/>
                </a:solidFill>
                <a:latin typeface="Arial"/>
                <a:ea typeface="Arial"/>
                <a:cs typeface="Arial"/>
              </a:defRPr>
            </a:pPr>
            <a:r>
              <a:rPr sz="2175" b="0">
                <a:solidFill>
                  <a:srgbClr val="16352D"/>
                </a:solidFill>
                <a:latin typeface="Arial"/>
                <a:ea typeface="Arial"/>
                <a:cs typeface="Arial"/>
              </a:rPr>
              <a:t>25.7% of employment, Q2 2025</a:t>
            </a:r>
          </a:p>
        </p:txBody>
      </p:sp>
      <p:sp>
        <p:nvSpPr>
          <p:cNvPr id="5" name="">
            <a:extLst xmlns:a="http://schemas.openxmlformats.org/drawingml/2006/main">
              <a:ext uri="{FF2B5EF4-FFF2-40B4-BE49-F238E27FC236}">
                <a16:creationId xmlns:a16="http://schemas.microsoft.com/office/drawing/2014/main" id="{6A0DB763-D663-4DFE-809B-727EA76807A9}"/>
              </a:ext>
            </a:extLst>
          </p:cNvPr>
          <p:cNvSpPr>
            <a:spLocks xmlns:a="http://schemas.openxmlformats.org/drawingml/2006/main" noGrp="1"/>
          </p:cNvSpPr>
          <p:nvPr/>
        </p:nvSpPr>
        <p:spPr>
          <a:xfrm xmlns:a="http://schemas.openxmlformats.org/drawingml/2006/main">
            <a:off x="7172325" y="1733550"/>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167458"/>
                </a:solidFill>
                <a:latin typeface="Arial"/>
                <a:ea typeface="Arial"/>
                <a:cs typeface="Arial"/>
              </a:defRPr>
            </a:defPPr>
          </a:lstStyle>
          <a:p xmlns:a="http://schemas.openxmlformats.org/drawingml/2006/main">
            <a:pPr>
              <a:defRPr sz="5700" b="1">
                <a:solidFill>
                  <a:srgbClr val="167458"/>
                </a:solidFill>
                <a:latin typeface="Arial"/>
                <a:ea typeface="Arial"/>
                <a:cs typeface="Arial"/>
              </a:defRPr>
            </a:pPr>
            <a:r>
              <a:rPr sz="5700" b="1">
                <a:solidFill>
                  <a:srgbClr val="167458"/>
                </a:solidFill>
                <a:latin typeface="Arial"/>
                <a:ea typeface="Arial"/>
                <a:cs typeface="Arial"/>
              </a:rPr>
              <a:t>70.8%</a:t>
            </a:r>
          </a:p>
        </p:txBody>
      </p:sp>
      <p:sp>
        <p:nvSpPr>
          <p:cNvPr id="6" name="">
            <a:extLst xmlns:a="http://schemas.openxmlformats.org/drawingml/2006/main">
              <a:ext uri="{FF2B5EF4-FFF2-40B4-BE49-F238E27FC236}">
                <a16:creationId xmlns:a16="http://schemas.microsoft.com/office/drawing/2014/main" id="{EFBB625F-E18A-4243-A4C9-ED5E98C8CBAD}"/>
              </a:ext>
            </a:extLst>
          </p:cNvPr>
          <p:cNvSpPr>
            <a:spLocks xmlns:a="http://schemas.openxmlformats.org/drawingml/2006/main" noGrp="1"/>
          </p:cNvSpPr>
          <p:nvPr/>
        </p:nvSpPr>
        <p:spPr>
          <a:xfrm xmlns:a="http://schemas.openxmlformats.org/drawingml/2006/main">
            <a:off x="7172325" y="2914650"/>
            <a:ext cx="438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352D"/>
                </a:solidFill>
                <a:latin typeface="Arial"/>
                <a:ea typeface="Arial"/>
                <a:cs typeface="Arial"/>
              </a:defRPr>
            </a:defPPr>
          </a:lstStyle>
          <a:p xmlns:a="http://schemas.openxmlformats.org/drawingml/2006/main">
            <a:pPr>
              <a:defRPr sz="2175" b="0">
                <a:solidFill>
                  <a:srgbClr val="16352D"/>
                </a:solidFill>
                <a:latin typeface="Arial"/>
                <a:ea typeface="Arial"/>
                <a:cs typeface="Arial"/>
              </a:defRPr>
            </a:pPr>
            <a:r>
              <a:rPr sz="2175" b="0">
                <a:solidFill>
                  <a:srgbClr val="16352D"/>
                </a:solidFill>
                <a:latin typeface="Arial"/>
                <a:ea typeface="Arial"/>
                <a:cs typeface="Arial"/>
              </a:rPr>
              <a:t>digital literacy, ages 5–69</a:t>
            </a:r>
          </a:p>
          <a:p xmlns:a="http://schemas.openxmlformats.org/drawingml/2006/main">
            <a:pPr>
              <a:defRPr sz="2175" b="0">
                <a:solidFill>
                  <a:srgbClr val="16352D"/>
                </a:solidFill>
                <a:latin typeface="Arial"/>
                <a:ea typeface="Arial"/>
                <a:cs typeface="Arial"/>
              </a:defRPr>
            </a:pPr>
            <a:r>
              <a:rPr sz="2175" b="0">
                <a:solidFill>
                  <a:srgbClr val="16352D"/>
                </a:solidFill>
                <a:latin typeface="Arial"/>
                <a:ea typeface="Arial"/>
                <a:cs typeface="Arial"/>
              </a:rPr>
              <a:t>January–June 2025</a:t>
            </a:r>
          </a:p>
        </p:txBody>
      </p:sp>
      <p:sp>
        <p:nvSpPr>
          <p:cNvPr id="7" name="">
            <a:extLst xmlns:a="http://schemas.openxmlformats.org/drawingml/2006/main">
              <a:ext uri="{FF2B5EF4-FFF2-40B4-BE49-F238E27FC236}">
                <a16:creationId xmlns:a16="http://schemas.microsoft.com/office/drawing/2014/main" id="{02828FFE-0716-4534-BFFA-EC05EED0181E}"/>
              </a:ext>
            </a:extLst>
          </p:cNvPr>
          <p:cNvSpPr>
            <a:spLocks xmlns:a="http://schemas.openxmlformats.org/drawingml/2006/main" noGrp="1"/>
          </p:cNvSpPr>
          <p:nvPr/>
        </p:nvSpPr>
        <p:spPr>
          <a:xfrm xmlns:a="http://schemas.openxmlformats.org/drawingml/2006/main">
            <a:off x="609600" y="4419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7458"/>
                </a:solidFill>
                <a:latin typeface="Arial"/>
                <a:ea typeface="Arial"/>
                <a:cs typeface="Arial"/>
              </a:defRPr>
            </a:defPPr>
          </a:lstStyle>
          <a:p xmlns:a="http://schemas.openxmlformats.org/drawingml/2006/main">
            <a:pPr>
              <a:defRPr sz="2250" b="1">
                <a:solidFill>
                  <a:srgbClr val="167458"/>
                </a:solidFill>
                <a:latin typeface="Arial"/>
                <a:ea typeface="Arial"/>
                <a:cs typeface="Arial"/>
              </a:defRPr>
            </a:pPr>
            <a:r>
              <a:rPr sz="2250" b="1">
                <a:solidFill>
                  <a:srgbClr val="167458"/>
                </a:solidFill>
                <a:latin typeface="Arial"/>
                <a:ea typeface="Arial"/>
                <a:cs typeface="Arial"/>
              </a:rPr>
              <a:t>A focused first market</a:t>
            </a:r>
          </a:p>
        </p:txBody>
      </p:sp>
      <p:sp>
        <p:nvSpPr>
          <p:cNvPr id="8" name="">
            <a:extLst xmlns:a="http://schemas.openxmlformats.org/drawingml/2006/main">
              <a:ext uri="{FF2B5EF4-FFF2-40B4-BE49-F238E27FC236}">
                <a16:creationId xmlns:a16="http://schemas.microsoft.com/office/drawing/2014/main" id="{9EA9D6A9-15CE-44E4-8219-0B5C20FABCF0}"/>
              </a:ext>
            </a:extLst>
          </p:cNvPr>
          <p:cNvSpPr>
            <a:spLocks xmlns:a="http://schemas.openxmlformats.org/drawingml/2006/main" noGrp="1"/>
          </p:cNvSpPr>
          <p:nvPr/>
        </p:nvSpPr>
        <p:spPr>
          <a:xfrm xmlns:a="http://schemas.openxmlformats.org/drawingml/2006/main">
            <a:off x="609600" y="4981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6352D"/>
                </a:solidFill>
                <a:latin typeface="Arial"/>
                <a:ea typeface="Arial"/>
                <a:cs typeface="Arial"/>
              </a:defRPr>
            </a:defPPr>
          </a:lstStyle>
          <a:p xmlns:a="http://schemas.openxmlformats.org/drawingml/2006/main">
            <a:pPr>
              <a:defRPr sz="2400" b="0">
                <a:solidFill>
                  <a:srgbClr val="16352D"/>
                </a:solidFill>
                <a:latin typeface="Arial"/>
                <a:ea typeface="Arial"/>
                <a:cs typeface="Arial"/>
              </a:defRPr>
            </a:pPr>
            <a:r>
              <a:rPr sz="2400" b="0">
                <a:solidFill>
                  <a:srgbClr val="16352D"/>
                </a:solidFill>
                <a:latin typeface="Arial"/>
                <a:ea typeface="Arial"/>
                <a:cs typeface="Arial"/>
              </a:rPr>
              <a:t>Vegetable growers in Nuwara Eliya and recurring produce buyers on one reachable delivery route.</a:t>
            </a:r>
          </a:p>
        </p:txBody>
      </p:sp>
      <p:sp>
        <p:nvSpPr>
          <p:cNvPr id="9" name="">
            <a:extLst xmlns:a="http://schemas.openxmlformats.org/drawingml/2006/main">
              <a:ext uri="{FF2B5EF4-FFF2-40B4-BE49-F238E27FC236}">
                <a16:creationId xmlns:a16="http://schemas.microsoft.com/office/drawing/2014/main" id="{1846DDBF-631F-42B9-9F3A-B98B8ADC443F}"/>
              </a:ext>
            </a:extLst>
          </p:cNvPr>
          <p:cNvSpPr>
            <a:spLocks xmlns:a="http://schemas.openxmlformats.org/drawingml/2006/main" noGrp="1"/>
          </p:cNvSpPr>
          <p:nvPr/>
        </p:nvSpPr>
        <p:spPr>
          <a:xfrm xmlns:a="http://schemas.openxmlformats.org/drawingml/2006/main">
            <a:off x="609600" y="6029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56A"/>
                </a:solidFill>
                <a:latin typeface="Arial"/>
                <a:ea typeface="Arial"/>
                <a:cs typeface="Arial"/>
              </a:defRPr>
            </a:defPPr>
          </a:lstStyle>
          <a:p xmlns:a="http://schemas.openxmlformats.org/drawingml/2006/main">
            <a:pPr>
              <a:defRPr sz="1275" b="0">
                <a:solidFill>
                  <a:srgbClr val="62756A"/>
                </a:solidFill>
                <a:latin typeface="Arial"/>
                <a:ea typeface="Arial"/>
                <a:cs typeface="Arial"/>
              </a:defRPr>
            </a:pPr>
            <a:r>
              <a:rPr sz="1275" b="0">
                <a:solidFill>
                  <a:srgbClr val="62756A"/>
                </a:solidFill>
                <a:latin typeface="Arial"/>
                <a:ea typeface="Arial"/>
                <a:cs typeface="Arial"/>
              </a:rPr>
              <a:t>DCS 2025 releases. Broad context, not a validated market-size estimate.</a:t>
            </a:r>
          </a:p>
        </p:txBody>
      </p:sp>
    </p:spTree>
    <p:extLst>
      <p:ext uri="{BB962C8B-B14F-4D97-AF65-F5344CB8AC3E}">
        <p14:creationId xmlns:p14="http://schemas.microsoft.com/office/powerpoint/2010/main" val="109051185"/>
      </p:ext>
    </p:extLst>
  </p:cSld>
</p:sld>
</file>

<file path=ppt/slides/slide4.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915E710-9D6E-4D7C-85CC-13BFFCB344CF}"/>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Our first users</a:t>
            </a:r>
          </a:p>
        </p:txBody>
      </p:sp>
      <p:sp>
        <p:nvSpPr>
          <p:cNvPr id="2" name="">
            <a:extLst xmlns:a="http://schemas.openxmlformats.org/drawingml/2006/main">
              <a:ext uri="{FF2B5EF4-FFF2-40B4-BE49-F238E27FC236}">
                <a16:creationId xmlns:a16="http://schemas.microsoft.com/office/drawing/2014/main" id="{3C82822A-03A8-4D34-8008-FB2600B41A1D}"/>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4</a:t>
            </a:r>
          </a:p>
        </p:txBody>
      </p:sp>
      <p:sp>
        <p:nvSpPr>
          <p:cNvPr id="3" name="">
            <a:extLst xmlns:a="http://schemas.openxmlformats.org/drawingml/2006/main">
              <a:ext uri="{FF2B5EF4-FFF2-40B4-BE49-F238E27FC236}">
                <a16:creationId xmlns:a16="http://schemas.microsoft.com/office/drawing/2014/main" id="{C17E0B04-9ADE-4D6C-B836-DC722487F5AF}"/>
              </a:ext>
            </a:extLst>
          </p:cNvPr>
          <p:cNvSpPr>
            <a:spLocks xmlns:a="http://schemas.openxmlformats.org/drawingml/2006/main" noGrp="1"/>
          </p:cNvSpPr>
          <p:nvPr/>
        </p:nvSpPr>
        <p:spPr>
          <a:xfrm xmlns:a="http://schemas.openxmlformats.org/drawingml/2006/main">
            <a:off x="609600" y="1714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Farmers</a:t>
            </a:r>
          </a:p>
        </p:txBody>
      </p:sp>
      <p:sp>
        <p:nvSpPr>
          <p:cNvPr id="4" name="">
            <a:extLst xmlns:a="http://schemas.openxmlformats.org/drawingml/2006/main">
              <a:ext uri="{FF2B5EF4-FFF2-40B4-BE49-F238E27FC236}">
                <a16:creationId xmlns:a16="http://schemas.microsoft.com/office/drawing/2014/main" id="{4A735D1E-777C-4529-8077-CCDA1FFA281C}"/>
              </a:ext>
            </a:extLst>
          </p:cNvPr>
          <p:cNvSpPr>
            <a:spLocks xmlns:a="http://schemas.openxmlformats.org/drawingml/2006/main" noGrp="1"/>
          </p:cNvSpPr>
          <p:nvPr/>
        </p:nvSpPr>
        <p:spPr>
          <a:xfrm xmlns:a="http://schemas.openxmlformats.org/drawingml/2006/main">
            <a:off x="609600" y="2238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Small and medium vegetable growers. Need simple listings, clear demand and visible order progress.</a:t>
            </a:r>
          </a:p>
        </p:txBody>
      </p:sp>
      <p:sp>
        <p:nvSpPr>
          <p:cNvPr id="5" name="">
            <a:extLst xmlns:a="http://schemas.openxmlformats.org/drawingml/2006/main">
              <a:ext uri="{FF2B5EF4-FFF2-40B4-BE49-F238E27FC236}">
                <a16:creationId xmlns:a16="http://schemas.microsoft.com/office/drawing/2014/main" id="{EAD3C9D4-9BB4-4165-AECD-AD446D8E2A19}"/>
              </a:ext>
            </a:extLst>
          </p:cNvPr>
          <p:cNvSpPr>
            <a:spLocks xmlns:a="http://schemas.openxmlformats.org/drawingml/2006/main" noGrp="1"/>
          </p:cNvSpPr>
          <p:nvPr/>
        </p:nvSpPr>
        <p:spPr>
          <a:xfrm xmlns:a="http://schemas.openxmlformats.org/drawingml/2006/main">
            <a:off x="6524625" y="1714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Business buyers</a:t>
            </a:r>
          </a:p>
        </p:txBody>
      </p:sp>
      <p:sp>
        <p:nvSpPr>
          <p:cNvPr id="6" name="">
            <a:extLst xmlns:a="http://schemas.openxmlformats.org/drawingml/2006/main">
              <a:ext uri="{FF2B5EF4-FFF2-40B4-BE49-F238E27FC236}">
                <a16:creationId xmlns:a16="http://schemas.microsoft.com/office/drawing/2014/main" id="{2C1D28E1-63E9-4EC6-8169-342A6648BD84}"/>
              </a:ext>
            </a:extLst>
          </p:cNvPr>
          <p:cNvSpPr>
            <a:spLocks xmlns:a="http://schemas.openxmlformats.org/drawingml/2006/main" noGrp="1"/>
          </p:cNvSpPr>
          <p:nvPr/>
        </p:nvSpPr>
        <p:spPr>
          <a:xfrm xmlns:a="http://schemas.openxmlformats.org/drawingml/2006/main">
            <a:off x="6524625" y="2238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Grocers, restaurants and small wholesalers. Need repeat supply with known quantity and timing.</a:t>
            </a:r>
          </a:p>
        </p:txBody>
      </p:sp>
      <p:sp>
        <p:nvSpPr>
          <p:cNvPr id="7" name="">
            <a:extLst xmlns:a="http://schemas.openxmlformats.org/drawingml/2006/main">
              <a:ext uri="{FF2B5EF4-FFF2-40B4-BE49-F238E27FC236}">
                <a16:creationId xmlns:a16="http://schemas.microsoft.com/office/drawing/2014/main" id="{77BAF215-EA20-44CE-8F72-BED25DCE4F0C}"/>
              </a:ext>
            </a:extLst>
          </p:cNvPr>
          <p:cNvSpPr>
            <a:spLocks xmlns:a="http://schemas.openxmlformats.org/drawingml/2006/main" noGrp="1"/>
          </p:cNvSpPr>
          <p:nvPr/>
        </p:nvSpPr>
        <p:spPr>
          <a:xfrm xmlns:a="http://schemas.openxmlformats.org/drawingml/2006/main">
            <a:off x="609600" y="4000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Drivers</a:t>
            </a:r>
          </a:p>
        </p:txBody>
      </p:sp>
      <p:sp>
        <p:nvSpPr>
          <p:cNvPr id="8" name="">
            <a:extLst xmlns:a="http://schemas.openxmlformats.org/drawingml/2006/main">
              <a:ext uri="{FF2B5EF4-FFF2-40B4-BE49-F238E27FC236}">
                <a16:creationId xmlns:a16="http://schemas.microsoft.com/office/drawing/2014/main" id="{BE0DA56E-DE93-45D1-A23C-DA00BB24D78B}"/>
              </a:ext>
            </a:extLst>
          </p:cNvPr>
          <p:cNvSpPr>
            <a:spLocks xmlns:a="http://schemas.openxmlformats.org/drawingml/2006/main" noGrp="1"/>
          </p:cNvSpPr>
          <p:nvPr/>
        </p:nvSpPr>
        <p:spPr>
          <a:xfrm xmlns:a="http://schemas.openxmlformats.org/drawingml/2006/main">
            <a:off x="609600" y="4524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Local drivers and vehicle owners. Need vehicle management, trip details and delivery updates.</a:t>
            </a:r>
          </a:p>
        </p:txBody>
      </p:sp>
      <p:sp>
        <p:nvSpPr>
          <p:cNvPr id="9" name="">
            <a:extLst xmlns:a="http://schemas.openxmlformats.org/drawingml/2006/main">
              <a:ext uri="{FF2B5EF4-FFF2-40B4-BE49-F238E27FC236}">
                <a16:creationId xmlns:a16="http://schemas.microsoft.com/office/drawing/2014/main" id="{62ED11BB-2916-44A7-B2F0-53E97A58DDBE}"/>
              </a:ext>
            </a:extLst>
          </p:cNvPr>
          <p:cNvSpPr>
            <a:spLocks xmlns:a="http://schemas.openxmlformats.org/drawingml/2006/main" noGrp="1"/>
          </p:cNvSpPr>
          <p:nvPr/>
        </p:nvSpPr>
        <p:spPr>
          <a:xfrm xmlns:a="http://schemas.openxmlformats.org/drawingml/2006/main">
            <a:off x="6524625" y="4000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Research before launch</a:t>
            </a:r>
          </a:p>
        </p:txBody>
      </p:sp>
      <p:sp>
        <p:nvSpPr>
          <p:cNvPr id="10" name="">
            <a:extLst xmlns:a="http://schemas.openxmlformats.org/drawingml/2006/main">
              <a:ext uri="{FF2B5EF4-FFF2-40B4-BE49-F238E27FC236}">
                <a16:creationId xmlns:a16="http://schemas.microsoft.com/office/drawing/2014/main" id="{85A665D5-9F0B-4835-9374-FF301577B53F}"/>
              </a:ext>
            </a:extLst>
          </p:cNvPr>
          <p:cNvSpPr>
            <a:spLocks xmlns:a="http://schemas.openxmlformats.org/drawingml/2006/main" noGrp="1"/>
          </p:cNvSpPr>
          <p:nvPr/>
        </p:nvSpPr>
        <p:spPr>
          <a:xfrm xmlns:a="http://schemas.openxmlformats.org/drawingml/2006/main">
            <a:off x="6524625" y="4524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Interview 15 farmers, 10 buyers and 5 drivers. Test tasks with 5 users per main role.</a:t>
            </a:r>
          </a:p>
        </p:txBody>
      </p:sp>
    </p:spTree>
    <p:extLst>
      <p:ext uri="{BB962C8B-B14F-4D97-AF65-F5344CB8AC3E}">
        <p14:creationId xmlns:p14="http://schemas.microsoft.com/office/powerpoint/2010/main" val="2091745615"/>
      </p:ext>
    </p:extLst>
  </p:cSld>
</p:sld>
</file>

<file path=ppt/slides/slide5.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071D53-93EC-4EDD-A8B4-95F50A513BD8}"/>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Farmer journey</a:t>
            </a:r>
          </a:p>
        </p:txBody>
      </p:sp>
      <p:sp>
        <p:nvSpPr>
          <p:cNvPr id="2" name="">
            <a:extLst xmlns:a="http://schemas.openxmlformats.org/drawingml/2006/main">
              <a:ext uri="{FF2B5EF4-FFF2-40B4-BE49-F238E27FC236}">
                <a16:creationId xmlns:a16="http://schemas.microsoft.com/office/drawing/2014/main" id="{E545C813-49FD-4009-B8C3-12833BEE2C4C}"/>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5</a:t>
            </a:r>
          </a:p>
        </p:txBody>
      </p:sp>
      <p:pic>
        <p:nvPicPr>
          <p:cNvPr id="3" name="">
            <a:extLst xmlns:a="http://schemas.openxmlformats.org/drawingml/2006/main">
              <a:ext uri="{FF2B5EF4-FFF2-40B4-BE49-F238E27FC236}">
                <a16:creationId xmlns:a16="http://schemas.microsoft.com/office/drawing/2014/main" id="{14F75F38-7DCC-47F6-851E-957E2CEB38A7}"/>
              </a:ext>
            </a:extLst>
          </p:cNvPr>
          <p:cNvPicPr>
            <a:picLocks xmlns:a="http://schemas.openxmlformats.org/drawingml/2006/main" noChangeAspect="1"/>
          </p:cNvPicPr>
          <p:nvPr/>
        </p:nvPicPr>
        <p:blipFill>
          <a:blip xmlns:r="http://schemas.openxmlformats.org/officeDocument/2006/relationships" xmlns:a="http://schemas.openxmlformats.org/drawingml/2006/main" r:embed="R9b03414f869e4dc2"/>
          <a:stretch xmlns:a="http://schemas.openxmlformats.org/drawingml/2006/main"/>
        </p:blipFill>
        <p:spPr>
          <a:xfrm xmlns:a="http://schemas.openxmlformats.org/drawingml/2006/main">
            <a:off x="938145" y="1609725"/>
            <a:ext cx="1971810" cy="42672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25FF2FBA-17C9-453D-96BB-401F6A639D0F}"/>
              </a:ext>
            </a:extLst>
          </p:cNvPr>
          <p:cNvPicPr>
            <a:picLocks xmlns:a="http://schemas.openxmlformats.org/drawingml/2006/main" noChangeAspect="1"/>
          </p:cNvPicPr>
          <p:nvPr/>
        </p:nvPicPr>
        <p:blipFill>
          <a:blip xmlns:r="http://schemas.openxmlformats.org/officeDocument/2006/relationships" xmlns:a="http://schemas.openxmlformats.org/drawingml/2006/main" r:embed="R59ea1b9717bb4d2b"/>
          <a:stretch xmlns:a="http://schemas.openxmlformats.org/drawingml/2006/main"/>
        </p:blipFill>
        <p:spPr>
          <a:xfrm xmlns:a="http://schemas.openxmlformats.org/drawingml/2006/main">
            <a:off x="5043420" y="1609725"/>
            <a:ext cx="1971810" cy="42672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A4AD272F-6AFB-4F15-B6AC-D056E3DFE2FD}"/>
              </a:ext>
            </a:extLst>
          </p:cNvPr>
          <p:cNvPicPr>
            <a:picLocks xmlns:a="http://schemas.openxmlformats.org/drawingml/2006/main" noChangeAspect="1"/>
          </p:cNvPicPr>
          <p:nvPr/>
        </p:nvPicPr>
        <p:blipFill>
          <a:blip xmlns:r="http://schemas.openxmlformats.org/officeDocument/2006/relationships" xmlns:a="http://schemas.openxmlformats.org/drawingml/2006/main" r:embed="R799ffbf5ef424802"/>
          <a:stretch xmlns:a="http://schemas.openxmlformats.org/drawingml/2006/main"/>
        </p:blipFill>
        <p:spPr>
          <a:xfrm xmlns:a="http://schemas.openxmlformats.org/drawingml/2006/main">
            <a:off x="9101070" y="1609725"/>
            <a:ext cx="1971810" cy="42672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A5803F9-E200-4E62-A02C-6EC03F39CE75}"/>
              </a:ext>
            </a:extLst>
          </p:cNvPr>
          <p:cNvSpPr>
            <a:spLocks xmlns:a="http://schemas.openxmlformats.org/drawingml/2006/main" noGrp="1"/>
          </p:cNvSpPr>
          <p:nvPr/>
        </p:nvSpPr>
        <p:spPr>
          <a:xfrm xmlns:a="http://schemas.openxmlformats.org/drawingml/2006/main">
            <a:off x="609600" y="59245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7458"/>
                </a:solidFill>
                <a:latin typeface="Arial"/>
                <a:ea typeface="Arial"/>
                <a:cs typeface="Arial"/>
              </a:defRPr>
            </a:defPPr>
          </a:lstStyle>
          <a:p xmlns:a="http://schemas.openxmlformats.org/drawingml/2006/main">
            <a:pPr>
              <a:defRPr sz="1875" b="1">
                <a:solidFill>
                  <a:srgbClr val="167458"/>
                </a:solidFill>
                <a:latin typeface="Arial"/>
                <a:ea typeface="Arial"/>
                <a:cs typeface="Arial"/>
              </a:defRPr>
            </a:pPr>
            <a:r>
              <a:rPr sz="1875" b="1">
                <a:solidFill>
                  <a:srgbClr val="167458"/>
                </a:solidFill>
                <a:latin typeface="Arial"/>
                <a:ea typeface="Arial"/>
                <a:cs typeface="Arial"/>
              </a:rPr>
              <a:t>01  Publish a harvest</a:t>
            </a:r>
          </a:p>
        </p:txBody>
      </p:sp>
      <p:sp>
        <p:nvSpPr>
          <p:cNvPr id="7" name="">
            <a:extLst xmlns:a="http://schemas.openxmlformats.org/drawingml/2006/main">
              <a:ext uri="{FF2B5EF4-FFF2-40B4-BE49-F238E27FC236}">
                <a16:creationId xmlns:a16="http://schemas.microsoft.com/office/drawing/2014/main" id="{3DD57F83-6295-4FF2-A1D7-6F7186628B02}"/>
              </a:ext>
            </a:extLst>
          </p:cNvPr>
          <p:cNvSpPr>
            <a:spLocks xmlns:a="http://schemas.openxmlformats.org/drawingml/2006/main" noGrp="1"/>
          </p:cNvSpPr>
          <p:nvPr/>
        </p:nvSpPr>
        <p:spPr>
          <a:xfrm xmlns:a="http://schemas.openxmlformats.org/drawingml/2006/main">
            <a:off x="4657725" y="59245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7458"/>
                </a:solidFill>
                <a:latin typeface="Arial"/>
                <a:ea typeface="Arial"/>
                <a:cs typeface="Arial"/>
              </a:defRPr>
            </a:defPPr>
          </a:lstStyle>
          <a:p xmlns:a="http://schemas.openxmlformats.org/drawingml/2006/main">
            <a:pPr>
              <a:defRPr sz="1875" b="1">
                <a:solidFill>
                  <a:srgbClr val="167458"/>
                </a:solidFill>
                <a:latin typeface="Arial"/>
                <a:ea typeface="Arial"/>
                <a:cs typeface="Arial"/>
              </a:defRPr>
            </a:pPr>
            <a:r>
              <a:rPr sz="1875" b="1">
                <a:solidFill>
                  <a:srgbClr val="167458"/>
                </a:solidFill>
                <a:latin typeface="Arial"/>
                <a:ea typeface="Arial"/>
                <a:cs typeface="Arial"/>
              </a:rPr>
              <a:t>02  Review demand</a:t>
            </a:r>
          </a:p>
        </p:txBody>
      </p:sp>
      <p:sp>
        <p:nvSpPr>
          <p:cNvPr id="8" name="">
            <a:extLst xmlns:a="http://schemas.openxmlformats.org/drawingml/2006/main">
              <a:ext uri="{FF2B5EF4-FFF2-40B4-BE49-F238E27FC236}">
                <a16:creationId xmlns:a16="http://schemas.microsoft.com/office/drawing/2014/main" id="{08506C6F-7DC6-4D04-8B1A-D95C4C788EB4}"/>
              </a:ext>
            </a:extLst>
          </p:cNvPr>
          <p:cNvSpPr>
            <a:spLocks xmlns:a="http://schemas.openxmlformats.org/drawingml/2006/main" noGrp="1"/>
          </p:cNvSpPr>
          <p:nvPr/>
        </p:nvSpPr>
        <p:spPr>
          <a:xfrm xmlns:a="http://schemas.openxmlformats.org/drawingml/2006/main">
            <a:off x="8705850" y="59245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7458"/>
                </a:solidFill>
                <a:latin typeface="Arial"/>
                <a:ea typeface="Arial"/>
                <a:cs typeface="Arial"/>
              </a:defRPr>
            </a:defPPr>
          </a:lstStyle>
          <a:p xmlns:a="http://schemas.openxmlformats.org/drawingml/2006/main">
            <a:pPr>
              <a:defRPr sz="1875" b="1">
                <a:solidFill>
                  <a:srgbClr val="167458"/>
                </a:solidFill>
                <a:latin typeface="Arial"/>
                <a:ea typeface="Arial"/>
                <a:cs typeface="Arial"/>
              </a:defRPr>
            </a:pPr>
            <a:r>
              <a:rPr sz="1875" b="1">
                <a:solidFill>
                  <a:srgbClr val="167458"/>
                </a:solidFill>
                <a:latin typeface="Arial"/>
                <a:ea typeface="Arial"/>
                <a:cs typeface="Arial"/>
              </a:rPr>
              <a:t>03  Manage the order</a:t>
            </a:r>
          </a:p>
        </p:txBody>
      </p:sp>
    </p:spTree>
    <p:extLst>
      <p:ext uri="{BB962C8B-B14F-4D97-AF65-F5344CB8AC3E}">
        <p14:creationId xmlns:p14="http://schemas.microsoft.com/office/powerpoint/2010/main" val="1917937424"/>
      </p:ext>
    </p:extLst>
  </p:cSld>
</p:sld>
</file>

<file path=ppt/slides/slide6.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073B22-7129-478E-A35C-ACBC27716211}"/>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Buyer journey</a:t>
            </a:r>
          </a:p>
        </p:txBody>
      </p:sp>
      <p:sp>
        <p:nvSpPr>
          <p:cNvPr id="2" name="">
            <a:extLst xmlns:a="http://schemas.openxmlformats.org/drawingml/2006/main">
              <a:ext uri="{FF2B5EF4-FFF2-40B4-BE49-F238E27FC236}">
                <a16:creationId xmlns:a16="http://schemas.microsoft.com/office/drawing/2014/main" id="{38566987-88C3-4125-B907-61E721835BD8}"/>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6</a:t>
            </a:r>
          </a:p>
        </p:txBody>
      </p:sp>
      <p:graphicFrame>
        <p:nvGraphicFramePr>
          <p:cNvPr id="3" name="">
            <a:extLst xmlns:a="http://schemas.openxmlformats.org/drawingml/2006/main">
              <a:ext uri="{FF2B5EF4-FFF2-40B4-BE49-F238E27FC236}">
                <a16:creationId xmlns:a16="http://schemas.microsoft.com/office/drawing/2014/main" id="{CCECE81C-CE1F-4479-BD1B-491E9C15B4BC}"/>
              </a:ext>
            </a:extLst>
          </p:cNvPr>
          <p:cNvGraphicFramePr/>
          <p:nvPr/>
        </p:nvGraphicFramePr>
        <p:xfrm>
          <a:off xmlns:a="http://schemas.openxmlformats.org/drawingml/2006/main" x="609600" y="1571625"/>
          <a:ext xmlns:a="http://schemas.openxmlformats.org/drawingml/2006/main" cx="10972800" cy="3829050"/>
        </p:xfrm>
        <a:graphic xmlns:a="http://schemas.openxmlformats.org/drawingml/2006/main">
          <a:graphicData uri="http://schemas.openxmlformats.org/drawingml/2006/table">
            <a:tbl>
              <a:tblPr/>
              <a:tblGrid>
                <a:gridCol w="2333625"/>
                <a:gridCol w="4686300"/>
                <a:gridCol w="3952875"/>
              </a:tblGrid>
              <a:tr h="765810">
                <a:tc>
                  <a:txBody>
                    <a:bodyPr/>
                    <a:lstStyle/>
                    <a:p>
                      <a:r>
                        <a:rPr sz="1875" b="1">
                          <a:solidFill>
                            <a:srgbClr val="FFFFFF"/>
                          </a:solidFill>
                          <a:latin typeface="Arial"/>
                          <a:ea typeface="Arial"/>
                          <a:cs typeface="Arial"/>
                        </a:rPr>
                        <a:t>Step</a:t>
                      </a:r>
                    </a:p>
                  </a:txBody>
                  <a:tcPr marL="91440" marR="91440" marT="45720" marB="45720">
                    <a:lnL w="19050">
                      <a:solidFill>
                        <a:srgbClr val="F5F7F2"/>
                      </a:solidFill>
                    </a:lnL>
                    <a:lnR w="19050">
                      <a:solidFill>
                        <a:srgbClr val="F5F7F2"/>
                      </a:solidFill>
                    </a:lnR>
                    <a:lnT w="19050">
                      <a:solidFill>
                        <a:srgbClr val="F5F7F2"/>
                      </a:solidFill>
                    </a:lnT>
                    <a:lnB w="19050">
                      <a:solidFill>
                        <a:srgbClr val="F5F7F2"/>
                      </a:solidFill>
                    </a:lnB>
                    <a:solidFill>
                      <a:srgbClr val="167458"/>
                    </a:solidFill>
                  </a:tcPr>
                </a:tc>
                <a:tc>
                  <a:txBody>
                    <a:bodyPr/>
                    <a:lstStyle/>
                    <a:p>
                      <a:r>
                        <a:rPr sz="1875" b="1">
                          <a:solidFill>
                            <a:srgbClr val="FFFFFF"/>
                          </a:solidFill>
                          <a:latin typeface="Arial"/>
                          <a:ea typeface="Arial"/>
                          <a:cs typeface="Arial"/>
                        </a:rPr>
                        <a:t>Buyer action</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c>
                  <a:txBody>
                    <a:bodyPr/>
                    <a:lstStyle/>
                    <a:p>
                      <a:r>
                        <a:rPr sz="1875" b="1">
                          <a:solidFill>
                            <a:srgbClr val="FFFFFF"/>
                          </a:solidFill>
                          <a:latin typeface="Arial"/>
                          <a:ea typeface="Arial"/>
                          <a:cs typeface="Arial"/>
                        </a:rPr>
                        <a:t>Intended benefit</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r>
              <a:tr h="765810">
                <a:tc>
                  <a:txBody>
                    <a:bodyPr/>
                    <a:lstStyle/>
                    <a:p>
                      <a:r>
                        <a:rPr sz="1875" b="0">
                          <a:solidFill>
                            <a:srgbClr val="16352D"/>
                          </a:solidFill>
                          <a:latin typeface="Arial"/>
                          <a:ea typeface="Arial"/>
                          <a:cs typeface="Arial"/>
                        </a:rPr>
                        <a:t>01  Find supply</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875" b="0">
                          <a:solidFill>
                            <a:srgbClr val="16352D"/>
                          </a:solidFill>
                          <a:latin typeface="Arial"/>
                          <a:ea typeface="Arial"/>
                          <a:cs typeface="Arial"/>
                        </a:rPr>
                        <a:t>Search, filter and compare harvest listings</a:t>
                      </a:r>
                    </a:p>
                  </a:txBody>
                  <a:tcPr marL="91440" marR="91440" marT="45720" marB="45720">
                    <a:lnR w="19050">
                      <a:solidFill>
                        <a:srgbClr val="F5F7F2"/>
                      </a:solidFill>
                    </a:lnR>
                    <a:lnB w="19050">
                      <a:solidFill>
                        <a:srgbClr val="F5F7F2"/>
                      </a:solidFill>
                    </a:lnB>
                    <a:solidFill>
                      <a:srgbClr val="FFFFFF"/>
                    </a:solidFill>
                  </a:tcPr>
                </a:tc>
                <a:tc>
                  <a:txBody>
                    <a:bodyPr/>
                    <a:lstStyle/>
                    <a:p>
                      <a:r>
                        <a:rPr sz="1875" b="0">
                          <a:solidFill>
                            <a:srgbClr val="16352D"/>
                          </a:solidFill>
                          <a:latin typeface="Arial"/>
                          <a:ea typeface="Arial"/>
                          <a:cs typeface="Arial"/>
                        </a:rPr>
                        <a:t>See quantity, price and origin</a:t>
                      </a:r>
                    </a:p>
                  </a:txBody>
                  <a:tcPr marL="91440" marR="91440" marT="45720" marB="45720">
                    <a:lnR w="19050">
                      <a:solidFill>
                        <a:srgbClr val="F5F7F2"/>
                      </a:solidFill>
                    </a:lnR>
                    <a:lnB w="19050">
                      <a:solidFill>
                        <a:srgbClr val="F5F7F2"/>
                      </a:solidFill>
                    </a:lnB>
                    <a:solidFill>
                      <a:srgbClr val="FFFFFF"/>
                    </a:solidFill>
                  </a:tcPr>
                </a:tc>
              </a:tr>
              <a:tr h="765810">
                <a:tc>
                  <a:txBody>
                    <a:bodyPr/>
                    <a:lstStyle/>
                    <a:p>
                      <a:r>
                        <a:rPr sz="1875" b="0">
                          <a:solidFill>
                            <a:srgbClr val="16352D"/>
                          </a:solidFill>
                          <a:latin typeface="Arial"/>
                          <a:ea typeface="Arial"/>
                          <a:cs typeface="Arial"/>
                        </a:rPr>
                        <a:t>02  Order or request</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875" b="0">
                          <a:solidFill>
                            <a:srgbClr val="16352D"/>
                          </a:solidFill>
                          <a:latin typeface="Arial"/>
                          <a:ea typeface="Arial"/>
                          <a:cs typeface="Arial"/>
                        </a:rPr>
                        <a:t>Place an order or post a custom requirement</a:t>
                      </a:r>
                    </a:p>
                  </a:txBody>
                  <a:tcPr marL="91440" marR="91440" marT="45720" marB="45720">
                    <a:lnR w="19050">
                      <a:solidFill>
                        <a:srgbClr val="F5F7F2"/>
                      </a:solidFill>
                    </a:lnR>
                    <a:lnB w="19050">
                      <a:solidFill>
                        <a:srgbClr val="F5F7F2"/>
                      </a:solidFill>
                    </a:lnB>
                    <a:solidFill>
                      <a:srgbClr val="E8F3EC"/>
                    </a:solidFill>
                  </a:tcPr>
                </a:tc>
                <a:tc>
                  <a:txBody>
                    <a:bodyPr/>
                    <a:lstStyle/>
                    <a:p>
                      <a:r>
                        <a:rPr sz="1875" b="0">
                          <a:solidFill>
                            <a:srgbClr val="16352D"/>
                          </a:solidFill>
                          <a:latin typeface="Arial"/>
                          <a:ea typeface="Arial"/>
                          <a:cs typeface="Arial"/>
                        </a:rPr>
                        <a:t>Source available or future produce</a:t>
                      </a:r>
                    </a:p>
                  </a:txBody>
                  <a:tcPr marL="91440" marR="91440" marT="45720" marB="45720">
                    <a:lnR w="19050">
                      <a:solidFill>
                        <a:srgbClr val="F5F7F2"/>
                      </a:solidFill>
                    </a:lnR>
                    <a:lnB w="19050">
                      <a:solidFill>
                        <a:srgbClr val="F5F7F2"/>
                      </a:solidFill>
                    </a:lnB>
                    <a:solidFill>
                      <a:srgbClr val="E8F3EC"/>
                    </a:solidFill>
                  </a:tcPr>
                </a:tc>
              </a:tr>
              <a:tr h="765810">
                <a:tc>
                  <a:txBody>
                    <a:bodyPr/>
                    <a:lstStyle/>
                    <a:p>
                      <a:r>
                        <a:rPr sz="1875" b="0">
                          <a:solidFill>
                            <a:srgbClr val="16352D"/>
                          </a:solidFill>
                          <a:latin typeface="Arial"/>
                          <a:ea typeface="Arial"/>
                          <a:cs typeface="Arial"/>
                        </a:rPr>
                        <a:t>03  Confirm details</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875" b="0">
                          <a:solidFill>
                            <a:srgbClr val="16352D"/>
                          </a:solidFill>
                          <a:latin typeface="Arial"/>
                          <a:ea typeface="Arial"/>
                          <a:cs typeface="Arial"/>
                        </a:rPr>
                        <a:t>Enter quantity, destination and delivery notes</a:t>
                      </a:r>
                    </a:p>
                  </a:txBody>
                  <a:tcPr marL="91440" marR="91440" marT="45720" marB="45720">
                    <a:lnR w="19050">
                      <a:solidFill>
                        <a:srgbClr val="F5F7F2"/>
                      </a:solidFill>
                    </a:lnR>
                    <a:lnB w="19050">
                      <a:solidFill>
                        <a:srgbClr val="F5F7F2"/>
                      </a:solidFill>
                    </a:lnB>
                    <a:solidFill>
                      <a:srgbClr val="FFFFFF"/>
                    </a:solidFill>
                  </a:tcPr>
                </a:tc>
                <a:tc>
                  <a:txBody>
                    <a:bodyPr/>
                    <a:lstStyle/>
                    <a:p>
                      <a:r>
                        <a:rPr sz="1875" b="0">
                          <a:solidFill>
                            <a:srgbClr val="16352D"/>
                          </a:solidFill>
                          <a:latin typeface="Arial"/>
                          <a:ea typeface="Arial"/>
                          <a:cs typeface="Arial"/>
                        </a:rPr>
                        <a:t>Communicate what the buyer needs</a:t>
                      </a:r>
                    </a:p>
                  </a:txBody>
                  <a:tcPr marL="91440" marR="91440" marT="45720" marB="45720">
                    <a:lnR w="19050">
                      <a:solidFill>
                        <a:srgbClr val="F5F7F2"/>
                      </a:solidFill>
                    </a:lnR>
                    <a:lnB w="19050">
                      <a:solidFill>
                        <a:srgbClr val="F5F7F2"/>
                      </a:solidFill>
                    </a:lnB>
                    <a:solidFill>
                      <a:srgbClr val="FFFFFF"/>
                    </a:solidFill>
                  </a:tcPr>
                </a:tc>
              </a:tr>
              <a:tr h="765810">
                <a:tc>
                  <a:txBody>
                    <a:bodyPr/>
                    <a:lstStyle/>
                    <a:p>
                      <a:r>
                        <a:rPr sz="1875" b="0">
                          <a:solidFill>
                            <a:srgbClr val="16352D"/>
                          </a:solidFill>
                          <a:latin typeface="Arial"/>
                          <a:ea typeface="Arial"/>
                          <a:cs typeface="Arial"/>
                        </a:rPr>
                        <a:t>04  Follow progress</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875" b="0">
                          <a:solidFill>
                            <a:srgbClr val="16352D"/>
                          </a:solidFill>
                          <a:latin typeface="Arial"/>
                          <a:ea typeface="Arial"/>
                          <a:cs typeface="Arial"/>
                        </a:rPr>
                        <a:t>Review orders and delivery-status details</a:t>
                      </a:r>
                    </a:p>
                  </a:txBody>
                  <a:tcPr marL="91440" marR="91440" marT="45720" marB="45720">
                    <a:lnR w="19050">
                      <a:solidFill>
                        <a:srgbClr val="F5F7F2"/>
                      </a:solidFill>
                    </a:lnR>
                    <a:lnB w="19050">
                      <a:solidFill>
                        <a:srgbClr val="F5F7F2"/>
                      </a:solidFill>
                    </a:lnB>
                    <a:solidFill>
                      <a:srgbClr val="E8F3EC"/>
                    </a:solidFill>
                  </a:tcPr>
                </a:tc>
                <a:tc>
                  <a:txBody>
                    <a:bodyPr/>
                    <a:lstStyle/>
                    <a:p>
                      <a:r>
                        <a:rPr sz="1875" b="0">
                          <a:solidFill>
                            <a:srgbClr val="16352D"/>
                          </a:solidFill>
                          <a:latin typeface="Arial"/>
                          <a:ea typeface="Arial"/>
                          <a:cs typeface="Arial"/>
                        </a:rPr>
                        <a:t>Understand what happens next</a:t>
                      </a:r>
                    </a:p>
                  </a:txBody>
                  <a:tcPr marL="91440" marR="91440" marT="45720" marB="45720">
                    <a:lnR w="19050">
                      <a:solidFill>
                        <a:srgbClr val="F5F7F2"/>
                      </a:solidFill>
                    </a:lnR>
                    <a:lnB w="19050">
                      <a:solidFill>
                        <a:srgbClr val="F5F7F2"/>
                      </a:solidFill>
                    </a:lnB>
                    <a:solidFill>
                      <a:srgbClr val="E8F3EC"/>
                    </a:solidFill>
                  </a:tcPr>
                </a:tc>
              </a:tr>
            </a:tbl>
          </a:graphicData>
        </a:graphic>
      </p:graphicFrame>
      <p:sp>
        <p:nvSpPr>
          <p:cNvPr id="4" name="">
            <a:extLst xmlns:a="http://schemas.openxmlformats.org/drawingml/2006/main">
              <a:ext uri="{FF2B5EF4-FFF2-40B4-BE49-F238E27FC236}">
                <a16:creationId xmlns:a16="http://schemas.microsoft.com/office/drawing/2014/main" id="{4695FAB1-1A44-4A43-B62E-11CB494C6FDF}"/>
              </a:ext>
            </a:extLst>
          </p:cNvPr>
          <p:cNvSpPr>
            <a:spLocks xmlns:a="http://schemas.openxmlformats.org/drawingml/2006/main" noGrp="1"/>
          </p:cNvSpPr>
          <p:nvPr/>
        </p:nvSpPr>
        <p:spPr>
          <a:xfrm xmlns:a="http://schemas.openxmlformats.org/drawingml/2006/main">
            <a:off x="609600" y="58197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2756A"/>
                </a:solidFill>
                <a:latin typeface="Arial"/>
                <a:ea typeface="Arial"/>
                <a:cs typeface="Arial"/>
              </a:defRPr>
            </a:defPPr>
          </a:lstStyle>
          <a:p xmlns:a="http://schemas.openxmlformats.org/drawingml/2006/main">
            <a:pPr>
              <a:defRPr sz="1575" b="0">
                <a:solidFill>
                  <a:srgbClr val="62756A"/>
                </a:solidFill>
                <a:latin typeface="Arial"/>
                <a:ea typeface="Arial"/>
                <a:cs typeface="Arial"/>
              </a:defRPr>
            </a:pPr>
            <a:r>
              <a:rPr sz="1575" b="0">
                <a:solidFill>
                  <a:srgbClr val="62756A"/>
                </a:solidFill>
                <a:latin typeface="Arial"/>
                <a:ea typeface="Arial"/>
                <a:cs typeface="Arial"/>
              </a:rPr>
              <a:t>Prototype workflows. Payment processing and delivery pricing need further validation.</a:t>
            </a:r>
          </a:p>
        </p:txBody>
      </p:sp>
    </p:spTree>
    <p:extLst>
      <p:ext uri="{BB962C8B-B14F-4D97-AF65-F5344CB8AC3E}">
        <p14:creationId xmlns:p14="http://schemas.microsoft.com/office/powerpoint/2010/main" val="1928973559"/>
      </p:ext>
    </p:extLst>
  </p:cSld>
</p:sld>
</file>

<file path=ppt/slides/slide7.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DB29D1-2776-47FC-A678-A50F3967CB5F}"/>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Driver journey</a:t>
            </a:r>
          </a:p>
        </p:txBody>
      </p:sp>
      <p:sp>
        <p:nvSpPr>
          <p:cNvPr id="2" name="">
            <a:extLst xmlns:a="http://schemas.openxmlformats.org/drawingml/2006/main">
              <a:ext uri="{FF2B5EF4-FFF2-40B4-BE49-F238E27FC236}">
                <a16:creationId xmlns:a16="http://schemas.microsoft.com/office/drawing/2014/main" id="{91CDF41F-E683-4639-9D7C-A68EB097DC43}"/>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7</a:t>
            </a:r>
          </a:p>
        </p:txBody>
      </p:sp>
      <p:graphicFrame>
        <p:nvGraphicFramePr>
          <p:cNvPr id="3" name="">
            <a:extLst xmlns:a="http://schemas.openxmlformats.org/drawingml/2006/main">
              <a:ext uri="{FF2B5EF4-FFF2-40B4-BE49-F238E27FC236}">
                <a16:creationId xmlns:a16="http://schemas.microsoft.com/office/drawing/2014/main" id="{7E23CBDE-C095-42AB-9C17-69BA25F80D05}"/>
              </a:ext>
            </a:extLst>
          </p:cNvPr>
          <p:cNvGraphicFramePr/>
          <p:nvPr/>
        </p:nvGraphicFramePr>
        <p:xfrm>
          <a:off xmlns:a="http://schemas.openxmlformats.org/drawingml/2006/main" x="609600" y="1571625"/>
          <a:ext xmlns:a="http://schemas.openxmlformats.org/drawingml/2006/main" cx="10972800" cy="3829050"/>
        </p:xfrm>
        <a:graphic xmlns:a="http://schemas.openxmlformats.org/drawingml/2006/main">
          <a:graphicData uri="http://schemas.openxmlformats.org/drawingml/2006/table">
            <a:tbl>
              <a:tblPr/>
              <a:tblGrid>
                <a:gridCol w="2333625"/>
                <a:gridCol w="4686300"/>
                <a:gridCol w="3952875"/>
              </a:tblGrid>
              <a:tr h="765810">
                <a:tc>
                  <a:txBody>
                    <a:bodyPr/>
                    <a:lstStyle/>
                    <a:p>
                      <a:r>
                        <a:rPr sz="1875" b="1">
                          <a:solidFill>
                            <a:srgbClr val="FFFFFF"/>
                          </a:solidFill>
                          <a:latin typeface="Arial"/>
                          <a:ea typeface="Arial"/>
                          <a:cs typeface="Arial"/>
                        </a:rPr>
                        <a:t>Step</a:t>
                      </a:r>
                    </a:p>
                  </a:txBody>
                  <a:tcPr marL="91440" marR="91440" marT="45720" marB="45720">
                    <a:lnL w="19050">
                      <a:solidFill>
                        <a:srgbClr val="F5F7F2"/>
                      </a:solidFill>
                    </a:lnL>
                    <a:lnR w="19050">
                      <a:solidFill>
                        <a:srgbClr val="F5F7F2"/>
                      </a:solidFill>
                    </a:lnR>
                    <a:lnT w="19050">
                      <a:solidFill>
                        <a:srgbClr val="F5F7F2"/>
                      </a:solidFill>
                    </a:lnT>
                    <a:lnB w="19050">
                      <a:solidFill>
                        <a:srgbClr val="F5F7F2"/>
                      </a:solidFill>
                    </a:lnB>
                    <a:solidFill>
                      <a:srgbClr val="167458"/>
                    </a:solidFill>
                  </a:tcPr>
                </a:tc>
                <a:tc>
                  <a:txBody>
                    <a:bodyPr/>
                    <a:lstStyle/>
                    <a:p>
                      <a:r>
                        <a:rPr sz="1875" b="1">
                          <a:solidFill>
                            <a:srgbClr val="FFFFFF"/>
                          </a:solidFill>
                          <a:latin typeface="Arial"/>
                          <a:ea typeface="Arial"/>
                          <a:cs typeface="Arial"/>
                        </a:rPr>
                        <a:t>Driver action</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c>
                  <a:txBody>
                    <a:bodyPr/>
                    <a:lstStyle/>
                    <a:p>
                      <a:r>
                        <a:rPr sz="1875" b="1">
                          <a:solidFill>
                            <a:srgbClr val="FFFFFF"/>
                          </a:solidFill>
                          <a:latin typeface="Arial"/>
                          <a:ea typeface="Arial"/>
                          <a:cs typeface="Arial"/>
                        </a:rPr>
                        <a:t>Intended benefit</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r>
              <a:tr h="765810">
                <a:tc>
                  <a:txBody>
                    <a:bodyPr/>
                    <a:lstStyle/>
                    <a:p>
                      <a:r>
                        <a:rPr sz="1875" b="0">
                          <a:solidFill>
                            <a:srgbClr val="16352D"/>
                          </a:solidFill>
                          <a:latin typeface="Arial"/>
                          <a:ea typeface="Arial"/>
                          <a:cs typeface="Arial"/>
                        </a:rPr>
                        <a:t>01  Prepare</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875" b="0">
                          <a:solidFill>
                            <a:srgbClr val="16352D"/>
                          </a:solidFill>
                          <a:latin typeface="Arial"/>
                          <a:ea typeface="Arial"/>
                          <a:cs typeface="Arial"/>
                        </a:rPr>
                        <a:t>Manage vehicles and duty status</a:t>
                      </a:r>
                    </a:p>
                  </a:txBody>
                  <a:tcPr marL="91440" marR="91440" marT="45720" marB="45720">
                    <a:lnR w="19050">
                      <a:solidFill>
                        <a:srgbClr val="F5F7F2"/>
                      </a:solidFill>
                    </a:lnR>
                    <a:lnB w="19050">
                      <a:solidFill>
                        <a:srgbClr val="F5F7F2"/>
                      </a:solidFill>
                    </a:lnB>
                    <a:solidFill>
                      <a:srgbClr val="FFFFFF"/>
                    </a:solidFill>
                  </a:tcPr>
                </a:tc>
                <a:tc>
                  <a:txBody>
                    <a:bodyPr/>
                    <a:lstStyle/>
                    <a:p>
                      <a:r>
                        <a:rPr sz="1875" b="0">
                          <a:solidFill>
                            <a:srgbClr val="16352D"/>
                          </a:solidFill>
                          <a:latin typeface="Arial"/>
                          <a:ea typeface="Arial"/>
                          <a:cs typeface="Arial"/>
                        </a:rPr>
                        <a:t>Keep transport information available</a:t>
                      </a:r>
                    </a:p>
                  </a:txBody>
                  <a:tcPr marL="91440" marR="91440" marT="45720" marB="45720">
                    <a:lnR w="19050">
                      <a:solidFill>
                        <a:srgbClr val="F5F7F2"/>
                      </a:solidFill>
                    </a:lnR>
                    <a:lnB w="19050">
                      <a:solidFill>
                        <a:srgbClr val="F5F7F2"/>
                      </a:solidFill>
                    </a:lnB>
                    <a:solidFill>
                      <a:srgbClr val="FFFFFF"/>
                    </a:solidFill>
                  </a:tcPr>
                </a:tc>
              </a:tr>
              <a:tr h="765810">
                <a:tc>
                  <a:txBody>
                    <a:bodyPr/>
                    <a:lstStyle/>
                    <a:p>
                      <a:r>
                        <a:rPr sz="1875" b="0">
                          <a:solidFill>
                            <a:srgbClr val="16352D"/>
                          </a:solidFill>
                          <a:latin typeface="Arial"/>
                          <a:ea typeface="Arial"/>
                          <a:cs typeface="Arial"/>
                        </a:rPr>
                        <a:t>02  Review the job</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875" b="0">
                          <a:solidFill>
                            <a:srgbClr val="16352D"/>
                          </a:solidFill>
                          <a:latin typeface="Arial"/>
                          <a:ea typeface="Arial"/>
                          <a:cs typeface="Arial"/>
                        </a:rPr>
                        <a:t>Check pickup, destination and handling notes</a:t>
                      </a:r>
                    </a:p>
                  </a:txBody>
                  <a:tcPr marL="91440" marR="91440" marT="45720" marB="45720">
                    <a:lnR w="19050">
                      <a:solidFill>
                        <a:srgbClr val="F5F7F2"/>
                      </a:solidFill>
                    </a:lnR>
                    <a:lnB w="19050">
                      <a:solidFill>
                        <a:srgbClr val="F5F7F2"/>
                      </a:solidFill>
                    </a:lnB>
                    <a:solidFill>
                      <a:srgbClr val="E8F3EC"/>
                    </a:solidFill>
                  </a:tcPr>
                </a:tc>
                <a:tc>
                  <a:txBody>
                    <a:bodyPr/>
                    <a:lstStyle/>
                    <a:p>
                      <a:r>
                        <a:rPr sz="1875" b="0">
                          <a:solidFill>
                            <a:srgbClr val="16352D"/>
                          </a:solidFill>
                          <a:latin typeface="Arial"/>
                          <a:ea typeface="Arial"/>
                          <a:cs typeface="Arial"/>
                        </a:rPr>
                        <a:t>Understand the delivery task</a:t>
                      </a:r>
                    </a:p>
                  </a:txBody>
                  <a:tcPr marL="91440" marR="91440" marT="45720" marB="45720">
                    <a:lnR w="19050">
                      <a:solidFill>
                        <a:srgbClr val="F5F7F2"/>
                      </a:solidFill>
                    </a:lnR>
                    <a:lnB w="19050">
                      <a:solidFill>
                        <a:srgbClr val="F5F7F2"/>
                      </a:solidFill>
                    </a:lnB>
                    <a:solidFill>
                      <a:srgbClr val="E8F3EC"/>
                    </a:solidFill>
                  </a:tcPr>
                </a:tc>
              </a:tr>
              <a:tr h="765810">
                <a:tc>
                  <a:txBody>
                    <a:bodyPr/>
                    <a:lstStyle/>
                    <a:p>
                      <a:r>
                        <a:rPr sz="1875" b="0">
                          <a:solidFill>
                            <a:srgbClr val="16352D"/>
                          </a:solidFill>
                          <a:latin typeface="Arial"/>
                          <a:ea typeface="Arial"/>
                          <a:cs typeface="Arial"/>
                        </a:rPr>
                        <a:t>03  Pick up and deliver</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875" b="0">
                          <a:solidFill>
                            <a:srgbClr val="16352D"/>
                          </a:solidFill>
                          <a:latin typeface="Arial"/>
                          <a:ea typeface="Arial"/>
                          <a:cs typeface="Arial"/>
                        </a:rPr>
                        <a:t>Update the job to in transit, then delivered</a:t>
                      </a:r>
                    </a:p>
                  </a:txBody>
                  <a:tcPr marL="91440" marR="91440" marT="45720" marB="45720">
                    <a:lnR w="19050">
                      <a:solidFill>
                        <a:srgbClr val="F5F7F2"/>
                      </a:solidFill>
                    </a:lnR>
                    <a:lnB w="19050">
                      <a:solidFill>
                        <a:srgbClr val="F5F7F2"/>
                      </a:solidFill>
                    </a:lnB>
                    <a:solidFill>
                      <a:srgbClr val="FFFFFF"/>
                    </a:solidFill>
                  </a:tcPr>
                </a:tc>
                <a:tc>
                  <a:txBody>
                    <a:bodyPr/>
                    <a:lstStyle/>
                    <a:p>
                      <a:r>
                        <a:rPr sz="1875" b="0">
                          <a:solidFill>
                            <a:srgbClr val="16352D"/>
                          </a:solidFill>
                          <a:latin typeface="Arial"/>
                          <a:ea typeface="Arial"/>
                          <a:cs typeface="Arial"/>
                        </a:rPr>
                        <a:t>Share progress across the order</a:t>
                      </a:r>
                    </a:p>
                  </a:txBody>
                  <a:tcPr marL="91440" marR="91440" marT="45720" marB="45720">
                    <a:lnR w="19050">
                      <a:solidFill>
                        <a:srgbClr val="F5F7F2"/>
                      </a:solidFill>
                    </a:lnR>
                    <a:lnB w="19050">
                      <a:solidFill>
                        <a:srgbClr val="F5F7F2"/>
                      </a:solidFill>
                    </a:lnB>
                    <a:solidFill>
                      <a:srgbClr val="FFFFFF"/>
                    </a:solidFill>
                  </a:tcPr>
                </a:tc>
              </a:tr>
              <a:tr h="765810">
                <a:tc>
                  <a:txBody>
                    <a:bodyPr/>
                    <a:lstStyle/>
                    <a:p>
                      <a:r>
                        <a:rPr sz="1875" b="0">
                          <a:solidFill>
                            <a:srgbClr val="16352D"/>
                          </a:solidFill>
                          <a:latin typeface="Arial"/>
                          <a:ea typeface="Arial"/>
                          <a:cs typeface="Arial"/>
                        </a:rPr>
                        <a:t>04  Review activity</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875" b="0">
                          <a:solidFill>
                            <a:srgbClr val="16352D"/>
                          </a:solidFill>
                          <a:latin typeface="Arial"/>
                          <a:ea typeface="Arial"/>
                          <a:cs typeface="Arial"/>
                        </a:rPr>
                        <a:t>View completed jobs and earnings summary</a:t>
                      </a:r>
                    </a:p>
                  </a:txBody>
                  <a:tcPr marL="91440" marR="91440" marT="45720" marB="45720">
                    <a:lnR w="19050">
                      <a:solidFill>
                        <a:srgbClr val="F5F7F2"/>
                      </a:solidFill>
                    </a:lnR>
                    <a:lnB w="19050">
                      <a:solidFill>
                        <a:srgbClr val="F5F7F2"/>
                      </a:solidFill>
                    </a:lnB>
                    <a:solidFill>
                      <a:srgbClr val="E8F3EC"/>
                    </a:solidFill>
                  </a:tcPr>
                </a:tc>
                <a:tc>
                  <a:txBody>
                    <a:bodyPr/>
                    <a:lstStyle/>
                    <a:p>
                      <a:r>
                        <a:rPr sz="1875" b="0">
                          <a:solidFill>
                            <a:srgbClr val="16352D"/>
                          </a:solidFill>
                          <a:latin typeface="Arial"/>
                          <a:ea typeface="Arial"/>
                          <a:cs typeface="Arial"/>
                        </a:rPr>
                        <a:t>Keep a record of delivery work</a:t>
                      </a:r>
                    </a:p>
                  </a:txBody>
                  <a:tcPr marL="91440" marR="91440" marT="45720" marB="45720">
                    <a:lnR w="19050">
                      <a:solidFill>
                        <a:srgbClr val="F5F7F2"/>
                      </a:solidFill>
                    </a:lnR>
                    <a:lnB w="19050">
                      <a:solidFill>
                        <a:srgbClr val="F5F7F2"/>
                      </a:solidFill>
                    </a:lnB>
                    <a:solidFill>
                      <a:srgbClr val="E8F3EC"/>
                    </a:solidFill>
                  </a:tcPr>
                </a:tc>
              </a:tr>
            </a:tbl>
          </a:graphicData>
        </a:graphic>
      </p:graphicFrame>
      <p:sp>
        <p:nvSpPr>
          <p:cNvPr id="4" name="">
            <a:extLst xmlns:a="http://schemas.openxmlformats.org/drawingml/2006/main">
              <a:ext uri="{FF2B5EF4-FFF2-40B4-BE49-F238E27FC236}">
                <a16:creationId xmlns:a16="http://schemas.microsoft.com/office/drawing/2014/main" id="{5FC51405-0E56-4DE9-BAEA-7B92CF8275C9}"/>
              </a:ext>
            </a:extLst>
          </p:cNvPr>
          <p:cNvSpPr>
            <a:spLocks xmlns:a="http://schemas.openxmlformats.org/drawingml/2006/main" noGrp="1"/>
          </p:cNvSpPr>
          <p:nvPr/>
        </p:nvSpPr>
        <p:spPr>
          <a:xfrm xmlns:a="http://schemas.openxmlformats.org/drawingml/2006/main">
            <a:off x="609600" y="58197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2756A"/>
                </a:solidFill>
                <a:latin typeface="Arial"/>
                <a:ea typeface="Arial"/>
                <a:cs typeface="Arial"/>
              </a:defRPr>
            </a:defPPr>
          </a:lstStyle>
          <a:p xmlns:a="http://schemas.openxmlformats.org/drawingml/2006/main">
            <a:pPr>
              <a:defRPr sz="1575" b="0">
                <a:solidFill>
                  <a:srgbClr val="62756A"/>
                </a:solidFill>
                <a:latin typeface="Arial"/>
                <a:ea typeface="Arial"/>
                <a:cs typeface="Arial"/>
              </a:defRPr>
            </a:pPr>
            <a:r>
              <a:rPr sz="1575" b="0">
                <a:solidFill>
                  <a:srgbClr val="62756A"/>
                </a:solidFill>
                <a:latin typeface="Arial"/>
                <a:ea typeface="Arial"/>
                <a:cs typeface="Arial"/>
              </a:rPr>
              <a:t>Earnings shown in the prototype do not confirm a settled payment. Dispatch requires field testing.</a:t>
            </a:r>
          </a:p>
        </p:txBody>
      </p:sp>
    </p:spTree>
    <p:extLst>
      <p:ext uri="{BB962C8B-B14F-4D97-AF65-F5344CB8AC3E}">
        <p14:creationId xmlns:p14="http://schemas.microsoft.com/office/powerpoint/2010/main" val="1304539546"/>
      </p:ext>
    </p:extLst>
  </p:cSld>
</p:sld>
</file>

<file path=ppt/slides/slide8.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E00B2D-BF32-48E8-90E1-990C3550DBC0}"/>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How the three journeys connect</a:t>
            </a:r>
          </a:p>
        </p:txBody>
      </p:sp>
      <p:sp>
        <p:nvSpPr>
          <p:cNvPr id="2" name="">
            <a:extLst xmlns:a="http://schemas.openxmlformats.org/drawingml/2006/main">
              <a:ext uri="{FF2B5EF4-FFF2-40B4-BE49-F238E27FC236}">
                <a16:creationId xmlns:a16="http://schemas.microsoft.com/office/drawing/2014/main" id="{DBE6D908-6B38-4D4F-8DBA-2561EE78F95B}"/>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8</a:t>
            </a:r>
          </a:p>
        </p:txBody>
      </p:sp>
      <p:graphicFrame>
        <p:nvGraphicFramePr>
          <p:cNvPr id="3" name="">
            <a:extLst xmlns:a="http://schemas.openxmlformats.org/drawingml/2006/main">
              <a:ext uri="{FF2B5EF4-FFF2-40B4-BE49-F238E27FC236}">
                <a16:creationId xmlns:a16="http://schemas.microsoft.com/office/drawing/2014/main" id="{0FA0F097-490C-4D2B-94FF-150DA5705C98}"/>
              </a:ext>
            </a:extLst>
          </p:cNvPr>
          <p:cNvGraphicFramePr/>
          <p:nvPr/>
        </p:nvGraphicFramePr>
        <p:xfrm>
          <a:off xmlns:a="http://schemas.openxmlformats.org/drawingml/2006/main" x="609600" y="1571625"/>
          <a:ext xmlns:a="http://schemas.openxmlformats.org/drawingml/2006/main" cx="10972800" cy="3829050"/>
        </p:xfrm>
        <a:graphic xmlns:a="http://schemas.openxmlformats.org/drawingml/2006/main">
          <a:graphicData uri="http://schemas.openxmlformats.org/drawingml/2006/table">
            <a:tbl>
              <a:tblPr/>
              <a:tblGrid>
                <a:gridCol w="1762125"/>
                <a:gridCol w="3095625"/>
                <a:gridCol w="3095625"/>
                <a:gridCol w="3019425"/>
              </a:tblGrid>
              <a:tr h="765810">
                <a:tc>
                  <a:txBody>
                    <a:bodyPr/>
                    <a:lstStyle/>
                    <a:p>
                      <a:r>
                        <a:rPr sz="1800" b="1">
                          <a:solidFill>
                            <a:srgbClr val="FFFFFF"/>
                          </a:solidFill>
                          <a:latin typeface="Arial"/>
                          <a:ea typeface="Arial"/>
                          <a:cs typeface="Arial"/>
                        </a:rPr>
                        <a:t>Stage</a:t>
                      </a:r>
                    </a:p>
                  </a:txBody>
                  <a:tcPr marL="91440" marR="91440" marT="45720" marB="45720">
                    <a:lnL w="19050">
                      <a:solidFill>
                        <a:srgbClr val="F5F7F2"/>
                      </a:solidFill>
                    </a:lnL>
                    <a:lnR w="19050">
                      <a:solidFill>
                        <a:srgbClr val="F5F7F2"/>
                      </a:solidFill>
                    </a:lnR>
                    <a:lnT w="19050">
                      <a:solidFill>
                        <a:srgbClr val="F5F7F2"/>
                      </a:solidFill>
                    </a:lnT>
                    <a:lnB w="19050">
                      <a:solidFill>
                        <a:srgbClr val="F5F7F2"/>
                      </a:solidFill>
                    </a:lnB>
                    <a:solidFill>
                      <a:srgbClr val="167458"/>
                    </a:solidFill>
                  </a:tcPr>
                </a:tc>
                <a:tc>
                  <a:txBody>
                    <a:bodyPr/>
                    <a:lstStyle/>
                    <a:p>
                      <a:r>
                        <a:rPr sz="1800" b="1">
                          <a:solidFill>
                            <a:srgbClr val="FFFFFF"/>
                          </a:solidFill>
                          <a:latin typeface="Arial"/>
                          <a:ea typeface="Arial"/>
                          <a:cs typeface="Arial"/>
                        </a:rPr>
                        <a:t>Farmer</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c>
                  <a:txBody>
                    <a:bodyPr/>
                    <a:lstStyle/>
                    <a:p>
                      <a:r>
                        <a:rPr sz="1800" b="1">
                          <a:solidFill>
                            <a:srgbClr val="FFFFFF"/>
                          </a:solidFill>
                          <a:latin typeface="Arial"/>
                          <a:ea typeface="Arial"/>
                          <a:cs typeface="Arial"/>
                        </a:rPr>
                        <a:t>Buyer</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c>
                  <a:txBody>
                    <a:bodyPr/>
                    <a:lstStyle/>
                    <a:p>
                      <a:r>
                        <a:rPr sz="1800" b="1">
                          <a:solidFill>
                            <a:srgbClr val="FFFFFF"/>
                          </a:solidFill>
                          <a:latin typeface="Arial"/>
                          <a:ea typeface="Arial"/>
                          <a:cs typeface="Arial"/>
                        </a:rPr>
                        <a:t>Driver</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r>
              <a:tr h="765810">
                <a:tc>
                  <a:txBody>
                    <a:bodyPr/>
                    <a:lstStyle/>
                    <a:p>
                      <a:r>
                        <a:rPr sz="1800" b="0">
                          <a:solidFill>
                            <a:srgbClr val="16352D"/>
                          </a:solidFill>
                          <a:latin typeface="Arial"/>
                          <a:ea typeface="Arial"/>
                          <a:cs typeface="Arial"/>
                        </a:rPr>
                        <a:t>Match</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800" b="0">
                          <a:solidFill>
                            <a:srgbClr val="16352D"/>
                          </a:solidFill>
                          <a:latin typeface="Arial"/>
                          <a:ea typeface="Arial"/>
                          <a:cs typeface="Arial"/>
                        </a:rPr>
                        <a:t>Publish a harvest or accept demand</a:t>
                      </a:r>
                    </a:p>
                  </a:txBody>
                  <a:tcPr marL="91440" marR="91440" marT="45720" marB="45720">
                    <a:lnR w="19050">
                      <a:solidFill>
                        <a:srgbClr val="F5F7F2"/>
                      </a:solidFill>
                    </a:lnR>
                    <a:lnB w="19050">
                      <a:solidFill>
                        <a:srgbClr val="F5F7F2"/>
                      </a:solidFill>
                    </a:lnB>
                    <a:solidFill>
                      <a:srgbClr val="FFFFFF"/>
                    </a:solidFill>
                  </a:tcPr>
                </a:tc>
                <a:tc>
                  <a:txBody>
                    <a:bodyPr/>
                    <a:lstStyle/>
                    <a:p>
                      <a:r>
                        <a:rPr sz="1800" b="0">
                          <a:solidFill>
                            <a:srgbClr val="16352D"/>
                          </a:solidFill>
                          <a:latin typeface="Arial"/>
                          <a:ea typeface="Arial"/>
                          <a:cs typeface="Arial"/>
                        </a:rPr>
                        <a:t>Browse supply or post a request</a:t>
                      </a:r>
                    </a:p>
                  </a:txBody>
                  <a:tcPr marL="91440" marR="91440" marT="45720" marB="45720">
                    <a:lnR w="19050">
                      <a:solidFill>
                        <a:srgbClr val="F5F7F2"/>
                      </a:solidFill>
                    </a:lnR>
                    <a:lnB w="19050">
                      <a:solidFill>
                        <a:srgbClr val="F5F7F2"/>
                      </a:solidFill>
                    </a:lnB>
                    <a:solidFill>
                      <a:srgbClr val="FFFFFF"/>
                    </a:solidFill>
                  </a:tcPr>
                </a:tc>
                <a:tc>
                  <a:txBody>
                    <a:bodyPr/>
                    <a:lstStyle/>
                    <a:p>
                      <a:r>
                        <a:rPr sz="1800" b="0">
                          <a:solidFill>
                            <a:srgbClr val="16352D"/>
                          </a:solidFill>
                          <a:latin typeface="Arial"/>
                          <a:ea typeface="Arial"/>
                          <a:cs typeface="Arial"/>
                        </a:rPr>
                        <a:t>Maintain vehicle information</a:t>
                      </a:r>
                    </a:p>
                  </a:txBody>
                  <a:tcPr marL="91440" marR="91440" marT="45720" marB="45720">
                    <a:lnR w="19050">
                      <a:solidFill>
                        <a:srgbClr val="F5F7F2"/>
                      </a:solidFill>
                    </a:lnR>
                    <a:lnB w="19050">
                      <a:solidFill>
                        <a:srgbClr val="F5F7F2"/>
                      </a:solidFill>
                    </a:lnB>
                    <a:solidFill>
                      <a:srgbClr val="FFFFFF"/>
                    </a:solidFill>
                  </a:tcPr>
                </a:tc>
              </a:tr>
              <a:tr h="765810">
                <a:tc>
                  <a:txBody>
                    <a:bodyPr/>
                    <a:lstStyle/>
                    <a:p>
                      <a:r>
                        <a:rPr sz="1800" b="0">
                          <a:solidFill>
                            <a:srgbClr val="16352D"/>
                          </a:solidFill>
                          <a:latin typeface="Arial"/>
                          <a:ea typeface="Arial"/>
                          <a:cs typeface="Arial"/>
                        </a:rPr>
                        <a:t>Prepare</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800" b="0">
                          <a:solidFill>
                            <a:srgbClr val="16352D"/>
                          </a:solidFill>
                          <a:latin typeface="Arial"/>
                          <a:ea typeface="Arial"/>
                          <a:cs typeface="Arial"/>
                        </a:rPr>
                        <a:t>Confirm quantity and prepare harvest</a:t>
                      </a:r>
                    </a:p>
                  </a:txBody>
                  <a:tcPr marL="91440" marR="91440" marT="45720" marB="45720">
                    <a:lnR w="19050">
                      <a:solidFill>
                        <a:srgbClr val="F5F7F2"/>
                      </a:solidFill>
                    </a:lnR>
                    <a:lnB w="19050">
                      <a:solidFill>
                        <a:srgbClr val="F5F7F2"/>
                      </a:solidFill>
                    </a:lnB>
                    <a:solidFill>
                      <a:srgbClr val="E8F3EC"/>
                    </a:solidFill>
                  </a:tcPr>
                </a:tc>
                <a:tc>
                  <a:txBody>
                    <a:bodyPr/>
                    <a:lstStyle/>
                    <a:p>
                      <a:r>
                        <a:rPr sz="1800" b="0">
                          <a:solidFill>
                            <a:srgbClr val="16352D"/>
                          </a:solidFill>
                          <a:latin typeface="Arial"/>
                          <a:ea typeface="Arial"/>
                          <a:cs typeface="Arial"/>
                        </a:rPr>
                        <a:t>Provide destination and requirements</a:t>
                      </a:r>
                    </a:p>
                  </a:txBody>
                  <a:tcPr marL="91440" marR="91440" marT="45720" marB="45720">
                    <a:lnR w="19050">
                      <a:solidFill>
                        <a:srgbClr val="F5F7F2"/>
                      </a:solidFill>
                    </a:lnR>
                    <a:lnB w="19050">
                      <a:solidFill>
                        <a:srgbClr val="F5F7F2"/>
                      </a:solidFill>
                    </a:lnB>
                    <a:solidFill>
                      <a:srgbClr val="E8F3EC"/>
                    </a:solidFill>
                  </a:tcPr>
                </a:tc>
                <a:tc>
                  <a:txBody>
                    <a:bodyPr/>
                    <a:lstStyle/>
                    <a:p>
                      <a:r>
                        <a:rPr sz="1800" b="0">
                          <a:solidFill>
                            <a:srgbClr val="16352D"/>
                          </a:solidFill>
                          <a:latin typeface="Arial"/>
                          <a:ea typeface="Arial"/>
                          <a:cs typeface="Arial"/>
                        </a:rPr>
                        <a:t>Review the coordinated delivery job</a:t>
                      </a:r>
                    </a:p>
                  </a:txBody>
                  <a:tcPr marL="91440" marR="91440" marT="45720" marB="45720">
                    <a:lnR w="19050">
                      <a:solidFill>
                        <a:srgbClr val="F5F7F2"/>
                      </a:solidFill>
                    </a:lnR>
                    <a:lnB w="19050">
                      <a:solidFill>
                        <a:srgbClr val="F5F7F2"/>
                      </a:solidFill>
                    </a:lnB>
                    <a:solidFill>
                      <a:srgbClr val="E8F3EC"/>
                    </a:solidFill>
                  </a:tcPr>
                </a:tc>
              </a:tr>
              <a:tr h="765810">
                <a:tc>
                  <a:txBody>
                    <a:bodyPr/>
                    <a:lstStyle/>
                    <a:p>
                      <a:r>
                        <a:rPr sz="1800" b="0">
                          <a:solidFill>
                            <a:srgbClr val="16352D"/>
                          </a:solidFill>
                          <a:latin typeface="Arial"/>
                          <a:ea typeface="Arial"/>
                          <a:cs typeface="Arial"/>
                        </a:rPr>
                        <a:t>Transport</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800" b="0">
                          <a:solidFill>
                            <a:srgbClr val="16352D"/>
                          </a:solidFill>
                          <a:latin typeface="Arial"/>
                          <a:ea typeface="Arial"/>
                          <a:cs typeface="Arial"/>
                        </a:rPr>
                        <a:t>Hand over the produce</a:t>
                      </a:r>
                    </a:p>
                  </a:txBody>
                  <a:tcPr marL="91440" marR="91440" marT="45720" marB="45720">
                    <a:lnR w="19050">
                      <a:solidFill>
                        <a:srgbClr val="F5F7F2"/>
                      </a:solidFill>
                    </a:lnR>
                    <a:lnB w="19050">
                      <a:solidFill>
                        <a:srgbClr val="F5F7F2"/>
                      </a:solidFill>
                    </a:lnB>
                    <a:solidFill>
                      <a:srgbClr val="FFFFFF"/>
                    </a:solidFill>
                  </a:tcPr>
                </a:tc>
                <a:tc>
                  <a:txBody>
                    <a:bodyPr/>
                    <a:lstStyle/>
                    <a:p>
                      <a:r>
                        <a:rPr sz="1800" b="0">
                          <a:solidFill>
                            <a:srgbClr val="16352D"/>
                          </a:solidFill>
                          <a:latin typeface="Arial"/>
                          <a:ea typeface="Arial"/>
                          <a:cs typeface="Arial"/>
                        </a:rPr>
                        <a:t>Follow order progress</a:t>
                      </a:r>
                    </a:p>
                  </a:txBody>
                  <a:tcPr marL="91440" marR="91440" marT="45720" marB="45720">
                    <a:lnR w="19050">
                      <a:solidFill>
                        <a:srgbClr val="F5F7F2"/>
                      </a:solidFill>
                    </a:lnR>
                    <a:lnB w="19050">
                      <a:solidFill>
                        <a:srgbClr val="F5F7F2"/>
                      </a:solidFill>
                    </a:lnB>
                    <a:solidFill>
                      <a:srgbClr val="FFFFFF"/>
                    </a:solidFill>
                  </a:tcPr>
                </a:tc>
                <a:tc>
                  <a:txBody>
                    <a:bodyPr/>
                    <a:lstStyle/>
                    <a:p>
                      <a:r>
                        <a:rPr sz="1800" b="0">
                          <a:solidFill>
                            <a:srgbClr val="16352D"/>
                          </a:solidFill>
                          <a:latin typeface="Arial"/>
                          <a:ea typeface="Arial"/>
                          <a:cs typeface="Arial"/>
                        </a:rPr>
                        <a:t>Report pickup and in-transit status</a:t>
                      </a:r>
                    </a:p>
                  </a:txBody>
                  <a:tcPr marL="91440" marR="91440" marT="45720" marB="45720">
                    <a:lnR w="19050">
                      <a:solidFill>
                        <a:srgbClr val="F5F7F2"/>
                      </a:solidFill>
                    </a:lnR>
                    <a:lnB w="19050">
                      <a:solidFill>
                        <a:srgbClr val="F5F7F2"/>
                      </a:solidFill>
                    </a:lnB>
                    <a:solidFill>
                      <a:srgbClr val="FFFFFF"/>
                    </a:solidFill>
                  </a:tcPr>
                </a:tc>
              </a:tr>
              <a:tr h="765810">
                <a:tc>
                  <a:txBody>
                    <a:bodyPr/>
                    <a:lstStyle/>
                    <a:p>
                      <a:r>
                        <a:rPr sz="1800" b="0">
                          <a:solidFill>
                            <a:srgbClr val="16352D"/>
                          </a:solidFill>
                          <a:latin typeface="Arial"/>
                          <a:ea typeface="Arial"/>
                          <a:cs typeface="Arial"/>
                        </a:rPr>
                        <a:t>Complete</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800" b="0">
                          <a:solidFill>
                            <a:srgbClr val="16352D"/>
                          </a:solidFill>
                          <a:latin typeface="Arial"/>
                          <a:ea typeface="Arial"/>
                          <a:cs typeface="Arial"/>
                        </a:rPr>
                        <a:t>Review order completion</a:t>
                      </a:r>
                    </a:p>
                  </a:txBody>
                  <a:tcPr marL="91440" marR="91440" marT="45720" marB="45720">
                    <a:lnR w="19050">
                      <a:solidFill>
                        <a:srgbClr val="F5F7F2"/>
                      </a:solidFill>
                    </a:lnR>
                    <a:lnB w="19050">
                      <a:solidFill>
                        <a:srgbClr val="F5F7F2"/>
                      </a:solidFill>
                    </a:lnB>
                    <a:solidFill>
                      <a:srgbClr val="E8F3EC"/>
                    </a:solidFill>
                  </a:tcPr>
                </a:tc>
                <a:tc>
                  <a:txBody>
                    <a:bodyPr/>
                    <a:lstStyle/>
                    <a:p>
                      <a:r>
                        <a:rPr sz="1800" b="0">
                          <a:solidFill>
                            <a:srgbClr val="16352D"/>
                          </a:solidFill>
                          <a:latin typeface="Arial"/>
                          <a:ea typeface="Arial"/>
                          <a:cs typeface="Arial"/>
                        </a:rPr>
                        <a:t>Review delivery status</a:t>
                      </a:r>
                    </a:p>
                  </a:txBody>
                  <a:tcPr marL="91440" marR="91440" marT="45720" marB="45720">
                    <a:lnR w="19050">
                      <a:solidFill>
                        <a:srgbClr val="F5F7F2"/>
                      </a:solidFill>
                    </a:lnR>
                    <a:lnB w="19050">
                      <a:solidFill>
                        <a:srgbClr val="F5F7F2"/>
                      </a:solidFill>
                    </a:lnB>
                    <a:solidFill>
                      <a:srgbClr val="E8F3EC"/>
                    </a:solidFill>
                  </a:tcPr>
                </a:tc>
                <a:tc>
                  <a:txBody>
                    <a:bodyPr/>
                    <a:lstStyle/>
                    <a:p>
                      <a:r>
                        <a:rPr sz="1800" b="0">
                          <a:solidFill>
                            <a:srgbClr val="16352D"/>
                          </a:solidFill>
                          <a:latin typeface="Arial"/>
                          <a:ea typeface="Arial"/>
                          <a:cs typeface="Arial"/>
                        </a:rPr>
                        <a:t>Mark delivered and review activity</a:t>
                      </a:r>
                    </a:p>
                  </a:txBody>
                  <a:tcPr marL="91440" marR="91440" marT="45720" marB="45720">
                    <a:lnR w="19050">
                      <a:solidFill>
                        <a:srgbClr val="F5F7F2"/>
                      </a:solidFill>
                    </a:lnR>
                    <a:lnB w="19050">
                      <a:solidFill>
                        <a:srgbClr val="F5F7F2"/>
                      </a:solidFill>
                    </a:lnB>
                    <a:solidFill>
                      <a:srgbClr val="E8F3EC"/>
                    </a:solidFill>
                  </a:tcPr>
                </a:tc>
              </a:tr>
            </a:tbl>
          </a:graphicData>
        </a:graphic>
      </p:graphicFrame>
      <p:sp>
        <p:nvSpPr>
          <p:cNvPr id="4" name="">
            <a:extLst xmlns:a="http://schemas.openxmlformats.org/drawingml/2006/main">
              <a:ext uri="{FF2B5EF4-FFF2-40B4-BE49-F238E27FC236}">
                <a16:creationId xmlns:a16="http://schemas.microsoft.com/office/drawing/2014/main" id="{CF9853FA-2EEF-4749-8878-50A010B4650D}"/>
              </a:ext>
            </a:extLst>
          </p:cNvPr>
          <p:cNvSpPr>
            <a:spLocks xmlns:a="http://schemas.openxmlformats.org/drawingml/2006/main" noGrp="1"/>
          </p:cNvSpPr>
          <p:nvPr/>
        </p:nvSpPr>
        <p:spPr>
          <a:xfrm xmlns:a="http://schemas.openxmlformats.org/drawingml/2006/main">
            <a:off x="609600" y="58197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2756A"/>
                </a:solidFill>
                <a:latin typeface="Arial"/>
                <a:ea typeface="Arial"/>
                <a:cs typeface="Arial"/>
              </a:defRPr>
            </a:defPPr>
          </a:lstStyle>
          <a:p xmlns:a="http://schemas.openxmlformats.org/drawingml/2006/main">
            <a:pPr>
              <a:defRPr sz="1575" b="0">
                <a:solidFill>
                  <a:srgbClr val="62756A"/>
                </a:solidFill>
                <a:latin typeface="Arial"/>
                <a:ea typeface="Arial"/>
                <a:cs typeface="Arial"/>
              </a:defRPr>
            </a:pPr>
            <a:r>
              <a:rPr sz="1575" b="0">
                <a:solidFill>
                  <a:srgbClr val="62756A"/>
                </a:solidFill>
                <a:latin typeface="Arial"/>
                <a:ea typeface="Arial"/>
                <a:cs typeface="Arial"/>
              </a:rPr>
              <a:t>Coordinator/admin supports driver assignment. Buyer self-pickup is an alternative where selected.</a:t>
            </a:r>
          </a:p>
        </p:txBody>
      </p:sp>
    </p:spTree>
    <p:extLst>
      <p:ext uri="{BB962C8B-B14F-4D97-AF65-F5344CB8AC3E}">
        <p14:creationId xmlns:p14="http://schemas.microsoft.com/office/powerpoint/2010/main" val="322771031"/>
      </p:ext>
    </p:extLst>
  </p:cSld>
</p:sld>
</file>

<file path=ppt/slides/slide9.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13838C-A1A7-48AB-A990-20B2FB09C407}"/>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Our proposed advantage</a:t>
            </a:r>
          </a:p>
        </p:txBody>
      </p:sp>
      <p:sp>
        <p:nvSpPr>
          <p:cNvPr id="2" name="">
            <a:extLst xmlns:a="http://schemas.openxmlformats.org/drawingml/2006/main">
              <a:ext uri="{FF2B5EF4-FFF2-40B4-BE49-F238E27FC236}">
                <a16:creationId xmlns:a16="http://schemas.microsoft.com/office/drawing/2014/main" id="{D4264E00-DA37-461B-BC91-3F8D6EF54B4C}"/>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9</a:t>
            </a:r>
          </a:p>
        </p:txBody>
      </p:sp>
      <p:sp>
        <p:nvSpPr>
          <p:cNvPr id="3" name="">
            <a:extLst xmlns:a="http://schemas.openxmlformats.org/drawingml/2006/main">
              <a:ext uri="{FF2B5EF4-FFF2-40B4-BE49-F238E27FC236}">
                <a16:creationId xmlns:a16="http://schemas.microsoft.com/office/drawing/2014/main" id="{F4A6D800-7A18-489E-952B-C71C1FA32C93}"/>
              </a:ext>
            </a:extLst>
          </p:cNvPr>
          <p:cNvSpPr>
            <a:spLocks xmlns:a="http://schemas.openxmlformats.org/drawingml/2006/main" noGrp="1"/>
          </p:cNvSpPr>
          <p:nvPr/>
        </p:nvSpPr>
        <p:spPr>
          <a:xfrm xmlns:a="http://schemas.openxmlformats.org/drawingml/2006/main">
            <a:off x="609600" y="1676400"/>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7458"/>
                </a:solidFill>
                <a:latin typeface="Arial"/>
                <a:ea typeface="Arial"/>
                <a:cs typeface="Arial"/>
              </a:defRPr>
            </a:defPPr>
          </a:lstStyle>
          <a:p xmlns:a="http://schemas.openxmlformats.org/drawingml/2006/main">
            <a:pPr>
              <a:defRPr sz="3150" b="1">
                <a:solidFill>
                  <a:srgbClr val="167458"/>
                </a:solidFill>
                <a:latin typeface="Arial"/>
                <a:ea typeface="Arial"/>
                <a:cs typeface="Arial"/>
              </a:defRPr>
            </a:pPr>
            <a:r>
              <a:rPr sz="3150" b="1">
                <a:solidFill>
                  <a:srgbClr val="167458"/>
                </a:solidFill>
                <a:latin typeface="Arial"/>
                <a:ea typeface="Arial"/>
                <a:cs typeface="Arial"/>
              </a:rPr>
              <a:t>Connected trade and delivery workflows</a:t>
            </a:r>
          </a:p>
        </p:txBody>
      </p:sp>
      <p:sp>
        <p:nvSpPr>
          <p:cNvPr id="4" name="">
            <a:extLst xmlns:a="http://schemas.openxmlformats.org/drawingml/2006/main">
              <a:ext uri="{FF2B5EF4-FFF2-40B4-BE49-F238E27FC236}">
                <a16:creationId xmlns:a16="http://schemas.microsoft.com/office/drawing/2014/main" id="{DE3C19B9-19BE-4390-B2FA-8C39881F95B1}"/>
              </a:ext>
            </a:extLst>
          </p:cNvPr>
          <p:cNvSpPr>
            <a:spLocks xmlns:a="http://schemas.openxmlformats.org/drawingml/2006/main" noGrp="1"/>
          </p:cNvSpPr>
          <p:nvPr/>
        </p:nvSpPr>
        <p:spPr>
          <a:xfrm xmlns:a="http://schemas.openxmlformats.org/drawingml/2006/main">
            <a:off x="609600" y="29813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6352D"/>
                </a:solidFill>
                <a:latin typeface="Arial"/>
                <a:ea typeface="Arial"/>
                <a:cs typeface="Arial"/>
              </a:defRPr>
            </a:defPPr>
          </a:lstStyle>
          <a:p xmlns:a="http://schemas.openxmlformats.org/drawingml/2006/main">
            <a:pPr>
              <a:defRPr sz="2325" b="0">
                <a:solidFill>
                  <a:srgbClr val="16352D"/>
                </a:solidFill>
                <a:latin typeface="Arial"/>
                <a:ea typeface="Arial"/>
                <a:cs typeface="Arial"/>
              </a:defRPr>
            </a:pPr>
            <a:r>
              <a:rPr sz="2325" b="0">
                <a:solidFill>
                  <a:srgbClr val="16352D"/>
                </a:solidFill>
                <a:latin typeface="Arial"/>
                <a:ea typeface="Arial"/>
                <a:cs typeface="Arial"/>
              </a:rPr>
              <a:t>Farmers publish supply. Buyers order produce or post requirements.</a:t>
            </a:r>
          </a:p>
        </p:txBody>
      </p:sp>
      <p:sp>
        <p:nvSpPr>
          <p:cNvPr id="5" name="">
            <a:extLst xmlns:a="http://schemas.openxmlformats.org/drawingml/2006/main">
              <a:ext uri="{FF2B5EF4-FFF2-40B4-BE49-F238E27FC236}">
                <a16:creationId xmlns:a16="http://schemas.microsoft.com/office/drawing/2014/main" id="{6449E0F6-BF7C-4137-9FF2-6395AD8FCE27}"/>
              </a:ext>
            </a:extLst>
          </p:cNvPr>
          <p:cNvSpPr>
            <a:spLocks xmlns:a="http://schemas.openxmlformats.org/drawingml/2006/main" noGrp="1"/>
          </p:cNvSpPr>
          <p:nvPr/>
        </p:nvSpPr>
        <p:spPr>
          <a:xfrm xmlns:a="http://schemas.openxmlformats.org/drawingml/2006/main">
            <a:off x="609600" y="38957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6352D"/>
                </a:solidFill>
                <a:latin typeface="Arial"/>
                <a:ea typeface="Arial"/>
                <a:cs typeface="Arial"/>
              </a:defRPr>
            </a:defPPr>
          </a:lstStyle>
          <a:p xmlns:a="http://schemas.openxmlformats.org/drawingml/2006/main">
            <a:pPr>
              <a:defRPr sz="2325" b="0">
                <a:solidFill>
                  <a:srgbClr val="16352D"/>
                </a:solidFill>
                <a:latin typeface="Arial"/>
                <a:ea typeface="Arial"/>
                <a:cs typeface="Arial"/>
              </a:defRPr>
            </a:pPr>
            <a:r>
              <a:rPr sz="2325" b="0">
                <a:solidFill>
                  <a:srgbClr val="16352D"/>
                </a:solidFill>
                <a:latin typeface="Arial"/>
                <a:ea typeface="Arial"/>
                <a:cs typeface="Arial"/>
              </a:rPr>
              <a:t>Drivers manage vehicles and report pickup and delivery progress.</a:t>
            </a:r>
          </a:p>
        </p:txBody>
      </p:sp>
      <p:sp>
        <p:nvSpPr>
          <p:cNvPr id="6" name="">
            <a:extLst xmlns:a="http://schemas.openxmlformats.org/drawingml/2006/main">
              <a:ext uri="{FF2B5EF4-FFF2-40B4-BE49-F238E27FC236}">
                <a16:creationId xmlns:a16="http://schemas.microsoft.com/office/drawing/2014/main" id="{D3F0D304-013E-4030-9C6F-E4913817FFB7}"/>
              </a:ext>
            </a:extLst>
          </p:cNvPr>
          <p:cNvSpPr>
            <a:spLocks xmlns:a="http://schemas.openxmlformats.org/drawingml/2006/main" noGrp="1"/>
          </p:cNvSpPr>
          <p:nvPr/>
        </p:nvSpPr>
        <p:spPr>
          <a:xfrm xmlns:a="http://schemas.openxmlformats.org/drawingml/2006/main">
            <a:off x="609600" y="4810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6352D"/>
                </a:solidFill>
                <a:latin typeface="Arial"/>
                <a:ea typeface="Arial"/>
                <a:cs typeface="Arial"/>
              </a:defRPr>
            </a:defPPr>
          </a:lstStyle>
          <a:p xmlns:a="http://schemas.openxmlformats.org/drawingml/2006/main">
            <a:pPr>
              <a:defRPr sz="2325" b="0">
                <a:solidFill>
                  <a:srgbClr val="16352D"/>
                </a:solidFill>
                <a:latin typeface="Arial"/>
                <a:ea typeface="Arial"/>
                <a:cs typeface="Arial"/>
              </a:defRPr>
            </a:pPr>
            <a:r>
              <a:rPr sz="2325" b="0">
                <a:solidFill>
                  <a:srgbClr val="16352D"/>
                </a:solidFill>
                <a:latin typeface="Arial"/>
                <a:ea typeface="Arial"/>
                <a:cs typeface="Arial"/>
              </a:rPr>
              <a:t>Shared value to prove: clearer handoffs and dependable completed orders.</a:t>
            </a:r>
          </a:p>
        </p:txBody>
      </p:sp>
      <p:sp>
        <p:nvSpPr>
          <p:cNvPr id="7" name="">
            <a:extLst xmlns:a="http://schemas.openxmlformats.org/drawingml/2006/main">
              <a:ext uri="{FF2B5EF4-FFF2-40B4-BE49-F238E27FC236}">
                <a16:creationId xmlns:a16="http://schemas.microsoft.com/office/drawing/2014/main" id="{C19E220D-42B4-4AAE-9975-A24C1D4DDE0A}"/>
              </a:ext>
            </a:extLst>
          </p:cNvPr>
          <p:cNvSpPr>
            <a:spLocks xmlns:a="http://schemas.openxmlformats.org/drawingml/2006/main" noGrp="1"/>
          </p:cNvSpPr>
          <p:nvPr/>
        </p:nvSpPr>
        <p:spPr>
          <a:xfrm xmlns:a="http://schemas.openxmlformats.org/drawingml/2006/main">
            <a:off x="609600" y="605790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56A"/>
                </a:solidFill>
                <a:latin typeface="Arial"/>
                <a:ea typeface="Arial"/>
                <a:cs typeface="Arial"/>
              </a:defRPr>
            </a:defPPr>
          </a:lstStyle>
          <a:p xmlns:a="http://schemas.openxmlformats.org/drawingml/2006/main">
            <a:pPr>
              <a:defRPr sz="1275" b="0">
                <a:solidFill>
                  <a:srgbClr val="62756A"/>
                </a:solidFill>
                <a:latin typeface="Arial"/>
                <a:ea typeface="Arial"/>
                <a:cs typeface="Arial"/>
              </a:defRPr>
            </a:pPr>
            <a:r>
              <a:rPr sz="1275" b="0">
                <a:solidFill>
                  <a:srgbClr val="62756A"/>
                </a:solidFill>
                <a:latin typeface="Arial"/>
                <a:ea typeface="Arial"/>
                <a:cs typeface="Arial"/>
              </a:rPr>
              <a:t>Prototype today. Commercial reliability and customer outcomes remain unproven.</a:t>
            </a:r>
          </a:p>
        </p:txBody>
      </p:sp>
    </p:spTree>
    <p:extLst>
      <p:ext uri="{BB962C8B-B14F-4D97-AF65-F5344CB8AC3E}">
        <p14:creationId xmlns:p14="http://schemas.microsoft.com/office/powerpoint/2010/main" val="1251879720"/>
      </p:ext>
    </p:extLst>
  </p:cSld>
</p:sld>
</file>

<file path=ppt/slides/slide10.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1BD9E1-C0B3-48DB-9904-7AEFC952EFF9}"/>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Competitive landscape</a:t>
            </a:r>
          </a:p>
        </p:txBody>
      </p:sp>
      <p:sp>
        <p:nvSpPr>
          <p:cNvPr id="2" name="">
            <a:extLst xmlns:a="http://schemas.openxmlformats.org/drawingml/2006/main">
              <a:ext uri="{FF2B5EF4-FFF2-40B4-BE49-F238E27FC236}">
                <a16:creationId xmlns:a16="http://schemas.microsoft.com/office/drawing/2014/main" id="{BD0D9112-7E50-4AE7-B3CD-8FAF40C3203E}"/>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10</a:t>
            </a:r>
          </a:p>
        </p:txBody>
      </p:sp>
      <p:graphicFrame>
        <p:nvGraphicFramePr>
          <p:cNvPr id="3" name="">
            <a:extLst xmlns:a="http://schemas.openxmlformats.org/drawingml/2006/main">
              <a:ext uri="{FF2B5EF4-FFF2-40B4-BE49-F238E27FC236}">
                <a16:creationId xmlns:a16="http://schemas.microsoft.com/office/drawing/2014/main" id="{CB7E4C70-8832-4A10-A57E-676695D17048}"/>
              </a:ext>
            </a:extLst>
          </p:cNvPr>
          <p:cNvGraphicFramePr/>
          <p:nvPr/>
        </p:nvGraphicFramePr>
        <p:xfrm>
          <a:off xmlns:a="http://schemas.openxmlformats.org/drawingml/2006/main" x="609600" y="1628775"/>
          <a:ext xmlns:a="http://schemas.openxmlformats.org/drawingml/2006/main" cx="10972800" cy="3571875"/>
        </p:xfrm>
        <a:graphic xmlns:a="http://schemas.openxmlformats.org/drawingml/2006/main">
          <a:graphicData uri="http://schemas.openxmlformats.org/drawingml/2006/table">
            <a:tbl>
              <a:tblPr/>
              <a:tblGrid>
                <a:gridCol w="2286000"/>
                <a:gridCol w="4324350"/>
                <a:gridCol w="4362450"/>
              </a:tblGrid>
              <a:tr h="892969">
                <a:tc>
                  <a:txBody>
                    <a:bodyPr/>
                    <a:lstStyle/>
                    <a:p>
                      <a:r>
                        <a:rPr sz="1875" b="1">
                          <a:solidFill>
                            <a:srgbClr val="FFFFFF"/>
                          </a:solidFill>
                          <a:latin typeface="Arial"/>
                          <a:ea typeface="Arial"/>
                          <a:cs typeface="Arial"/>
                        </a:rPr>
                        <a:t>Alternative</a:t>
                      </a:r>
                    </a:p>
                  </a:txBody>
                  <a:tcPr marL="91440" marR="91440" marT="45720" marB="45720">
                    <a:lnL w="19050">
                      <a:solidFill>
                        <a:srgbClr val="F5F7F2"/>
                      </a:solidFill>
                    </a:lnL>
                    <a:lnR w="19050">
                      <a:solidFill>
                        <a:srgbClr val="F5F7F2"/>
                      </a:solidFill>
                    </a:lnR>
                    <a:lnT w="19050">
                      <a:solidFill>
                        <a:srgbClr val="F5F7F2"/>
                      </a:solidFill>
                    </a:lnT>
                    <a:lnB w="19050">
                      <a:solidFill>
                        <a:srgbClr val="F5F7F2"/>
                      </a:solidFill>
                    </a:lnB>
                    <a:solidFill>
                      <a:srgbClr val="167458"/>
                    </a:solidFill>
                  </a:tcPr>
                </a:tc>
                <a:tc>
                  <a:txBody>
                    <a:bodyPr/>
                    <a:lstStyle/>
                    <a:p>
                      <a:r>
                        <a:rPr sz="1875" b="1">
                          <a:solidFill>
                            <a:srgbClr val="FFFFFF"/>
                          </a:solidFill>
                          <a:latin typeface="Arial"/>
                          <a:ea typeface="Arial"/>
                          <a:cs typeface="Arial"/>
                        </a:rPr>
                        <a:t>Documented role / strength</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c>
                  <a:txBody>
                    <a:bodyPr/>
                    <a:lstStyle/>
                    <a:p>
                      <a:r>
                        <a:rPr sz="1875" b="1">
                          <a:solidFill>
                            <a:srgbClr val="FFFFFF"/>
                          </a:solidFill>
                          <a:latin typeface="Arial"/>
                          <a:ea typeface="Arial"/>
                          <a:cs typeface="Arial"/>
                        </a:rPr>
                        <a:t>GoviLink response</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r>
              <a:tr h="892969">
                <a:tc>
                  <a:txBody>
                    <a:bodyPr/>
                    <a:lstStyle/>
                    <a:p>
                      <a:r>
                        <a:rPr sz="1875" b="0">
                          <a:solidFill>
                            <a:srgbClr val="16352D"/>
                          </a:solidFill>
                          <a:latin typeface="Arial"/>
                          <a:ea typeface="Arial"/>
                          <a:cs typeface="Arial"/>
                        </a:rPr>
                        <a:t>Govi Mithuru</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875" b="0">
                          <a:solidFill>
                            <a:srgbClr val="16352D"/>
                          </a:solidFill>
                          <a:latin typeface="Arial"/>
                          <a:ea typeface="Arial"/>
                          <a:cs typeface="Arial"/>
                        </a:rPr>
                        <a:t>Crop advice and agricultural alerts</a:t>
                      </a:r>
                    </a:p>
                  </a:txBody>
                  <a:tcPr marL="91440" marR="91440" marT="45720" marB="45720">
                    <a:lnR w="19050">
                      <a:solidFill>
                        <a:srgbClr val="F5F7F2"/>
                      </a:solidFill>
                    </a:lnR>
                    <a:lnB w="19050">
                      <a:solidFill>
                        <a:srgbClr val="F5F7F2"/>
                      </a:solidFill>
                    </a:lnB>
                    <a:solidFill>
                      <a:srgbClr val="FFFFFF"/>
                    </a:solidFill>
                  </a:tcPr>
                </a:tc>
                <a:tc>
                  <a:txBody>
                    <a:bodyPr/>
                    <a:lstStyle/>
                    <a:p>
                      <a:r>
                        <a:rPr sz="1875" b="0">
                          <a:solidFill>
                            <a:srgbClr val="16352D"/>
                          </a:solidFill>
                          <a:latin typeface="Arial"/>
                          <a:ea typeface="Arial"/>
                          <a:cs typeface="Arial"/>
                        </a:rPr>
                        <a:t>Focus on trading and order coordination</a:t>
                      </a:r>
                    </a:p>
                  </a:txBody>
                  <a:tcPr marL="91440" marR="91440" marT="45720" marB="45720">
                    <a:lnR w="19050">
                      <a:solidFill>
                        <a:srgbClr val="F5F7F2"/>
                      </a:solidFill>
                    </a:lnR>
                    <a:lnB w="19050">
                      <a:solidFill>
                        <a:srgbClr val="F5F7F2"/>
                      </a:solidFill>
                    </a:lnB>
                    <a:solidFill>
                      <a:srgbClr val="FFFFFF"/>
                    </a:solidFill>
                  </a:tcPr>
                </a:tc>
              </a:tr>
              <a:tr h="892969">
                <a:tc>
                  <a:txBody>
                    <a:bodyPr/>
                    <a:lstStyle/>
                    <a:p>
                      <a:r>
                        <a:rPr sz="1875" b="0">
                          <a:solidFill>
                            <a:srgbClr val="16352D"/>
                          </a:solidFill>
                          <a:latin typeface="Arial"/>
                          <a:ea typeface="Arial"/>
                          <a:cs typeface="Arial"/>
                        </a:rPr>
                        <a:t>Govipola</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875" b="0">
                          <a:solidFill>
                            <a:srgbClr val="16352D"/>
                          </a:solidFill>
                          <a:latin typeface="Arial"/>
                          <a:ea typeface="Arial"/>
                          <a:cs typeface="Arial"/>
                        </a:rPr>
                        <a:t>Marketplace and supply–demand matching¹</a:t>
                      </a:r>
                    </a:p>
                  </a:txBody>
                  <a:tcPr marL="91440" marR="91440" marT="45720" marB="45720">
                    <a:lnR w="19050">
                      <a:solidFill>
                        <a:srgbClr val="F5F7F2"/>
                      </a:solidFill>
                    </a:lnR>
                    <a:lnB w="19050">
                      <a:solidFill>
                        <a:srgbClr val="F5F7F2"/>
                      </a:solidFill>
                    </a:lnB>
                    <a:solidFill>
                      <a:srgbClr val="E8F3EC"/>
                    </a:solidFill>
                  </a:tcPr>
                </a:tc>
                <a:tc>
                  <a:txBody>
                    <a:bodyPr/>
                    <a:lstStyle/>
                    <a:p>
                      <a:r>
                        <a:rPr sz="1875" b="0">
                          <a:solidFill>
                            <a:srgbClr val="16352D"/>
                          </a:solidFill>
                          <a:latin typeface="Arial"/>
                          <a:ea typeface="Arial"/>
                          <a:cs typeface="Arial"/>
                        </a:rPr>
                        <a:t>Prove reliable service on one route</a:t>
                      </a:r>
                    </a:p>
                  </a:txBody>
                  <a:tcPr marL="91440" marR="91440" marT="45720" marB="45720">
                    <a:lnR w="19050">
                      <a:solidFill>
                        <a:srgbClr val="F5F7F2"/>
                      </a:solidFill>
                    </a:lnR>
                    <a:lnB w="19050">
                      <a:solidFill>
                        <a:srgbClr val="F5F7F2"/>
                      </a:solidFill>
                    </a:lnB>
                    <a:solidFill>
                      <a:srgbClr val="E8F3EC"/>
                    </a:solidFill>
                  </a:tcPr>
                </a:tc>
              </a:tr>
              <a:tr h="892969">
                <a:tc>
                  <a:txBody>
                    <a:bodyPr/>
                    <a:lstStyle/>
                    <a:p>
                      <a:r>
                        <a:rPr sz="1875" b="0">
                          <a:solidFill>
                            <a:srgbClr val="16352D"/>
                          </a:solidFill>
                          <a:latin typeface="Arial"/>
                          <a:ea typeface="Arial"/>
                          <a:cs typeface="Arial"/>
                        </a:rPr>
                        <a:t>Calls and messages</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875" b="0">
                          <a:solidFill>
                            <a:srgbClr val="16352D"/>
                          </a:solidFill>
                          <a:latin typeface="Arial"/>
                          <a:ea typeface="Arial"/>
                          <a:cs typeface="Arial"/>
                        </a:rPr>
                        <a:t>Familiar communication²</a:t>
                      </a:r>
                    </a:p>
                  </a:txBody>
                  <a:tcPr marL="91440" marR="91440" marT="45720" marB="45720">
                    <a:lnR w="19050">
                      <a:solidFill>
                        <a:srgbClr val="F5F7F2"/>
                      </a:solidFill>
                    </a:lnR>
                    <a:lnB w="19050">
                      <a:solidFill>
                        <a:srgbClr val="F5F7F2"/>
                      </a:solidFill>
                    </a:lnB>
                    <a:solidFill>
                      <a:srgbClr val="FFFFFF"/>
                    </a:solidFill>
                  </a:tcPr>
                </a:tc>
                <a:tc>
                  <a:txBody>
                    <a:bodyPr/>
                    <a:lstStyle/>
                    <a:p>
                      <a:r>
                        <a:rPr sz="1875" b="0">
                          <a:solidFill>
                            <a:srgbClr val="16352D"/>
                          </a:solidFill>
                          <a:latin typeface="Arial"/>
                          <a:ea typeface="Arial"/>
                          <a:cs typeface="Arial"/>
                        </a:rPr>
                        <a:t>Test value of shared order records</a:t>
                      </a:r>
                    </a:p>
                  </a:txBody>
                  <a:tcPr marL="91440" marR="91440" marT="45720" marB="45720">
                    <a:lnR w="19050">
                      <a:solidFill>
                        <a:srgbClr val="F5F7F2"/>
                      </a:solidFill>
                    </a:lnR>
                    <a:lnB w="19050">
                      <a:solidFill>
                        <a:srgbClr val="F5F7F2"/>
                      </a:solidFill>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5A07FAA-6DDD-418E-8228-1DC6A0EDA1FC}"/>
              </a:ext>
            </a:extLst>
          </p:cNvPr>
          <p:cNvSpPr>
            <a:spLocks xmlns:a="http://schemas.openxmlformats.org/drawingml/2006/main" noGrp="1"/>
          </p:cNvSpPr>
          <p:nvPr/>
        </p:nvSpPr>
        <p:spPr>
          <a:xfrm xmlns:a="http://schemas.openxmlformats.org/drawingml/2006/main">
            <a:off x="609600" y="55816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2756A"/>
                </a:solidFill>
                <a:latin typeface="Arial"/>
                <a:ea typeface="Arial"/>
                <a:cs typeface="Arial"/>
              </a:defRPr>
            </a:defPPr>
          </a:lstStyle>
          <a:p xmlns:a="http://schemas.openxmlformats.org/drawingml/2006/main">
            <a:pPr>
              <a:defRPr sz="1425" b="0">
                <a:solidFill>
                  <a:srgbClr val="62756A"/>
                </a:solidFill>
                <a:latin typeface="Arial"/>
                <a:ea typeface="Arial"/>
                <a:cs typeface="Arial"/>
              </a:defRPr>
            </a:pPr>
            <a:r>
              <a:rPr sz="1425" b="0">
                <a:solidFill>
                  <a:srgbClr val="62756A"/>
                </a:solidFill>
                <a:latin typeface="Arial"/>
                <a:ea typeface="Arial"/>
                <a:cs typeface="Arial"/>
              </a:rPr>
              <a:t>¹ Historical CBSL description, 2019. Current service status unverified.</a:t>
            </a:r>
          </a:p>
          <a:p xmlns:a="http://schemas.openxmlformats.org/drawingml/2006/main">
            <a:pPr>
              <a:defRPr sz="1425" b="0">
                <a:solidFill>
                  <a:srgbClr val="62756A"/>
                </a:solidFill>
                <a:latin typeface="Arial"/>
                <a:ea typeface="Arial"/>
                <a:cs typeface="Arial"/>
              </a:defRPr>
            </a:pPr>
            <a:r>
              <a:rPr sz="1425" b="0">
                <a:solidFill>
                  <a:srgbClr val="62756A"/>
                </a:solidFill>
                <a:latin typeface="Arial"/>
                <a:ea typeface="Arial"/>
                <a:cs typeface="Arial"/>
              </a:rPr>
              <a:t>² Customer-behaviour hypothesis for interviews. No exclusivity claim.</a:t>
            </a:r>
          </a:p>
        </p:txBody>
      </p:sp>
    </p:spTree>
    <p:extLst>
      <p:ext uri="{BB962C8B-B14F-4D97-AF65-F5344CB8AC3E}">
        <p14:creationId xmlns:p14="http://schemas.microsoft.com/office/powerpoint/2010/main" val="1554120969"/>
      </p:ext>
    </p:extLst>
  </p:cSld>
</p:sld>
</file>

<file path=ppt/slides/slide11.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8E2898-5FA5-4CF9-AC22-5311D9B37D52}"/>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Revenue and value across all roles</a:t>
            </a:r>
          </a:p>
        </p:txBody>
      </p:sp>
      <p:sp>
        <p:nvSpPr>
          <p:cNvPr id="2" name="">
            <a:extLst xmlns:a="http://schemas.openxmlformats.org/drawingml/2006/main">
              <a:ext uri="{FF2B5EF4-FFF2-40B4-BE49-F238E27FC236}">
                <a16:creationId xmlns:a16="http://schemas.microsoft.com/office/drawing/2014/main" id="{44AE7AA7-9CE7-4BC2-95D4-DF42AA00D0DE}"/>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11</a:t>
            </a:r>
          </a:p>
        </p:txBody>
      </p:sp>
      <p:sp>
        <p:nvSpPr>
          <p:cNvPr id="3" name="">
            <a:extLst xmlns:a="http://schemas.openxmlformats.org/drawingml/2006/main">
              <a:ext uri="{FF2B5EF4-FFF2-40B4-BE49-F238E27FC236}">
                <a16:creationId xmlns:a16="http://schemas.microsoft.com/office/drawing/2014/main" id="{E13F552F-A173-43B2-A692-288F0621A2CD}"/>
              </a:ext>
            </a:extLst>
          </p:cNvPr>
          <p:cNvSpPr>
            <a:spLocks xmlns:a="http://schemas.openxmlformats.org/drawingml/2006/main" noGrp="1"/>
          </p:cNvSpPr>
          <p:nvPr/>
        </p:nvSpPr>
        <p:spPr>
          <a:xfrm xmlns:a="http://schemas.openxmlformats.org/drawingml/2006/main">
            <a:off x="609600" y="1724025"/>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7458"/>
                </a:solidFill>
                <a:latin typeface="Arial"/>
                <a:ea typeface="Arial"/>
                <a:cs typeface="Arial"/>
              </a:defRPr>
            </a:defPPr>
          </a:lstStyle>
          <a:p xmlns:a="http://schemas.openxmlformats.org/drawingml/2006/main">
            <a:pPr>
              <a:defRPr sz="3150" b="1">
                <a:solidFill>
                  <a:srgbClr val="167458"/>
                </a:solidFill>
                <a:latin typeface="Arial"/>
                <a:ea typeface="Arial"/>
                <a:cs typeface="Arial"/>
              </a:defRPr>
            </a:pPr>
            <a:r>
              <a:rPr sz="3150" b="1">
                <a:solidFill>
                  <a:srgbClr val="167458"/>
                </a:solidFill>
                <a:latin typeface="Arial"/>
                <a:ea typeface="Arial"/>
                <a:cs typeface="Arial"/>
              </a:rPr>
              <a:t>Free access for farmers, buyers and drivers</a:t>
            </a:r>
          </a:p>
        </p:txBody>
      </p:sp>
      <p:sp>
        <p:nvSpPr>
          <p:cNvPr id="4" name="">
            <a:extLst xmlns:a="http://schemas.openxmlformats.org/drawingml/2006/main">
              <a:ext uri="{FF2B5EF4-FFF2-40B4-BE49-F238E27FC236}">
                <a16:creationId xmlns:a16="http://schemas.microsoft.com/office/drawing/2014/main" id="{0EF5EF63-6601-4D4E-9A6C-CD05E455A1F5}"/>
              </a:ext>
            </a:extLst>
          </p:cNvPr>
          <p:cNvSpPr>
            <a:spLocks xmlns:a="http://schemas.openxmlformats.org/drawingml/2006/main" noGrp="1"/>
          </p:cNvSpPr>
          <p:nvPr/>
        </p:nvSpPr>
        <p:spPr>
          <a:xfrm xmlns:a="http://schemas.openxmlformats.org/drawingml/2006/main">
            <a:off x="609600" y="2714625"/>
            <a:ext cx="1028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0">
                <a:solidFill>
                  <a:srgbClr val="16352D"/>
                </a:solidFill>
                <a:latin typeface="Arial"/>
                <a:ea typeface="Arial"/>
                <a:cs typeface="Arial"/>
              </a:defRPr>
            </a:defPPr>
          </a:lstStyle>
          <a:p xmlns:a="http://schemas.openxmlformats.org/drawingml/2006/main">
            <a:pPr>
              <a:defRPr sz="2925" b="0">
                <a:solidFill>
                  <a:srgbClr val="16352D"/>
                </a:solidFill>
                <a:latin typeface="Arial"/>
                <a:ea typeface="Arial"/>
                <a:cs typeface="Arial"/>
              </a:defRPr>
            </a:pPr>
            <a:r>
              <a:rPr sz="2925" b="0">
                <a:solidFill>
                  <a:srgbClr val="16352D"/>
                </a:solidFill>
                <a:latin typeface="Arial"/>
                <a:ea typeface="Arial"/>
                <a:cs typeface="Arial"/>
              </a:rPr>
              <a:t>A proposed 3% fee on completed, settled produce orders</a:t>
            </a:r>
          </a:p>
        </p:txBody>
      </p:sp>
      <p:sp>
        <p:nvSpPr>
          <p:cNvPr id="5" name="">
            <a:extLst xmlns:a="http://schemas.openxmlformats.org/drawingml/2006/main">
              <a:ext uri="{FF2B5EF4-FFF2-40B4-BE49-F238E27FC236}">
                <a16:creationId xmlns:a16="http://schemas.microsoft.com/office/drawing/2014/main" id="{EA4E27AA-56D3-4971-A5ED-288AF1F9C515}"/>
              </a:ext>
            </a:extLst>
          </p:cNvPr>
          <p:cNvSpPr>
            <a:spLocks xmlns:a="http://schemas.openxmlformats.org/drawingml/2006/main" noGrp="1"/>
          </p:cNvSpPr>
          <p:nvPr/>
        </p:nvSpPr>
        <p:spPr>
          <a:xfrm xmlns:a="http://schemas.openxmlformats.org/drawingml/2006/main">
            <a:off x="609600" y="4381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Farmer and buyer</a:t>
            </a:r>
          </a:p>
        </p:txBody>
      </p:sp>
      <p:sp>
        <p:nvSpPr>
          <p:cNvPr id="6" name="">
            <a:extLst xmlns:a="http://schemas.openxmlformats.org/drawingml/2006/main">
              <a:ext uri="{FF2B5EF4-FFF2-40B4-BE49-F238E27FC236}">
                <a16:creationId xmlns:a16="http://schemas.microsoft.com/office/drawing/2014/main" id="{A1741D09-074A-4788-9F69-1506F7E4AA3B}"/>
              </a:ext>
            </a:extLst>
          </p:cNvPr>
          <p:cNvSpPr>
            <a:spLocks xmlns:a="http://schemas.openxmlformats.org/drawingml/2006/main" noGrp="1"/>
          </p:cNvSpPr>
          <p:nvPr/>
        </p:nvSpPr>
        <p:spPr>
          <a:xfrm xmlns:a="http://schemas.openxmlformats.org/drawingml/2006/main">
            <a:off x="609600" y="4905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Proposed seller fee on completed produce trades. Buyers receive a separate delivery quote.</a:t>
            </a:r>
          </a:p>
        </p:txBody>
      </p:sp>
      <p:sp>
        <p:nvSpPr>
          <p:cNvPr id="7" name="">
            <a:extLst xmlns:a="http://schemas.openxmlformats.org/drawingml/2006/main">
              <a:ext uri="{FF2B5EF4-FFF2-40B4-BE49-F238E27FC236}">
                <a16:creationId xmlns:a16="http://schemas.microsoft.com/office/drawing/2014/main" id="{1C12CF85-0B31-4D48-8210-46AF784D9DB6}"/>
              </a:ext>
            </a:extLst>
          </p:cNvPr>
          <p:cNvSpPr>
            <a:spLocks xmlns:a="http://schemas.openxmlformats.org/drawingml/2006/main" noGrp="1"/>
          </p:cNvSpPr>
          <p:nvPr/>
        </p:nvSpPr>
        <p:spPr>
          <a:xfrm xmlns:a="http://schemas.openxmlformats.org/drawingml/2006/main">
            <a:off x="6524625" y="4381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Driver</a:t>
            </a:r>
          </a:p>
        </p:txBody>
      </p:sp>
      <p:sp>
        <p:nvSpPr>
          <p:cNvPr id="8" name="">
            <a:extLst xmlns:a="http://schemas.openxmlformats.org/drawingml/2006/main">
              <a:ext uri="{FF2B5EF4-FFF2-40B4-BE49-F238E27FC236}">
                <a16:creationId xmlns:a16="http://schemas.microsoft.com/office/drawing/2014/main" id="{A9FCE9BB-C536-416F-9B8D-67F735FA1801}"/>
              </a:ext>
            </a:extLst>
          </p:cNvPr>
          <p:cNvSpPr>
            <a:spLocks xmlns:a="http://schemas.openxmlformats.org/drawingml/2006/main" noGrp="1"/>
          </p:cNvSpPr>
          <p:nvPr/>
        </p:nvSpPr>
        <p:spPr>
          <a:xfrm xmlns:a="http://schemas.openxmlformats.org/drawingml/2006/main">
            <a:off x="6524625" y="4905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Proposed delivery earnings funded by the delivery charge. No driver subscription in the pilot.</a:t>
            </a:r>
          </a:p>
        </p:txBody>
      </p:sp>
    </p:spTree>
    <p:extLst>
      <p:ext uri="{BB962C8B-B14F-4D97-AF65-F5344CB8AC3E}">
        <p14:creationId xmlns:p14="http://schemas.microsoft.com/office/powerpoint/2010/main" val="2016934107"/>
      </p:ext>
    </p:extLst>
  </p:cSld>
</p:sld>
</file>

<file path=ppt/slides/slide1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63C2AEF-73E9-41AC-B1DE-E09EB06031A7}"/>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Business model canvas</a:t>
            </a:r>
          </a:p>
        </p:txBody>
      </p:sp>
      <p:sp>
        <p:nvSpPr>
          <p:cNvPr id="2" name="">
            <a:extLst xmlns:a="http://schemas.openxmlformats.org/drawingml/2006/main">
              <a:ext uri="{FF2B5EF4-FFF2-40B4-BE49-F238E27FC236}">
                <a16:creationId xmlns:a16="http://schemas.microsoft.com/office/drawing/2014/main" id="{299A60E1-B7E8-48E1-8998-7E919AEF2E16}"/>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12</a:t>
            </a:r>
          </a:p>
        </p:txBody>
      </p:sp>
      <p:graphicFrame>
        <p:nvGraphicFramePr>
          <p:cNvPr id="3" name="">
            <a:extLst xmlns:a="http://schemas.openxmlformats.org/drawingml/2006/main">
              <a:ext uri="{FF2B5EF4-FFF2-40B4-BE49-F238E27FC236}">
                <a16:creationId xmlns:a16="http://schemas.microsoft.com/office/drawing/2014/main" id="{93486033-F0E5-44A8-BE2A-2BE10171A6AC}"/>
              </a:ext>
            </a:extLst>
          </p:cNvPr>
          <p:cNvGraphicFramePr/>
          <p:nvPr/>
        </p:nvGraphicFramePr>
        <p:xfrm>
          <a:off xmlns:a="http://schemas.openxmlformats.org/drawingml/2006/main" x="609600" y="1504950"/>
          <a:ext xmlns:a="http://schemas.openxmlformats.org/drawingml/2006/main" cx="10972800" cy="4562475"/>
        </p:xfrm>
        <a:graphic xmlns:a="http://schemas.openxmlformats.org/drawingml/2006/main">
          <a:graphicData uri="http://schemas.openxmlformats.org/drawingml/2006/table">
            <a:tbl>
              <a:tblPr/>
              <a:tblGrid>
                <a:gridCol w="2190750"/>
                <a:gridCol w="2190750"/>
                <a:gridCol w="2209800"/>
                <a:gridCol w="2190750"/>
                <a:gridCol w="2190750"/>
              </a:tblGrid>
              <a:tr h="457200">
                <a:tc>
                  <a:txBody>
                    <a:bodyPr/>
                    <a:lstStyle/>
                    <a:p>
                      <a:r>
                        <a:rPr sz="1575" b="1">
                          <a:solidFill>
                            <a:srgbClr val="FFFFFF"/>
                          </a:solidFill>
                          <a:latin typeface="Arial"/>
                          <a:ea typeface="Arial"/>
                          <a:cs typeface="Arial"/>
                        </a:rPr>
                        <a:t>Key partners</a:t>
                      </a:r>
                    </a:p>
                  </a:txBody>
                  <a:tcPr marL="91440" marR="91440" marT="45720" marB="45720">
                    <a:lnL w="19050">
                      <a:solidFill>
                        <a:srgbClr val="F5F7F2"/>
                      </a:solidFill>
                    </a:lnL>
                    <a:lnR w="19050">
                      <a:solidFill>
                        <a:srgbClr val="F5F7F2"/>
                      </a:solidFill>
                    </a:lnR>
                    <a:lnT w="19050">
                      <a:solidFill>
                        <a:srgbClr val="F5F7F2"/>
                      </a:solidFill>
                    </a:lnT>
                    <a:lnB w="19050">
                      <a:solidFill>
                        <a:srgbClr val="F5F7F2"/>
                      </a:solidFill>
                    </a:lnB>
                    <a:solidFill>
                      <a:srgbClr val="167458"/>
                    </a:solidFill>
                  </a:tcPr>
                </a:tc>
                <a:tc>
                  <a:txBody>
                    <a:bodyPr/>
                    <a:lstStyle/>
                    <a:p>
                      <a:r>
                        <a:rPr sz="1575" b="1">
                          <a:solidFill>
                            <a:srgbClr val="FFFFFF"/>
                          </a:solidFill>
                          <a:latin typeface="Arial"/>
                          <a:ea typeface="Arial"/>
                          <a:cs typeface="Arial"/>
                        </a:rPr>
                        <a:t>Key activities</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c>
                  <a:txBody>
                    <a:bodyPr/>
                    <a:lstStyle/>
                    <a:p>
                      <a:r>
                        <a:rPr sz="1575" b="1">
                          <a:solidFill>
                            <a:srgbClr val="FFFFFF"/>
                          </a:solidFill>
                          <a:latin typeface="Arial"/>
                          <a:ea typeface="Arial"/>
                          <a:cs typeface="Arial"/>
                        </a:rPr>
                        <a:t>Value proposition</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c>
                  <a:txBody>
                    <a:bodyPr/>
                    <a:lstStyle/>
                    <a:p>
                      <a:r>
                        <a:rPr sz="1575" b="1">
                          <a:solidFill>
                            <a:srgbClr val="FFFFFF"/>
                          </a:solidFill>
                          <a:latin typeface="Arial"/>
                          <a:ea typeface="Arial"/>
                          <a:cs typeface="Arial"/>
                        </a:rPr>
                        <a:t>Relationships</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c>
                  <a:txBody>
                    <a:bodyPr/>
                    <a:lstStyle/>
                    <a:p>
                      <a:r>
                        <a:rPr sz="1575" b="1">
                          <a:solidFill>
                            <a:srgbClr val="FFFFFF"/>
                          </a:solidFill>
                          <a:latin typeface="Arial"/>
                          <a:ea typeface="Arial"/>
                          <a:cs typeface="Arial"/>
                        </a:rPr>
                        <a:t>Customer segments</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r>
              <a:tr h="1047750">
                <a:tc rowSpan="3">
                  <a:txBody>
                    <a:bodyPr/>
                    <a:lstStyle/>
                    <a:p>
                      <a:r>
                        <a:rPr sz="1575" b="0">
                          <a:solidFill>
                            <a:srgbClr val="16352D"/>
                          </a:solidFill>
                          <a:latin typeface="Arial"/>
                          <a:ea typeface="Arial"/>
                          <a:cs typeface="Arial"/>
                        </a:rPr>
                        <a:t>Farmer groups</a:t>
                      </a:r>
                    </a:p>
                    <a:p>
                      <a:r>
                        <a:rPr sz="1575" b="0">
                          <a:solidFill>
                            <a:srgbClr val="16352D"/>
                          </a:solidFill>
                          <a:latin typeface="Arial"/>
                          <a:ea typeface="Arial"/>
                          <a:cs typeface="Arial"/>
                        </a:rPr>
                        <a:t>Buyers</a:t>
                      </a:r>
                    </a:p>
                    <a:p>
                      <a:r>
                        <a:rPr sz="1575" b="0">
                          <a:solidFill>
                            <a:srgbClr val="16352D"/>
                          </a:solidFill>
                          <a:latin typeface="Arial"/>
                          <a:ea typeface="Arial"/>
                          <a:cs typeface="Arial"/>
                        </a:rPr>
                        <a:t>Delivery operators</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575" b="0">
                          <a:solidFill>
                            <a:srgbClr val="16352D"/>
                          </a:solidFill>
                          <a:latin typeface="Arial"/>
                          <a:ea typeface="Arial"/>
                          <a:cs typeface="Arial"/>
                        </a:rPr>
                        <a:t>Role onboarding</a:t>
                      </a:r>
                    </a:p>
                    <a:p>
                      <a:r>
                        <a:rPr sz="1575" b="0">
                          <a:solidFill>
                            <a:srgbClr val="16352D"/>
                          </a:solidFill>
                          <a:latin typeface="Arial"/>
                          <a:ea typeface="Arial"/>
                          <a:cs typeface="Arial"/>
                        </a:rPr>
                        <a:t>Order and trip support</a:t>
                      </a:r>
                    </a:p>
                    <a:p>
                      <a:r>
                        <a:rPr sz="1575" b="0">
                          <a:solidFill>
                            <a:srgbClr val="16352D"/>
                          </a:solidFill>
                          <a:latin typeface="Arial"/>
                          <a:ea typeface="Arial"/>
                          <a:cs typeface="Arial"/>
                        </a:rPr>
                        <a:t>Quality checks</a:t>
                      </a:r>
                    </a:p>
                  </a:txBody>
                  <a:tcPr marL="91440" marR="91440" marT="45720" marB="45720">
                    <a:lnR w="19050">
                      <a:solidFill>
                        <a:srgbClr val="F5F7F2"/>
                      </a:solidFill>
                    </a:lnR>
                    <a:lnB w="19050">
                      <a:solidFill>
                        <a:srgbClr val="F5F7F2"/>
                      </a:solidFill>
                    </a:lnB>
                    <a:solidFill>
                      <a:srgbClr val="FFFFFF"/>
                    </a:solidFill>
                  </a:tcPr>
                </a:tc>
                <a:tc rowSpan="3">
                  <a:txBody>
                    <a:bodyPr/>
                    <a:lstStyle/>
                    <a:p>
                      <a:r>
                        <a:rPr sz="1575" b="0">
                          <a:solidFill>
                            <a:srgbClr val="16352D"/>
                          </a:solidFill>
                          <a:latin typeface="Arial"/>
                          <a:ea typeface="Arial"/>
                          <a:cs typeface="Arial"/>
                        </a:rPr>
                        <a:t>Supply and demand</a:t>
                      </a:r>
                    </a:p>
                    <a:p>
                      <a:r>
                        <a:rPr sz="1575" b="0">
                          <a:solidFill>
                            <a:srgbClr val="16352D"/>
                          </a:solidFill>
                          <a:latin typeface="Arial"/>
                          <a:ea typeface="Arial"/>
                          <a:cs typeface="Arial"/>
                        </a:rPr>
                        <a:t>Order visibility</a:t>
                      </a:r>
                    </a:p>
                    <a:p>
                      <a:r>
                        <a:rPr sz="1575" b="0">
                          <a:solidFill>
                            <a:srgbClr val="16352D"/>
                          </a:solidFill>
                          <a:latin typeface="Arial"/>
                          <a:ea typeface="Arial"/>
                          <a:cs typeface="Arial"/>
                        </a:rPr>
                        <a:t>Delivery coordination</a:t>
                      </a:r>
                    </a:p>
                  </a:txBody>
                  <a:tcPr marL="91440" marR="91440" marT="45720" marB="45720">
                    <a:lnR w="19050">
                      <a:solidFill>
                        <a:srgbClr val="F5F7F2"/>
                      </a:solidFill>
                    </a:lnR>
                    <a:lnB w="19050">
                      <a:solidFill>
                        <a:srgbClr val="F5F7F2"/>
                      </a:solidFill>
                    </a:lnB>
                    <a:solidFill>
                      <a:srgbClr val="FFFFFF"/>
                    </a:solidFill>
                  </a:tcPr>
                </a:tc>
                <a:tc>
                  <a:txBody>
                    <a:bodyPr/>
                    <a:lstStyle/>
                    <a:p>
                      <a:r>
                        <a:rPr sz="1575" b="0">
                          <a:solidFill>
                            <a:srgbClr val="16352D"/>
                          </a:solidFill>
                          <a:latin typeface="Arial"/>
                          <a:ea typeface="Arial"/>
                          <a:cs typeface="Arial"/>
                        </a:rPr>
                        <a:t>Role-specific setup</a:t>
                      </a:r>
                    </a:p>
                    <a:p>
                      <a:r>
                        <a:rPr sz="1575" b="0">
                          <a:solidFill>
                            <a:srgbClr val="16352D"/>
                          </a:solidFill>
                          <a:latin typeface="Arial"/>
                          <a:ea typeface="Arial"/>
                          <a:cs typeface="Arial"/>
                        </a:rPr>
                        <a:t>Trade and trip support</a:t>
                      </a:r>
                    </a:p>
                    <a:p>
                      <a:r>
                        <a:rPr sz="1575" b="0">
                          <a:solidFill>
                            <a:srgbClr val="16352D"/>
                          </a:solidFill>
                          <a:latin typeface="Arial"/>
                          <a:ea typeface="Arial"/>
                          <a:cs typeface="Arial"/>
                        </a:rPr>
                        <a:t>Dispute resolution</a:t>
                      </a:r>
                    </a:p>
                  </a:txBody>
                  <a:tcPr marL="91440" marR="91440" marT="45720" marB="45720">
                    <a:lnR w="19050">
                      <a:solidFill>
                        <a:srgbClr val="F5F7F2"/>
                      </a:solidFill>
                    </a:lnR>
                    <a:lnB w="19050">
                      <a:solidFill>
                        <a:srgbClr val="F5F7F2"/>
                      </a:solidFill>
                    </a:lnB>
                    <a:solidFill>
                      <a:srgbClr val="FFFFFF"/>
                    </a:solidFill>
                  </a:tcPr>
                </a:tc>
                <a:tc rowSpan="3">
                  <a:txBody>
                    <a:bodyPr/>
                    <a:lstStyle/>
                    <a:p>
                      <a:r>
                        <a:rPr sz="1575" b="0">
                          <a:solidFill>
                            <a:srgbClr val="16352D"/>
                          </a:solidFill>
                          <a:latin typeface="Arial"/>
                          <a:ea typeface="Arial"/>
                          <a:cs typeface="Arial"/>
                        </a:rPr>
                        <a:t>Growers</a:t>
                      </a:r>
                    </a:p>
                    <a:p>
                      <a:r>
                        <a:rPr sz="1575" b="0">
                          <a:solidFill>
                            <a:srgbClr val="16352D"/>
                          </a:solidFill>
                          <a:latin typeface="Arial"/>
                          <a:ea typeface="Arial"/>
                          <a:cs typeface="Arial"/>
                        </a:rPr>
                        <a:t>Business buyers</a:t>
                      </a:r>
                    </a:p>
                    <a:p>
                      <a:r>
                        <a:rPr sz="1575" b="0">
                          <a:solidFill>
                            <a:srgbClr val="16352D"/>
                          </a:solidFill>
                          <a:latin typeface="Arial"/>
                          <a:ea typeface="Arial"/>
                          <a:cs typeface="Arial"/>
                        </a:rPr>
                        <a:t>Drivers</a:t>
                      </a:r>
                    </a:p>
                  </a:txBody>
                  <a:tcPr marL="91440" marR="91440" marT="45720" marB="45720">
                    <a:lnR w="19050">
                      <a:solidFill>
                        <a:srgbClr val="F5F7F2"/>
                      </a:solidFill>
                    </a:lnR>
                    <a:lnB w="19050">
                      <a:solidFill>
                        <a:srgbClr val="F5F7F2"/>
                      </a:solidFill>
                    </a:lnB>
                    <a:solidFill>
                      <a:srgbClr val="FFFFFF"/>
                    </a:solidFill>
                  </a:tcPr>
                </a:tc>
              </a:tr>
              <a:tr h="361950">
                <a:tc vMerge="1">
                  <a:txBody>
                    <a:bodyPr/>
                    <a:lstStyle/>
                    <a:p>
                      <a:r>
                        <a:rPr sz="1575" b="0">
                          <a:solidFill>
                            <a:srgbClr val="16352D"/>
                          </a:solidFill>
                          <a:latin typeface="Arial"/>
                          <a:ea typeface="Arial"/>
                          <a:cs typeface="Arial"/>
                        </a:rPr>
                        <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575" b="1">
                          <a:solidFill>
                            <a:srgbClr val="167458"/>
                          </a:solidFill>
                          <a:latin typeface="Arial"/>
                          <a:ea typeface="Arial"/>
                          <a:cs typeface="Arial"/>
                        </a:rPr>
                        <a:t>Key resources</a:t>
                      </a:r>
                    </a:p>
                  </a:txBody>
                  <a:tcPr marL="91440" marR="91440" marT="45720" marB="45720">
                    <a:lnR w="19050">
                      <a:solidFill>
                        <a:srgbClr val="F5F7F2"/>
                      </a:solidFill>
                    </a:lnR>
                    <a:lnB w="19050">
                      <a:solidFill>
                        <a:srgbClr val="F5F7F2"/>
                      </a:solidFill>
                    </a:lnB>
                    <a:solidFill>
                      <a:srgbClr val="E8F3EC"/>
                    </a:solidFill>
                  </a:tcPr>
                </a:tc>
                <a:tc v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E8F3EC"/>
                    </a:solidFill>
                  </a:tcPr>
                </a:tc>
                <a:tc>
                  <a:txBody>
                    <a:bodyPr/>
                    <a:lstStyle/>
                    <a:p>
                      <a:r>
                        <a:rPr sz="1575" b="1">
                          <a:solidFill>
                            <a:srgbClr val="167458"/>
                          </a:solidFill>
                          <a:latin typeface="Arial"/>
                          <a:ea typeface="Arial"/>
                          <a:cs typeface="Arial"/>
                        </a:rPr>
                        <a:t>Channels</a:t>
                      </a:r>
                    </a:p>
                  </a:txBody>
                  <a:tcPr marL="91440" marR="91440" marT="45720" marB="45720">
                    <a:lnR w="19050">
                      <a:solidFill>
                        <a:srgbClr val="F5F7F2"/>
                      </a:solidFill>
                    </a:lnR>
                    <a:lnB w="19050">
                      <a:solidFill>
                        <a:srgbClr val="F5F7F2"/>
                      </a:solidFill>
                    </a:lnB>
                    <a:solidFill>
                      <a:srgbClr val="E8F3EC"/>
                    </a:solidFill>
                  </a:tcPr>
                </a:tc>
                <a:tc v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E8F3EC"/>
                    </a:solidFill>
                  </a:tcPr>
                </a:tc>
              </a:tr>
              <a:tr h="857250">
                <a:tc vMerge="1">
                  <a:txBody>
                    <a:bodyPr/>
                    <a:lstStyle/>
                    <a:p>
                      <a:r>
                        <a:rPr sz="1575" b="0">
                          <a:solidFill>
                            <a:srgbClr val="16352D"/>
                          </a:solidFill>
                          <a:latin typeface="Arial"/>
                          <a:ea typeface="Arial"/>
                          <a:cs typeface="Arial"/>
                        </a:rPr>
                        <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575" b="0">
                          <a:solidFill>
                            <a:srgbClr val="16352D"/>
                          </a:solidFill>
                          <a:latin typeface="Arial"/>
                          <a:ea typeface="Arial"/>
                          <a:cs typeface="Arial"/>
                        </a:rPr>
                        <a:t>Three role workflows</a:t>
                      </a:r>
                    </a:p>
                    <a:p>
                      <a:r>
                        <a:rPr sz="1575" b="0">
                          <a:solidFill>
                            <a:srgbClr val="16352D"/>
                          </a:solidFill>
                          <a:latin typeface="Arial"/>
                          <a:ea typeface="Arial"/>
                          <a:cs typeface="Arial"/>
                        </a:rPr>
                        <a:t>Team and backend</a:t>
                      </a:r>
                    </a:p>
                    <a:p>
                      <a:r>
                        <a:rPr sz="1575" b="0">
                          <a:solidFill>
                            <a:srgbClr val="16352D"/>
                          </a:solidFill>
                          <a:latin typeface="Arial"/>
                          <a:ea typeface="Arial"/>
                          <a:cs typeface="Arial"/>
                        </a:rPr>
                        <a:t>Partner network</a:t>
                      </a:r>
                    </a:p>
                  </a:txBody>
                  <a:tcPr marL="91440" marR="91440" marT="45720" marB="45720">
                    <a:lnR w="19050">
                      <a:solidFill>
                        <a:srgbClr val="F5F7F2"/>
                      </a:solidFill>
                    </a:lnR>
                    <a:lnB w="19050">
                      <a:solidFill>
                        <a:srgbClr val="F5F7F2"/>
                      </a:solidFill>
                    </a:lnB>
                    <a:solidFill>
                      <a:srgbClr val="FFFFFF"/>
                    </a:solidFill>
                  </a:tcPr>
                </a:tc>
                <a:tc v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FFFFFF"/>
                    </a:solidFill>
                  </a:tcPr>
                </a:tc>
                <a:tc>
                  <a:txBody>
                    <a:bodyPr/>
                    <a:lstStyle/>
                    <a:p>
                      <a:r>
                        <a:rPr sz="1575" b="0">
                          <a:solidFill>
                            <a:srgbClr val="16352D"/>
                          </a:solidFill>
                          <a:latin typeface="Arial"/>
                          <a:ea typeface="Arial"/>
                          <a:cs typeface="Arial"/>
                        </a:rPr>
                        <a:t>Cooperatives</a:t>
                      </a:r>
                    </a:p>
                    <a:p>
                      <a:r>
                        <a:rPr sz="1575" b="0">
                          <a:solidFill>
                            <a:srgbClr val="16352D"/>
                          </a:solidFill>
                          <a:latin typeface="Arial"/>
                          <a:ea typeface="Arial"/>
                          <a:cs typeface="Arial"/>
                        </a:rPr>
                        <a:t>Buyer visits</a:t>
                      </a:r>
                    </a:p>
                    <a:p>
                      <a:r>
                        <a:rPr sz="1575" b="0">
                          <a:solidFill>
                            <a:srgbClr val="16352D"/>
                          </a:solidFill>
                          <a:latin typeface="Arial"/>
                          <a:ea typeface="Arial"/>
                          <a:cs typeface="Arial"/>
                        </a:rPr>
                        <a:t>Referrals</a:t>
                      </a:r>
                    </a:p>
                  </a:txBody>
                  <a:tcPr marL="91440" marR="91440" marT="45720" marB="45720">
                    <a:lnR w="19050">
                      <a:solidFill>
                        <a:srgbClr val="F5F7F2"/>
                      </a:solidFill>
                    </a:lnR>
                    <a:lnB w="19050">
                      <a:solidFill>
                        <a:srgbClr val="F5F7F2"/>
                      </a:solidFill>
                    </a:lnB>
                    <a:solidFill>
                      <a:srgbClr val="FFFFFF"/>
                    </a:solidFill>
                  </a:tcPr>
                </a:tc>
                <a:tc v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FFFFFF"/>
                    </a:solidFill>
                  </a:tcPr>
                </a:tc>
              </a:tr>
              <a:tr h="361950">
                <a:tc gridSpan="3">
                  <a:txBody>
                    <a:bodyPr/>
                    <a:lstStyle/>
                    <a:p>
                      <a:r>
                        <a:rPr sz="1575" b="1">
                          <a:solidFill>
                            <a:srgbClr val="167458"/>
                          </a:solidFill>
                          <a:latin typeface="Arial"/>
                          <a:ea typeface="Arial"/>
                          <a:cs typeface="Arial"/>
                        </a:rPr>
                        <a:t>Cost structure</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h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E8F3EC"/>
                    </a:solidFill>
                  </a:tcPr>
                </a:tc>
                <a:tc h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E8F3EC"/>
                    </a:solidFill>
                  </a:tcPr>
                </a:tc>
                <a:tc gridSpan="2">
                  <a:txBody>
                    <a:bodyPr/>
                    <a:lstStyle/>
                    <a:p>
                      <a:r>
                        <a:rPr sz="1575" b="1">
                          <a:solidFill>
                            <a:srgbClr val="167458"/>
                          </a:solidFill>
                          <a:latin typeface="Arial"/>
                          <a:ea typeface="Arial"/>
                          <a:cs typeface="Arial"/>
                        </a:rPr>
                        <a:t>Revenue streams</a:t>
                      </a:r>
                    </a:p>
                  </a:txBody>
                  <a:tcPr marL="91440" marR="91440" marT="45720" marB="45720">
                    <a:lnR w="19050">
                      <a:solidFill>
                        <a:srgbClr val="F5F7F2"/>
                      </a:solidFill>
                    </a:lnR>
                    <a:lnB w="19050">
                      <a:solidFill>
                        <a:srgbClr val="F5F7F2"/>
                      </a:solidFill>
                    </a:lnB>
                    <a:solidFill>
                      <a:srgbClr val="E8F3EC"/>
                    </a:solidFill>
                  </a:tcPr>
                </a:tc>
                <a:tc h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E8F3EC"/>
                    </a:solidFill>
                  </a:tcPr>
                </a:tc>
              </a:tr>
              <a:tr h="685800">
                <a:tc gridSpan="3">
                  <a:txBody>
                    <a:bodyPr/>
                    <a:lstStyle/>
                    <a:p>
                      <a:r>
                        <a:rPr sz="1575" b="0">
                          <a:solidFill>
                            <a:srgbClr val="16352D"/>
                          </a:solidFill>
                          <a:latin typeface="Arial"/>
                          <a:ea typeface="Arial"/>
                          <a:cs typeface="Arial"/>
                        </a:rPr>
                        <a:t>Product, hosting, support, onboarding and field operations</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h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FFFFFF"/>
                    </a:solidFill>
                  </a:tcPr>
                </a:tc>
                <a:tc h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FFFFFF"/>
                    </a:solidFill>
                  </a:tcPr>
                </a:tc>
                <a:tc gridSpan="2">
                  <a:txBody>
                    <a:bodyPr/>
                    <a:lstStyle/>
                    <a:p>
                      <a:r>
                        <a:rPr sz="1575" b="0">
                          <a:solidFill>
                            <a:srgbClr val="16352D"/>
                          </a:solidFill>
                          <a:latin typeface="Arial"/>
                          <a:ea typeface="Arial"/>
                          <a:cs typeface="Arial"/>
                        </a:rPr>
                        <a:t>Proposed completed-order fee</a:t>
                      </a:r>
                    </a:p>
                    <a:p>
                      <a:r>
                        <a:rPr sz="1575" b="0">
                          <a:solidFill>
                            <a:srgbClr val="16352D"/>
                          </a:solidFill>
                          <a:latin typeface="Arial"/>
                          <a:ea typeface="Arial"/>
                          <a:cs typeface="Arial"/>
                        </a:rPr>
                        <a:t>Future premium buyer tools</a:t>
                      </a:r>
                    </a:p>
                  </a:txBody>
                  <a:tcPr marL="91440" marR="91440" marT="45720" marB="45720">
                    <a:lnR w="19050">
                      <a:solidFill>
                        <a:srgbClr val="F5F7F2"/>
                      </a:solidFill>
                    </a:lnR>
                    <a:lnB w="19050">
                      <a:solidFill>
                        <a:srgbClr val="F5F7F2"/>
                      </a:solidFill>
                    </a:lnB>
                    <a:solidFill>
                      <a:srgbClr val="FFFFFF"/>
                    </a:solidFill>
                  </a:tcPr>
                </a:tc>
                <a:tc hMerge="1">
                  <a:txBody>
                    <a:bodyPr/>
                    <a:lstStyle/>
                    <a:p>
                      <a:r>
                        <a:rPr sz="1575" b="0">
                          <a:solidFill>
                            <a:srgbClr val="16352D"/>
                          </a:solidFill>
                          <a:latin typeface="Arial"/>
                          <a:ea typeface="Arial"/>
                          <a:cs typeface="Arial"/>
                        </a:rPr>
                        <a:t/>
                      </a:r>
                    </a:p>
                  </a:txBody>
                  <a:tcPr marL="91440" marR="91440" marT="45720" marB="45720">
                    <a:lnR w="19050">
                      <a:solidFill>
                        <a:srgbClr val="F5F7F2"/>
                      </a:solidFill>
                    </a:lnR>
                    <a:lnB w="19050">
                      <a:solidFill>
                        <a:srgbClr val="F5F7F2"/>
                      </a:solidFill>
                    </a:lnB>
                    <a:solidFill>
                      <a:srgbClr val="FFFFFF"/>
                    </a:solidFill>
                  </a:tcPr>
                </a:tc>
              </a:tr>
            </a:tbl>
          </a:graphicData>
        </a:graphic>
      </p:graphicFrame>
    </p:spTree>
    <p:extLst>
      <p:ext uri="{BB962C8B-B14F-4D97-AF65-F5344CB8AC3E}">
        <p14:creationId xmlns:p14="http://schemas.microsoft.com/office/powerpoint/2010/main" val="311620459"/>
      </p:ext>
    </p:extLst>
  </p:cSld>
</p:sld>
</file>

<file path=ppt/slides/slide1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86E9620-35E1-4D12-B9D1-C85A0436FE1A}"/>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Pilot and growth plan</a:t>
            </a:r>
          </a:p>
        </p:txBody>
      </p:sp>
      <p:sp>
        <p:nvSpPr>
          <p:cNvPr id="2" name="">
            <a:extLst xmlns:a="http://schemas.openxmlformats.org/drawingml/2006/main">
              <a:ext uri="{FF2B5EF4-FFF2-40B4-BE49-F238E27FC236}">
                <a16:creationId xmlns:a16="http://schemas.microsoft.com/office/drawing/2014/main" id="{BD89B358-F4F1-4A31-87BA-ABC898159895}"/>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13</a:t>
            </a:r>
          </a:p>
        </p:txBody>
      </p:sp>
      <p:sp>
        <p:nvSpPr>
          <p:cNvPr id="3" name="">
            <a:extLst xmlns:a="http://schemas.openxmlformats.org/drawingml/2006/main">
              <a:ext uri="{FF2B5EF4-FFF2-40B4-BE49-F238E27FC236}">
                <a16:creationId xmlns:a16="http://schemas.microsoft.com/office/drawing/2014/main" id="{B4E24A8E-20B7-4B4C-91B1-7B9FA10C969D}"/>
              </a:ext>
            </a:extLst>
          </p:cNvPr>
          <p:cNvSpPr>
            <a:spLocks xmlns:a="http://schemas.openxmlformats.org/drawingml/2006/main" noGrp="1"/>
          </p:cNvSpPr>
          <p:nvPr/>
        </p:nvSpPr>
        <p:spPr>
          <a:xfrm xmlns:a="http://schemas.openxmlformats.org/drawingml/2006/main">
            <a:off x="609600" y="16859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Days 1–30</a:t>
            </a:r>
          </a:p>
        </p:txBody>
      </p:sp>
      <p:sp>
        <p:nvSpPr>
          <p:cNvPr id="4" name="">
            <a:extLst xmlns:a="http://schemas.openxmlformats.org/drawingml/2006/main">
              <a:ext uri="{FF2B5EF4-FFF2-40B4-BE49-F238E27FC236}">
                <a16:creationId xmlns:a16="http://schemas.microsoft.com/office/drawing/2014/main" id="{E695E3C8-C079-4CBE-8383-DBC27FBCD3C6}"/>
              </a:ext>
            </a:extLst>
          </p:cNvPr>
          <p:cNvSpPr>
            <a:spLocks xmlns:a="http://schemas.openxmlformats.org/drawingml/2006/main" noGrp="1"/>
          </p:cNvSpPr>
          <p:nvPr/>
        </p:nvSpPr>
        <p:spPr>
          <a:xfrm xmlns:a="http://schemas.openxmlformats.org/drawingml/2006/main">
            <a:off x="609600" y="2209800"/>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Customer interviews, field visits, language review and delivery-route validation.</a:t>
            </a:r>
          </a:p>
        </p:txBody>
      </p:sp>
      <p:sp>
        <p:nvSpPr>
          <p:cNvPr id="5" name="">
            <a:extLst xmlns:a="http://schemas.openxmlformats.org/drawingml/2006/main">
              <a:ext uri="{FF2B5EF4-FFF2-40B4-BE49-F238E27FC236}">
                <a16:creationId xmlns:a16="http://schemas.microsoft.com/office/drawing/2014/main" id="{509052E5-AB8D-4FAC-9338-F75B1D06E64D}"/>
              </a:ext>
            </a:extLst>
          </p:cNvPr>
          <p:cNvSpPr>
            <a:spLocks xmlns:a="http://schemas.openxmlformats.org/drawingml/2006/main" noGrp="1"/>
          </p:cNvSpPr>
          <p:nvPr/>
        </p:nvSpPr>
        <p:spPr>
          <a:xfrm xmlns:a="http://schemas.openxmlformats.org/drawingml/2006/main">
            <a:off x="6524625" y="16859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Days 31–60</a:t>
            </a:r>
          </a:p>
        </p:txBody>
      </p:sp>
      <p:sp>
        <p:nvSpPr>
          <p:cNvPr id="6" name="">
            <a:extLst xmlns:a="http://schemas.openxmlformats.org/drawingml/2006/main">
              <a:ext uri="{FF2B5EF4-FFF2-40B4-BE49-F238E27FC236}">
                <a16:creationId xmlns:a16="http://schemas.microsoft.com/office/drawing/2014/main" id="{1697D59F-6AE8-4870-9DD3-13A581D9C241}"/>
              </a:ext>
            </a:extLst>
          </p:cNvPr>
          <p:cNvSpPr>
            <a:spLocks xmlns:a="http://schemas.openxmlformats.org/drawingml/2006/main" noGrp="1"/>
          </p:cNvSpPr>
          <p:nvPr/>
        </p:nvSpPr>
        <p:spPr>
          <a:xfrm xmlns:a="http://schemas.openxmlformats.org/drawingml/2006/main">
            <a:off x="6524625" y="2209800"/>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Assisted onboarding and a small live trial with recurring business buyers.</a:t>
            </a:r>
          </a:p>
        </p:txBody>
      </p:sp>
      <p:sp>
        <p:nvSpPr>
          <p:cNvPr id="7" name="">
            <a:extLst xmlns:a="http://schemas.openxmlformats.org/drawingml/2006/main">
              <a:ext uri="{FF2B5EF4-FFF2-40B4-BE49-F238E27FC236}">
                <a16:creationId xmlns:a16="http://schemas.microsoft.com/office/drawing/2014/main" id="{365C0792-A73D-48D8-BC0F-0611CE5E84F3}"/>
              </a:ext>
            </a:extLst>
          </p:cNvPr>
          <p:cNvSpPr>
            <a:spLocks xmlns:a="http://schemas.openxmlformats.org/drawingml/2006/main" noGrp="1"/>
          </p:cNvSpPr>
          <p:nvPr/>
        </p:nvSpPr>
        <p:spPr>
          <a:xfrm xmlns:a="http://schemas.openxmlformats.org/drawingml/2006/main">
            <a:off x="609600" y="39909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Days 61–90</a:t>
            </a:r>
          </a:p>
        </p:txBody>
      </p:sp>
      <p:sp>
        <p:nvSpPr>
          <p:cNvPr id="8" name="">
            <a:extLst xmlns:a="http://schemas.openxmlformats.org/drawingml/2006/main">
              <a:ext uri="{FF2B5EF4-FFF2-40B4-BE49-F238E27FC236}">
                <a16:creationId xmlns:a16="http://schemas.microsoft.com/office/drawing/2014/main" id="{37E3DC2B-F32C-4F78-9C18-33D5C3451A09}"/>
              </a:ext>
            </a:extLst>
          </p:cNvPr>
          <p:cNvSpPr>
            <a:spLocks xmlns:a="http://schemas.openxmlformats.org/drawingml/2006/main" noGrp="1"/>
          </p:cNvSpPr>
          <p:nvPr/>
        </p:nvSpPr>
        <p:spPr>
          <a:xfrm xmlns:a="http://schemas.openxmlformats.org/drawingml/2006/main">
            <a:off x="609600" y="4514850"/>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Target 100 farmers, 30 buyers and 5 active drivers. Aim for 100 orders in month three.</a:t>
            </a:r>
          </a:p>
        </p:txBody>
      </p:sp>
      <p:sp>
        <p:nvSpPr>
          <p:cNvPr id="9" name="">
            <a:extLst xmlns:a="http://schemas.openxmlformats.org/drawingml/2006/main">
              <a:ext uri="{FF2B5EF4-FFF2-40B4-BE49-F238E27FC236}">
                <a16:creationId xmlns:a16="http://schemas.microsoft.com/office/drawing/2014/main" id="{400F751E-A2DC-4AD6-AFCB-A1DEB045EEC1}"/>
              </a:ext>
            </a:extLst>
          </p:cNvPr>
          <p:cNvSpPr>
            <a:spLocks xmlns:a="http://schemas.openxmlformats.org/drawingml/2006/main" noGrp="1"/>
          </p:cNvSpPr>
          <p:nvPr/>
        </p:nvSpPr>
        <p:spPr>
          <a:xfrm xmlns:a="http://schemas.openxmlformats.org/drawingml/2006/main">
            <a:off x="6524625" y="39909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Expansion gate</a:t>
            </a:r>
          </a:p>
        </p:txBody>
      </p:sp>
      <p:sp>
        <p:nvSpPr>
          <p:cNvPr id="10" name="">
            <a:extLst xmlns:a="http://schemas.openxmlformats.org/drawingml/2006/main">
              <a:ext uri="{FF2B5EF4-FFF2-40B4-BE49-F238E27FC236}">
                <a16:creationId xmlns:a16="http://schemas.microsoft.com/office/drawing/2014/main" id="{C93B6AAB-F57D-479F-A109-A2E5E1962DE3}"/>
              </a:ext>
            </a:extLst>
          </p:cNvPr>
          <p:cNvSpPr>
            <a:spLocks xmlns:a="http://schemas.openxmlformats.org/drawingml/2006/main" noGrp="1"/>
          </p:cNvSpPr>
          <p:nvPr/>
        </p:nvSpPr>
        <p:spPr>
          <a:xfrm xmlns:a="http://schemas.openxmlformats.org/drawingml/2006/main">
            <a:off x="6524625" y="4514850"/>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Target ≥80% order completion and ≥30% buyer repeat. Track on-time driver pickups.</a:t>
            </a:r>
          </a:p>
        </p:txBody>
      </p:sp>
      <p:sp>
        <p:nvSpPr>
          <p:cNvPr id="11" name="">
            <a:extLst xmlns:a="http://schemas.openxmlformats.org/drawingml/2006/main">
              <a:ext uri="{FF2B5EF4-FFF2-40B4-BE49-F238E27FC236}">
                <a16:creationId xmlns:a16="http://schemas.microsoft.com/office/drawing/2014/main" id="{BCAC58F6-D34A-45EC-B232-4A874F39466C}"/>
              </a:ext>
            </a:extLst>
          </p:cNvPr>
          <p:cNvSpPr>
            <a:spLocks xmlns:a="http://schemas.openxmlformats.org/drawingml/2006/main" noGrp="1"/>
          </p:cNvSpPr>
          <p:nvPr/>
        </p:nvSpPr>
        <p:spPr>
          <a:xfrm xmlns:a="http://schemas.openxmlformats.org/drawingml/2006/main">
            <a:off x="609600" y="6096000"/>
            <a:ext cx="1095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56A"/>
                </a:solidFill>
                <a:latin typeface="Arial"/>
                <a:ea typeface="Arial"/>
                <a:cs typeface="Arial"/>
              </a:defRPr>
            </a:defPPr>
          </a:lstStyle>
          <a:p xmlns:a="http://schemas.openxmlformats.org/drawingml/2006/main">
            <a:pPr>
              <a:defRPr sz="1275" b="0">
                <a:solidFill>
                  <a:srgbClr val="62756A"/>
                </a:solidFill>
                <a:latin typeface="Arial"/>
                <a:ea typeface="Arial"/>
                <a:cs typeface="Arial"/>
              </a:defRPr>
            </a:pPr>
            <a:r>
              <a:rPr sz="1275" b="0">
                <a:solidFill>
                  <a:srgbClr val="62756A"/>
                </a:solidFill>
                <a:latin typeface="Arial"/>
                <a:ea typeface="Arial"/>
                <a:cs typeface="Arial"/>
              </a:rPr>
              <a:t>Targets, not achieved results. Expand to a second route only after the pilot meets its gates.</a:t>
            </a:r>
          </a:p>
        </p:txBody>
      </p:sp>
    </p:spTree>
    <p:extLst>
      <p:ext uri="{BB962C8B-B14F-4D97-AF65-F5344CB8AC3E}">
        <p14:creationId xmlns:p14="http://schemas.microsoft.com/office/powerpoint/2010/main" val="1740175385"/>
      </p:ext>
    </p:extLst>
  </p:cSld>
</p:sld>
</file>

<file path=ppt/slides/slide14.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A20CE5-3974-413C-8ADF-F4FC105FA8F3}"/>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Illustrative monthly economics</a:t>
            </a:r>
          </a:p>
        </p:txBody>
      </p:sp>
      <p:sp>
        <p:nvSpPr>
          <p:cNvPr id="2" name="">
            <a:extLst xmlns:a="http://schemas.openxmlformats.org/drawingml/2006/main">
              <a:ext uri="{FF2B5EF4-FFF2-40B4-BE49-F238E27FC236}">
                <a16:creationId xmlns:a16="http://schemas.microsoft.com/office/drawing/2014/main" id="{C1FEEE6A-B058-4D8B-A5F1-2BB3A75EED78}"/>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14</a:t>
            </a:r>
          </a:p>
        </p:txBody>
      </p:sp>
      <p:graphicFrame>
        <p:nvGraphicFramePr>
          <p:cNvPr id="3" name="">
            <a:extLst xmlns:a="http://schemas.openxmlformats.org/drawingml/2006/main">
              <a:ext uri="{FF2B5EF4-FFF2-40B4-BE49-F238E27FC236}">
                <a16:creationId xmlns:a16="http://schemas.microsoft.com/office/drawing/2014/main" id="{F2DA07C7-5BDD-4FF4-AB23-05FA81AE93BE}"/>
              </a:ext>
            </a:extLst>
          </p:cNvPr>
          <p:cNvGraphicFramePr/>
          <p:nvPr/>
        </p:nvGraphicFramePr>
        <p:xfrm>
          <a:off xmlns:a="http://schemas.openxmlformats.org/drawingml/2006/main" x="609600" y="1524000"/>
          <a:ext xmlns:a="http://schemas.openxmlformats.org/drawingml/2006/main" cx="10972800" cy="3781425"/>
        </p:xfrm>
        <a:graphic xmlns:a="http://schemas.openxmlformats.org/drawingml/2006/main">
          <a:graphicData uri="http://schemas.openxmlformats.org/drawingml/2006/table">
            <a:tbl>
              <a:tblPr/>
              <a:tblGrid>
                <a:gridCol w="4572000"/>
                <a:gridCol w="2133600"/>
                <a:gridCol w="2133600"/>
                <a:gridCol w="2133600"/>
              </a:tblGrid>
              <a:tr h="540204">
                <a:tc>
                  <a:txBody>
                    <a:bodyPr/>
                    <a:lstStyle/>
                    <a:p>
                      <a:r>
                        <a:rPr sz="1725" b="1">
                          <a:solidFill>
                            <a:srgbClr val="FFFFFF"/>
                          </a:solidFill>
                          <a:latin typeface="Arial"/>
                          <a:ea typeface="Arial"/>
                          <a:cs typeface="Arial"/>
                        </a:rPr>
                        <a:t>Monthly metric</a:t>
                      </a:r>
                    </a:p>
                  </a:txBody>
                  <a:tcPr marL="91440" marR="91440" marT="45720" marB="45720">
                    <a:lnL w="19050">
                      <a:solidFill>
                        <a:srgbClr val="F5F7F2"/>
                      </a:solidFill>
                    </a:lnL>
                    <a:lnR w="19050">
                      <a:solidFill>
                        <a:srgbClr val="F5F7F2"/>
                      </a:solidFill>
                    </a:lnR>
                    <a:lnT w="19050">
                      <a:solidFill>
                        <a:srgbClr val="F5F7F2"/>
                      </a:solidFill>
                    </a:lnT>
                    <a:lnB w="19050">
                      <a:solidFill>
                        <a:srgbClr val="F5F7F2"/>
                      </a:solidFill>
                    </a:lnB>
                    <a:solidFill>
                      <a:srgbClr val="167458"/>
                    </a:solidFill>
                  </a:tcPr>
                </a:tc>
                <a:tc>
                  <a:txBody>
                    <a:bodyPr/>
                    <a:lstStyle/>
                    <a:p>
                      <a:r>
                        <a:rPr sz="1725" b="1">
                          <a:solidFill>
                            <a:srgbClr val="FFFFFF"/>
                          </a:solidFill>
                          <a:latin typeface="Arial"/>
                          <a:ea typeface="Arial"/>
                          <a:cs typeface="Arial"/>
                        </a:rPr>
                        <a:t>Low</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c>
                  <a:txBody>
                    <a:bodyPr/>
                    <a:lstStyle/>
                    <a:p>
                      <a:r>
                        <a:rPr sz="1725" b="1">
                          <a:solidFill>
                            <a:srgbClr val="FFFFFF"/>
                          </a:solidFill>
                          <a:latin typeface="Arial"/>
                          <a:ea typeface="Arial"/>
                          <a:cs typeface="Arial"/>
                        </a:rPr>
                        <a:t>Base</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c>
                  <a:txBody>
                    <a:bodyPr/>
                    <a:lstStyle/>
                    <a:p>
                      <a:r>
                        <a:rPr sz="1725" b="1">
                          <a:solidFill>
                            <a:srgbClr val="FFFFFF"/>
                          </a:solidFill>
                          <a:latin typeface="Arial"/>
                          <a:ea typeface="Arial"/>
                          <a:cs typeface="Arial"/>
                        </a:rPr>
                        <a:t>High</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r>
              <a:tr h="540204">
                <a:tc>
                  <a:txBody>
                    <a:bodyPr/>
                    <a:lstStyle/>
                    <a:p>
                      <a:r>
                        <a:rPr sz="1725" b="0">
                          <a:solidFill>
                            <a:srgbClr val="16352D"/>
                          </a:solidFill>
                          <a:latin typeface="Arial"/>
                          <a:ea typeface="Arial"/>
                          <a:cs typeface="Arial"/>
                        </a:rPr>
                        <a:t>Completed orders</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100</a:t>
                      </a:r>
                    </a:p>
                  </a:txBody>
                  <a:tcPr marL="91440" marR="91440" marT="45720" marB="45720">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300</a:t>
                      </a:r>
                    </a:p>
                  </a:txBody>
                  <a:tcPr marL="91440" marR="91440" marT="45720" marB="45720">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600</a:t>
                      </a:r>
                    </a:p>
                  </a:txBody>
                  <a:tcPr marL="91440" marR="91440" marT="45720" marB="45720">
                    <a:lnR w="19050">
                      <a:solidFill>
                        <a:srgbClr val="F5F7F2"/>
                      </a:solidFill>
                    </a:lnR>
                    <a:lnB w="19050">
                      <a:solidFill>
                        <a:srgbClr val="F5F7F2"/>
                      </a:solidFill>
                    </a:lnB>
                    <a:solidFill>
                      <a:srgbClr val="FFFFFF"/>
                    </a:solidFill>
                  </a:tcPr>
                </a:tc>
              </a:tr>
              <a:tr h="540204">
                <a:tc>
                  <a:txBody>
                    <a:bodyPr/>
                    <a:lstStyle/>
                    <a:p>
                      <a:r>
                        <a:rPr sz="1725" b="0">
                          <a:solidFill>
                            <a:srgbClr val="16352D"/>
                          </a:solidFill>
                          <a:latin typeface="Arial"/>
                          <a:ea typeface="Arial"/>
                          <a:cs typeface="Arial"/>
                        </a:rPr>
                        <a:t>Produce traded (Rs.)</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1,000,000</a:t>
                      </a:r>
                    </a:p>
                  </a:txBody>
                  <a:tcPr marL="91440" marR="91440" marT="45720" marB="45720">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3,000,000</a:t>
                      </a:r>
                    </a:p>
                  </a:txBody>
                  <a:tcPr marL="91440" marR="91440" marT="45720" marB="45720">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6,000,000</a:t>
                      </a:r>
                    </a:p>
                  </a:txBody>
                  <a:tcPr marL="91440" marR="91440" marT="45720" marB="45720">
                    <a:lnR w="19050">
                      <a:solidFill>
                        <a:srgbClr val="F5F7F2"/>
                      </a:solidFill>
                    </a:lnR>
                    <a:lnB w="19050">
                      <a:solidFill>
                        <a:srgbClr val="F5F7F2"/>
                      </a:solidFill>
                    </a:lnB>
                    <a:solidFill>
                      <a:srgbClr val="E8F3EC"/>
                    </a:solidFill>
                  </a:tcPr>
                </a:tc>
              </a:tr>
              <a:tr h="540204">
                <a:tc>
                  <a:txBody>
                    <a:bodyPr/>
                    <a:lstStyle/>
                    <a:p>
                      <a:r>
                        <a:rPr sz="1725" b="0">
                          <a:solidFill>
                            <a:srgbClr val="16352D"/>
                          </a:solidFill>
                          <a:latin typeface="Arial"/>
                          <a:ea typeface="Arial"/>
                          <a:cs typeface="Arial"/>
                        </a:rPr>
                        <a:t>Fee revenue at 3% (Rs.)</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30,000</a:t>
                      </a:r>
                    </a:p>
                  </a:txBody>
                  <a:tcPr marL="91440" marR="91440" marT="45720" marB="45720">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90,000</a:t>
                      </a:r>
                    </a:p>
                  </a:txBody>
                  <a:tcPr marL="91440" marR="91440" marT="45720" marB="45720">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180,000</a:t>
                      </a:r>
                    </a:p>
                  </a:txBody>
                  <a:tcPr marL="91440" marR="91440" marT="45720" marB="45720">
                    <a:lnR w="19050">
                      <a:solidFill>
                        <a:srgbClr val="F5F7F2"/>
                      </a:solidFill>
                    </a:lnR>
                    <a:lnB w="19050">
                      <a:solidFill>
                        <a:srgbClr val="F5F7F2"/>
                      </a:solidFill>
                    </a:lnB>
                    <a:solidFill>
                      <a:srgbClr val="FFFFFF"/>
                    </a:solidFill>
                  </a:tcPr>
                </a:tc>
              </a:tr>
              <a:tr h="540204">
                <a:tc>
                  <a:txBody>
                    <a:bodyPr/>
                    <a:lstStyle/>
                    <a:p>
                      <a:r>
                        <a:rPr sz="1725" b="0">
                          <a:solidFill>
                            <a:srgbClr val="16352D"/>
                          </a:solidFill>
                          <a:latin typeface="Arial"/>
                          <a:ea typeface="Arial"/>
                          <a:cs typeface="Arial"/>
                        </a:rPr>
                        <a:t>Variable costs (Rs.)</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10,000</a:t>
                      </a:r>
                    </a:p>
                  </a:txBody>
                  <a:tcPr marL="91440" marR="91440" marT="45720" marB="45720">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30,000</a:t>
                      </a:r>
                    </a:p>
                  </a:txBody>
                  <a:tcPr marL="91440" marR="91440" marT="45720" marB="45720">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60,000</a:t>
                      </a:r>
                    </a:p>
                  </a:txBody>
                  <a:tcPr marL="91440" marR="91440" marT="45720" marB="45720">
                    <a:lnR w="19050">
                      <a:solidFill>
                        <a:srgbClr val="F5F7F2"/>
                      </a:solidFill>
                    </a:lnR>
                    <a:lnB w="19050">
                      <a:solidFill>
                        <a:srgbClr val="F5F7F2"/>
                      </a:solidFill>
                    </a:lnB>
                    <a:solidFill>
                      <a:srgbClr val="E8F3EC"/>
                    </a:solidFill>
                  </a:tcPr>
                </a:tc>
              </a:tr>
              <a:tr h="540204">
                <a:tc>
                  <a:txBody>
                    <a:bodyPr/>
                    <a:lstStyle/>
                    <a:p>
                      <a:r>
                        <a:rPr sz="1725" b="0">
                          <a:solidFill>
                            <a:srgbClr val="16352D"/>
                          </a:solidFill>
                          <a:latin typeface="Arial"/>
                          <a:ea typeface="Arial"/>
                          <a:cs typeface="Arial"/>
                        </a:rPr>
                        <a:t>Fixed costs (Rs.)</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100,000</a:t>
                      </a:r>
                    </a:p>
                  </a:txBody>
                  <a:tcPr marL="91440" marR="91440" marT="45720" marB="45720">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100,000</a:t>
                      </a:r>
                    </a:p>
                  </a:txBody>
                  <a:tcPr marL="91440" marR="91440" marT="45720" marB="45720">
                    <a:lnR w="19050">
                      <a:solidFill>
                        <a:srgbClr val="F5F7F2"/>
                      </a:solidFill>
                    </a:lnR>
                    <a:lnB w="19050">
                      <a:solidFill>
                        <a:srgbClr val="F5F7F2"/>
                      </a:solidFill>
                    </a:lnB>
                    <a:solidFill>
                      <a:srgbClr val="FFFFFF"/>
                    </a:solidFill>
                  </a:tcPr>
                </a:tc>
                <a:tc>
                  <a:txBody>
                    <a:bodyPr/>
                    <a:lstStyle/>
                    <a:p>
                      <a:r>
                        <a:rPr sz="1725" b="0">
                          <a:solidFill>
                            <a:srgbClr val="16352D"/>
                          </a:solidFill>
                          <a:latin typeface="Arial"/>
                          <a:ea typeface="Arial"/>
                          <a:cs typeface="Arial"/>
                        </a:rPr>
                        <a:t>100,000</a:t>
                      </a:r>
                    </a:p>
                  </a:txBody>
                  <a:tcPr marL="91440" marR="91440" marT="45720" marB="45720">
                    <a:lnR w="19050">
                      <a:solidFill>
                        <a:srgbClr val="F5F7F2"/>
                      </a:solidFill>
                    </a:lnR>
                    <a:lnB w="19050">
                      <a:solidFill>
                        <a:srgbClr val="F5F7F2"/>
                      </a:solidFill>
                    </a:lnB>
                    <a:solidFill>
                      <a:srgbClr val="FFFFFF"/>
                    </a:solidFill>
                  </a:tcPr>
                </a:tc>
              </a:tr>
              <a:tr h="540204">
                <a:tc>
                  <a:txBody>
                    <a:bodyPr/>
                    <a:lstStyle/>
                    <a:p>
                      <a:r>
                        <a:rPr sz="1725" b="0">
                          <a:solidFill>
                            <a:srgbClr val="16352D"/>
                          </a:solidFill>
                          <a:latin typeface="Arial"/>
                          <a:ea typeface="Arial"/>
                          <a:cs typeface="Arial"/>
                        </a:rPr>
                        <a:t>Operating result (Rs.)</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−80,000</a:t>
                      </a:r>
                    </a:p>
                  </a:txBody>
                  <a:tcPr marL="91440" marR="91440" marT="45720" marB="45720">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−40,000</a:t>
                      </a:r>
                    </a:p>
                  </a:txBody>
                  <a:tcPr marL="91440" marR="91440" marT="45720" marB="45720">
                    <a:lnR w="19050">
                      <a:solidFill>
                        <a:srgbClr val="F5F7F2"/>
                      </a:solidFill>
                    </a:lnR>
                    <a:lnB w="19050">
                      <a:solidFill>
                        <a:srgbClr val="F5F7F2"/>
                      </a:solidFill>
                    </a:lnB>
                    <a:solidFill>
                      <a:srgbClr val="E8F3EC"/>
                    </a:solidFill>
                  </a:tcPr>
                </a:tc>
                <a:tc>
                  <a:txBody>
                    <a:bodyPr/>
                    <a:lstStyle/>
                    <a:p>
                      <a:r>
                        <a:rPr sz="1725" b="0">
                          <a:solidFill>
                            <a:srgbClr val="16352D"/>
                          </a:solidFill>
                          <a:latin typeface="Arial"/>
                          <a:ea typeface="Arial"/>
                          <a:cs typeface="Arial"/>
                        </a:rPr>
                        <a:t>20,000</a:t>
                      </a:r>
                    </a:p>
                  </a:txBody>
                  <a:tcPr marL="91440" marR="91440" marT="45720" marB="45720">
                    <a:lnR w="19050">
                      <a:solidFill>
                        <a:srgbClr val="F5F7F2"/>
                      </a:solidFill>
                    </a:lnR>
                    <a:lnB w="19050">
                      <a:solidFill>
                        <a:srgbClr val="F5F7F2"/>
                      </a:solidFill>
                    </a:lnB>
                    <a:solidFill>
                      <a:srgbClr val="E8F3EC"/>
                    </a:solidFill>
                  </a:tcPr>
                </a:tc>
              </a:tr>
            </a:tbl>
          </a:graphicData>
        </a:graphic>
      </p:graphicFrame>
      <p:sp>
        <p:nvSpPr>
          <p:cNvPr id="4" name="">
            <a:extLst xmlns:a="http://schemas.openxmlformats.org/drawingml/2006/main">
              <a:ext uri="{FF2B5EF4-FFF2-40B4-BE49-F238E27FC236}">
                <a16:creationId xmlns:a16="http://schemas.microsoft.com/office/drawing/2014/main" id="{9D0E522F-2A97-4692-92C4-2B761D375DBC}"/>
              </a:ext>
            </a:extLst>
          </p:cNvPr>
          <p:cNvSpPr>
            <a:spLocks xmlns:a="http://schemas.openxmlformats.org/drawingml/2006/main" noGrp="1"/>
          </p:cNvSpPr>
          <p:nvPr/>
        </p:nvSpPr>
        <p:spPr>
          <a:xfrm xmlns:a="http://schemas.openxmlformats.org/drawingml/2006/main">
            <a:off x="609600" y="5505450"/>
            <a:ext cx="10858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2756A"/>
                </a:solidFill>
                <a:latin typeface="Arial"/>
                <a:ea typeface="Arial"/>
                <a:cs typeface="Arial"/>
              </a:defRPr>
            </a:defPPr>
          </a:lstStyle>
          <a:p xmlns:a="http://schemas.openxmlformats.org/drawingml/2006/main">
            <a:pPr>
              <a:defRPr sz="1500" b="0">
                <a:solidFill>
                  <a:srgbClr val="62756A"/>
                </a:solidFill>
                <a:latin typeface="Arial"/>
                <a:ea typeface="Arial"/>
                <a:cs typeface="Arial"/>
              </a:defRPr>
            </a:pPr>
            <a:r>
              <a:rPr sz="1500" b="0">
                <a:solidFill>
                  <a:srgbClr val="62756A"/>
                </a:solidFill>
                <a:latin typeface="Arial"/>
                <a:ea typeface="Arial"/>
                <a:cs typeface="Arial"/>
              </a:rPr>
              <a:t>Rs. 10,000 average order. Rs. 100 variable cost per order.</a:t>
            </a:r>
          </a:p>
          <a:p xmlns:a="http://schemas.openxmlformats.org/drawingml/2006/main">
            <a:pPr>
              <a:defRPr sz="1500" b="0">
                <a:solidFill>
                  <a:srgbClr val="62756A"/>
                </a:solidFill>
                <a:latin typeface="Arial"/>
                <a:ea typeface="Arial"/>
                <a:cs typeface="Arial"/>
              </a:defRPr>
            </a:pPr>
            <a:r>
              <a:rPr sz="1500" b="0">
                <a:solidFill>
                  <a:srgbClr val="62756A"/>
                </a:solidFill>
                <a:latin typeface="Arial"/>
                <a:ea typeface="Arial"/>
                <a:cs typeface="Arial"/>
              </a:rPr>
              <a:t>Simplified break-even: 500 orders/month. All inputs are unvalidated assumptions.</a:t>
            </a:r>
          </a:p>
          <a:p xmlns:a="http://schemas.openxmlformats.org/drawingml/2006/main">
            <a:pPr>
              <a:defRPr sz="1500" b="0">
                <a:solidFill>
                  <a:srgbClr val="62756A"/>
                </a:solidFill>
                <a:latin typeface="Arial"/>
                <a:ea typeface="Arial"/>
                <a:cs typeface="Arial"/>
              </a:defRPr>
            </a:pPr>
            <a:r>
              <a:rPr sz="1500" b="0">
                <a:solidFill>
                  <a:srgbClr val="62756A"/>
                </a:solidFill>
                <a:latin typeface="Arial"/>
                <a:ea typeface="Arial"/>
                <a:cs typeface="Arial"/>
              </a:rPr>
              <a:t>Excludes initial development, founder compensation and tax.</a:t>
            </a:r>
          </a:p>
        </p:txBody>
      </p:sp>
    </p:spTree>
    <p:extLst>
      <p:ext uri="{BB962C8B-B14F-4D97-AF65-F5344CB8AC3E}">
        <p14:creationId xmlns:p14="http://schemas.microsoft.com/office/powerpoint/2010/main" val="1492840026"/>
      </p:ext>
    </p:extLst>
  </p:cSld>
</p:sld>
</file>

<file path=ppt/slides/slide15.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E5EAF37-F516-4323-8746-3DCCB6FEF257}"/>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Risks and safeguards</a:t>
            </a:r>
          </a:p>
        </p:txBody>
      </p:sp>
      <p:sp>
        <p:nvSpPr>
          <p:cNvPr id="2" name="">
            <a:extLst xmlns:a="http://schemas.openxmlformats.org/drawingml/2006/main">
              <a:ext uri="{FF2B5EF4-FFF2-40B4-BE49-F238E27FC236}">
                <a16:creationId xmlns:a16="http://schemas.microsoft.com/office/drawing/2014/main" id="{29AABC47-B1DA-4F2E-80F4-2BF92A310473}"/>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15</a:t>
            </a:r>
          </a:p>
        </p:txBody>
      </p:sp>
      <p:graphicFrame>
        <p:nvGraphicFramePr>
          <p:cNvPr id="3" name="">
            <a:extLst xmlns:a="http://schemas.openxmlformats.org/drawingml/2006/main">
              <a:ext uri="{FF2B5EF4-FFF2-40B4-BE49-F238E27FC236}">
                <a16:creationId xmlns:a16="http://schemas.microsoft.com/office/drawing/2014/main" id="{A9CEE883-29A2-4749-872F-5F5423573C53}"/>
              </a:ext>
            </a:extLst>
          </p:cNvPr>
          <p:cNvGraphicFramePr/>
          <p:nvPr/>
        </p:nvGraphicFramePr>
        <p:xfrm>
          <a:off xmlns:a="http://schemas.openxmlformats.org/drawingml/2006/main" x="609600" y="1619250"/>
          <a:ext xmlns:a="http://schemas.openxmlformats.org/drawingml/2006/main" cx="10972800" cy="4000500"/>
        </p:xfrm>
        <a:graphic xmlns:a="http://schemas.openxmlformats.org/drawingml/2006/main">
          <a:graphicData uri="http://schemas.openxmlformats.org/drawingml/2006/table">
            <a:tbl>
              <a:tblPr/>
              <a:tblGrid>
                <a:gridCol w="3829050"/>
                <a:gridCol w="7143750"/>
              </a:tblGrid>
              <a:tr h="666750">
                <a:tc>
                  <a:txBody>
                    <a:bodyPr/>
                    <a:lstStyle/>
                    <a:p>
                      <a:r>
                        <a:rPr sz="1800" b="1">
                          <a:solidFill>
                            <a:srgbClr val="FFFFFF"/>
                          </a:solidFill>
                          <a:latin typeface="Arial"/>
                          <a:ea typeface="Arial"/>
                          <a:cs typeface="Arial"/>
                        </a:rPr>
                        <a:t>Risk</a:t>
                      </a:r>
                    </a:p>
                  </a:txBody>
                  <a:tcPr marL="91440" marR="91440" marT="45720" marB="45720">
                    <a:lnL w="19050">
                      <a:solidFill>
                        <a:srgbClr val="F5F7F2"/>
                      </a:solidFill>
                    </a:lnL>
                    <a:lnR w="19050">
                      <a:solidFill>
                        <a:srgbClr val="F5F7F2"/>
                      </a:solidFill>
                    </a:lnR>
                    <a:lnT w="19050">
                      <a:solidFill>
                        <a:srgbClr val="F5F7F2"/>
                      </a:solidFill>
                    </a:lnT>
                    <a:lnB w="19050">
                      <a:solidFill>
                        <a:srgbClr val="F5F7F2"/>
                      </a:solidFill>
                    </a:lnB>
                    <a:solidFill>
                      <a:srgbClr val="167458"/>
                    </a:solidFill>
                  </a:tcPr>
                </a:tc>
                <a:tc>
                  <a:txBody>
                    <a:bodyPr/>
                    <a:lstStyle/>
                    <a:p>
                      <a:r>
                        <a:rPr sz="1800" b="1">
                          <a:solidFill>
                            <a:srgbClr val="FFFFFF"/>
                          </a:solidFill>
                          <a:latin typeface="Arial"/>
                          <a:ea typeface="Arial"/>
                          <a:cs typeface="Arial"/>
                        </a:rPr>
                        <a:t>Proposed response</a:t>
                      </a:r>
                    </a:p>
                  </a:txBody>
                  <a:tcPr marL="91440" marR="91440" marT="45720" marB="45720">
                    <a:lnR w="19050">
                      <a:solidFill>
                        <a:srgbClr val="F5F7F2"/>
                      </a:solidFill>
                    </a:lnR>
                    <a:lnT w="19050">
                      <a:solidFill>
                        <a:srgbClr val="F5F7F2"/>
                      </a:solidFill>
                    </a:lnT>
                    <a:lnB w="19050">
                      <a:solidFill>
                        <a:srgbClr val="F5F7F2"/>
                      </a:solidFill>
                    </a:lnB>
                    <a:solidFill>
                      <a:srgbClr val="167458"/>
                    </a:solidFill>
                  </a:tcPr>
                </a:tc>
              </a:tr>
              <a:tr h="666750">
                <a:tc>
                  <a:txBody>
                    <a:bodyPr/>
                    <a:lstStyle/>
                    <a:p>
                      <a:r>
                        <a:rPr sz="1800" b="0">
                          <a:solidFill>
                            <a:srgbClr val="16352D"/>
                          </a:solidFill>
                          <a:latin typeface="Arial"/>
                          <a:ea typeface="Arial"/>
                          <a:cs typeface="Arial"/>
                        </a:rPr>
                        <a:t>Too few matching buyers</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800" b="0">
                          <a:solidFill>
                            <a:srgbClr val="16352D"/>
                          </a:solidFill>
                          <a:latin typeface="Arial"/>
                          <a:ea typeface="Arial"/>
                          <a:cs typeface="Arial"/>
                        </a:rPr>
                        <a:t>Recruit recurring buyers before broad farmer acquisition</a:t>
                      </a:r>
                    </a:p>
                  </a:txBody>
                  <a:tcPr marL="91440" marR="91440" marT="45720" marB="45720">
                    <a:lnR w="19050">
                      <a:solidFill>
                        <a:srgbClr val="F5F7F2"/>
                      </a:solidFill>
                    </a:lnR>
                    <a:lnB w="19050">
                      <a:solidFill>
                        <a:srgbClr val="F5F7F2"/>
                      </a:solidFill>
                    </a:lnB>
                    <a:solidFill>
                      <a:srgbClr val="FFFFFF"/>
                    </a:solidFill>
                  </a:tcPr>
                </a:tc>
              </a:tr>
              <a:tr h="666750">
                <a:tc>
                  <a:txBody>
                    <a:bodyPr/>
                    <a:lstStyle/>
                    <a:p>
                      <a:r>
                        <a:rPr sz="1800" b="0">
                          <a:solidFill>
                            <a:srgbClr val="16352D"/>
                          </a:solidFill>
                          <a:latin typeface="Arial"/>
                          <a:ea typeface="Arial"/>
                          <a:cs typeface="Arial"/>
                        </a:rPr>
                        <a:t>Quality disputes or cancellations</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800" b="0">
                          <a:solidFill>
                            <a:srgbClr val="16352D"/>
                          </a:solidFill>
                          <a:latin typeface="Arial"/>
                          <a:ea typeface="Arial"/>
                          <a:cs typeface="Arial"/>
                        </a:rPr>
                        <a:t>Agree grades, confirm quantities and record handover</a:t>
                      </a:r>
                    </a:p>
                  </a:txBody>
                  <a:tcPr marL="91440" marR="91440" marT="45720" marB="45720">
                    <a:lnR w="19050">
                      <a:solidFill>
                        <a:srgbClr val="F5F7F2"/>
                      </a:solidFill>
                    </a:lnR>
                    <a:lnB w="19050">
                      <a:solidFill>
                        <a:srgbClr val="F5F7F2"/>
                      </a:solidFill>
                    </a:lnB>
                    <a:solidFill>
                      <a:srgbClr val="E8F3EC"/>
                    </a:solidFill>
                  </a:tcPr>
                </a:tc>
              </a:tr>
              <a:tr h="666750">
                <a:tc>
                  <a:txBody>
                    <a:bodyPr/>
                    <a:lstStyle/>
                    <a:p>
                      <a:r>
                        <a:rPr sz="1800" b="0">
                          <a:solidFill>
                            <a:srgbClr val="16352D"/>
                          </a:solidFill>
                          <a:latin typeface="Arial"/>
                          <a:ea typeface="Arial"/>
                          <a:cs typeface="Arial"/>
                        </a:rPr>
                        <a:t>Unreliable delivery</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800" b="0">
                          <a:solidFill>
                            <a:srgbClr val="16352D"/>
                          </a:solidFill>
                          <a:latin typeface="Arial"/>
                          <a:ea typeface="Arial"/>
                          <a:cs typeface="Arial"/>
                        </a:rPr>
                        <a:t>Limit routes and maintain a backup delivery partner</a:t>
                      </a:r>
                    </a:p>
                  </a:txBody>
                  <a:tcPr marL="91440" marR="91440" marT="45720" marB="45720">
                    <a:lnR w="19050">
                      <a:solidFill>
                        <a:srgbClr val="F5F7F2"/>
                      </a:solidFill>
                    </a:lnR>
                    <a:lnB w="19050">
                      <a:solidFill>
                        <a:srgbClr val="F5F7F2"/>
                      </a:solidFill>
                    </a:lnB>
                    <a:solidFill>
                      <a:srgbClr val="FFFFFF"/>
                    </a:solidFill>
                  </a:tcPr>
                </a:tc>
              </a:tr>
              <a:tr h="666750">
                <a:tc>
                  <a:txBody>
                    <a:bodyPr/>
                    <a:lstStyle/>
                    <a:p>
                      <a:r>
                        <a:rPr sz="1800" b="0">
                          <a:solidFill>
                            <a:srgbClr val="16352D"/>
                          </a:solidFill>
                          <a:latin typeface="Arial"/>
                          <a:ea typeface="Arial"/>
                          <a:cs typeface="Arial"/>
                        </a:rPr>
                        <a:t>Digital access and language gaps</a:t>
                      </a:r>
                    </a:p>
                  </a:txBody>
                  <a:tcPr marL="91440" marR="91440" marT="45720" marB="45720">
                    <a:lnL w="19050">
                      <a:solidFill>
                        <a:srgbClr val="F5F7F2"/>
                      </a:solidFill>
                    </a:lnL>
                    <a:lnR w="19050">
                      <a:solidFill>
                        <a:srgbClr val="F5F7F2"/>
                      </a:solidFill>
                    </a:lnR>
                    <a:lnB w="19050">
                      <a:solidFill>
                        <a:srgbClr val="F5F7F2"/>
                      </a:solidFill>
                    </a:lnB>
                    <a:solidFill>
                      <a:srgbClr val="E8F3EC"/>
                    </a:solidFill>
                  </a:tcPr>
                </a:tc>
                <a:tc>
                  <a:txBody>
                    <a:bodyPr/>
                    <a:lstStyle/>
                    <a:p>
                      <a:r>
                        <a:rPr sz="1800" b="0">
                          <a:solidFill>
                            <a:srgbClr val="16352D"/>
                          </a:solidFill>
                          <a:latin typeface="Arial"/>
                          <a:ea typeface="Arial"/>
                          <a:cs typeface="Arial"/>
                        </a:rPr>
                        <a:t>Assisted onboarding and Sinhala/Tamil usability testing</a:t>
                      </a:r>
                    </a:p>
                  </a:txBody>
                  <a:tcPr marL="91440" marR="91440" marT="45720" marB="45720">
                    <a:lnR w="19050">
                      <a:solidFill>
                        <a:srgbClr val="F5F7F2"/>
                      </a:solidFill>
                    </a:lnR>
                    <a:lnB w="19050">
                      <a:solidFill>
                        <a:srgbClr val="F5F7F2"/>
                      </a:solidFill>
                    </a:lnB>
                    <a:solidFill>
                      <a:srgbClr val="E8F3EC"/>
                    </a:solidFill>
                  </a:tcPr>
                </a:tc>
              </a:tr>
              <a:tr h="666750">
                <a:tc>
                  <a:txBody>
                    <a:bodyPr/>
                    <a:lstStyle/>
                    <a:p>
                      <a:r>
                        <a:rPr sz="1800" b="0">
                          <a:solidFill>
                            <a:srgbClr val="16352D"/>
                          </a:solidFill>
                          <a:latin typeface="Arial"/>
                          <a:ea typeface="Arial"/>
                          <a:cs typeface="Arial"/>
                        </a:rPr>
                        <a:t>Payment and role access</a:t>
                      </a:r>
                    </a:p>
                  </a:txBody>
                  <a:tcPr marL="91440" marR="91440" marT="45720" marB="45720">
                    <a:lnL w="19050">
                      <a:solidFill>
                        <a:srgbClr val="F5F7F2"/>
                      </a:solidFill>
                    </a:lnL>
                    <a:lnR w="19050">
                      <a:solidFill>
                        <a:srgbClr val="F5F7F2"/>
                      </a:solidFill>
                    </a:lnR>
                    <a:lnB w="19050">
                      <a:solidFill>
                        <a:srgbClr val="F5F7F2"/>
                      </a:solidFill>
                    </a:lnB>
                    <a:solidFill>
                      <a:srgbClr val="FFFFFF"/>
                    </a:solidFill>
                  </a:tcPr>
                </a:tc>
                <a:tc>
                  <a:txBody>
                    <a:bodyPr/>
                    <a:lstStyle/>
                    <a:p>
                      <a:r>
                        <a:rPr sz="1800" b="0">
                          <a:solidFill>
                            <a:srgbClr val="16352D"/>
                          </a:solidFill>
                          <a:latin typeface="Arial"/>
                          <a:ea typeface="Arial"/>
                          <a:cs typeface="Arial"/>
                        </a:rPr>
                        <a:t>Validate settlement and restrict buyer/driver access to relevant orders</a:t>
                      </a:r>
                    </a:p>
                  </a:txBody>
                  <a:tcPr marL="91440" marR="91440" marT="45720" marB="45720">
                    <a:lnR w="19050">
                      <a:solidFill>
                        <a:srgbClr val="F5F7F2"/>
                      </a:solidFill>
                    </a:lnR>
                    <a:lnB w="19050">
                      <a:solidFill>
                        <a:srgbClr val="F5F7F2"/>
                      </a:solidFill>
                    </a:lnB>
                    <a:solidFill>
                      <a:srgbClr val="FFFFFF"/>
                    </a:solidFill>
                  </a:tcPr>
                </a:tc>
              </a:tr>
            </a:tbl>
          </a:graphicData>
        </a:graphic>
      </p:graphicFrame>
    </p:spTree>
    <p:extLst>
      <p:ext uri="{BB962C8B-B14F-4D97-AF65-F5344CB8AC3E}">
        <p14:creationId xmlns:p14="http://schemas.microsoft.com/office/powerpoint/2010/main" val="1528557767"/>
      </p:ext>
    </p:extLst>
  </p:cSld>
</p:sld>
</file>

<file path=ppt/slides/slide16.xml><?xml version="1.0" encoding="utf-8"?>
<p:sld xmlns:p="http://schemas.openxmlformats.org/presentationml/2006/main">
  <p:cSld>
    <p:bg>
      <p:bgPr>
        <a:solidFill xmlns:a="http://schemas.openxmlformats.org/drawingml/2006/main">
          <a:srgbClr val="16352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222F54-308A-4A35-A084-EF7CEE69C3D2}"/>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The pilot partnership request</a:t>
            </a:r>
          </a:p>
        </p:txBody>
      </p:sp>
      <p:sp>
        <p:nvSpPr>
          <p:cNvPr id="2" name="">
            <a:extLst xmlns:a="http://schemas.openxmlformats.org/drawingml/2006/main">
              <a:ext uri="{FF2B5EF4-FFF2-40B4-BE49-F238E27FC236}">
                <a16:creationId xmlns:a16="http://schemas.microsoft.com/office/drawing/2014/main" id="{D9CC79BF-3BC0-4C60-A033-C301E4A977E5}"/>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8D4C6"/>
                </a:solidFill>
                <a:latin typeface="Arial"/>
                <a:ea typeface="Arial"/>
                <a:cs typeface="Arial"/>
              </a:defRPr>
            </a:defPPr>
          </a:lstStyle>
          <a:p xmlns:a="http://schemas.openxmlformats.org/drawingml/2006/main">
            <a:pPr>
              <a:defRPr sz="1125" b="0">
                <a:solidFill>
                  <a:srgbClr val="B8D4C6"/>
                </a:solidFill>
                <a:latin typeface="Arial"/>
                <a:ea typeface="Arial"/>
                <a:cs typeface="Arial"/>
              </a:defRPr>
            </a:pPr>
            <a:r>
              <a:rPr sz="1125" b="0">
                <a:solidFill>
                  <a:srgbClr val="B8D4C6"/>
                </a:solidFill>
                <a:latin typeface="Arial"/>
                <a:ea typeface="Arial"/>
                <a:cs typeface="Arial"/>
              </a:rPr>
              <a:t>GoviLink   /   16</a:t>
            </a:r>
          </a:p>
        </p:txBody>
      </p:sp>
      <p:sp>
        <p:nvSpPr>
          <p:cNvPr id="3" name="">
            <a:extLst xmlns:a="http://schemas.openxmlformats.org/drawingml/2006/main">
              <a:ext uri="{FF2B5EF4-FFF2-40B4-BE49-F238E27FC236}">
                <a16:creationId xmlns:a16="http://schemas.microsoft.com/office/drawing/2014/main" id="{DEF6E870-C9B3-4143-8B0C-423749030363}"/>
              </a:ext>
            </a:extLst>
          </p:cNvPr>
          <p:cNvSpPr>
            <a:spLocks xmlns:a="http://schemas.openxmlformats.org/drawingml/2006/main" noGrp="1"/>
          </p:cNvSpPr>
          <p:nvPr/>
        </p:nvSpPr>
        <p:spPr>
          <a:xfrm xmlns:a="http://schemas.openxmlformats.org/drawingml/2006/main">
            <a:off x="609600" y="1838325"/>
            <a:ext cx="10477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One farmer organization</a:t>
            </a:r>
          </a:p>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Ten recurring produce buyers</a:t>
            </a:r>
          </a:p>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Five pilot drivers</a:t>
            </a:r>
          </a:p>
        </p:txBody>
      </p:sp>
      <p:sp>
        <p:nvSpPr>
          <p:cNvPr id="4" name="">
            <a:extLst xmlns:a="http://schemas.openxmlformats.org/drawingml/2006/main">
              <a:ext uri="{FF2B5EF4-FFF2-40B4-BE49-F238E27FC236}">
                <a16:creationId xmlns:a16="http://schemas.microsoft.com/office/drawing/2014/main" id="{36878AF8-B0FE-4036-A1E0-559AA3D9E292}"/>
              </a:ext>
            </a:extLst>
          </p:cNvPr>
          <p:cNvSpPr>
            <a:spLocks xmlns:a="http://schemas.openxmlformats.org/drawingml/2006/main" noGrp="1"/>
          </p:cNvSpPr>
          <p:nvPr/>
        </p:nvSpPr>
        <p:spPr>
          <a:xfrm xmlns:a="http://schemas.openxmlformats.org/drawingml/2006/main">
            <a:off x="609600" y="460057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BDD6C8"/>
                </a:solidFill>
                <a:latin typeface="Arial"/>
                <a:ea typeface="Arial"/>
                <a:cs typeface="Arial"/>
              </a:defRPr>
            </a:defPPr>
          </a:lstStyle>
          <a:p xmlns:a="http://schemas.openxmlformats.org/drawingml/2006/main">
            <a:pPr>
              <a:defRPr sz="2550" b="0">
                <a:solidFill>
                  <a:srgbClr val="BDD6C8"/>
                </a:solidFill>
                <a:latin typeface="Arial"/>
                <a:ea typeface="Arial"/>
                <a:cs typeface="Arial"/>
              </a:defRPr>
            </a:pPr>
            <a:r>
              <a:rPr sz="2550" b="0">
                <a:solidFill>
                  <a:srgbClr val="BDD6C8"/>
                </a:solidFill>
                <a:latin typeface="Arial"/>
                <a:ea typeface="Arial"/>
                <a:cs typeface="Arial"/>
              </a:rPr>
              <a:t>A 90-day pilot for farmers, buyers and drivers</a:t>
            </a:r>
          </a:p>
        </p:txBody>
      </p:sp>
      <p:sp>
        <p:nvSpPr>
          <p:cNvPr id="5" name="">
            <a:extLst xmlns:a="http://schemas.openxmlformats.org/drawingml/2006/main">
              <a:ext uri="{FF2B5EF4-FFF2-40B4-BE49-F238E27FC236}">
                <a16:creationId xmlns:a16="http://schemas.microsoft.com/office/drawing/2014/main" id="{1DE797A4-1275-475A-9196-942E1458F243}"/>
              </a:ext>
            </a:extLst>
          </p:cNvPr>
          <p:cNvSpPr>
            <a:spLocks xmlns:a="http://schemas.openxmlformats.org/drawingml/2006/main" noGrp="1"/>
          </p:cNvSpPr>
          <p:nvPr/>
        </p:nvSpPr>
        <p:spPr>
          <a:xfrm xmlns:a="http://schemas.openxmlformats.org/drawingml/2006/main">
            <a:off x="609600" y="567690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DD6C8"/>
                </a:solidFill>
                <a:latin typeface="Arial"/>
                <a:ea typeface="Arial"/>
                <a:cs typeface="Arial"/>
              </a:defRPr>
            </a:defPPr>
          </a:lstStyle>
          <a:p xmlns:a="http://schemas.openxmlformats.org/drawingml/2006/main">
            <a:pPr>
              <a:defRPr sz="1650" b="0">
                <a:solidFill>
                  <a:srgbClr val="BDD6C8"/>
                </a:solidFill>
                <a:latin typeface="Arial"/>
                <a:ea typeface="Arial"/>
                <a:cs typeface="Arial"/>
              </a:defRPr>
            </a:pPr>
            <a:r>
              <a:rPr sz="1650" b="0">
                <a:solidFill>
                  <a:srgbClr val="BDD6C8"/>
                </a:solidFill>
                <a:latin typeface="Arial"/>
                <a:ea typeface="Arial"/>
                <a:cs typeface="Arial"/>
              </a:rPr>
              <a:t>Next step: a pilot discovery meeting</a:t>
            </a:r>
          </a:p>
          <a:p xmlns:a="http://schemas.openxmlformats.org/drawingml/2006/main">
            <a:pPr>
              <a:defRPr sz="1650" b="0">
                <a:solidFill>
                  <a:srgbClr val="BDD6C8"/>
                </a:solidFill>
                <a:latin typeface="Arial"/>
                <a:ea typeface="Arial"/>
                <a:cs typeface="Arial"/>
              </a:defRPr>
            </a:pPr>
            <a:r>
              <a:rPr sz="1650" b="0">
                <a:solidFill>
                  <a:srgbClr val="BDD6C8"/>
                </a:solidFill>
                <a:latin typeface="Arial"/>
                <a:ea typeface="Arial"/>
                <a:cs typeface="Arial"/>
              </a:rPr>
              <a:t>Contact: add your team email or phone before presenting</a:t>
            </a:r>
          </a:p>
        </p:txBody>
      </p:sp>
    </p:spTree>
    <p:extLst>
      <p:ext uri="{BB962C8B-B14F-4D97-AF65-F5344CB8AC3E}">
        <p14:creationId xmlns:p14="http://schemas.microsoft.com/office/powerpoint/2010/main" val="265364636"/>
      </p:ext>
    </p:extLst>
  </p:cSld>
</p:sld>
</file>

<file path=ppt/slides/slide17.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B1AD29-4F24-4840-8CBB-8D26F5F04FFD}"/>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Questions to expect</a:t>
            </a:r>
          </a:p>
        </p:txBody>
      </p:sp>
      <p:sp>
        <p:nvSpPr>
          <p:cNvPr id="2" name="">
            <a:extLst xmlns:a="http://schemas.openxmlformats.org/drawingml/2006/main">
              <a:ext uri="{FF2B5EF4-FFF2-40B4-BE49-F238E27FC236}">
                <a16:creationId xmlns:a16="http://schemas.microsoft.com/office/drawing/2014/main" id="{91AD48C4-40E9-4F7D-A547-1F2649EDEB4A}"/>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17</a:t>
            </a:r>
          </a:p>
        </p:txBody>
      </p:sp>
      <p:sp>
        <p:nvSpPr>
          <p:cNvPr id="3" name="">
            <a:extLst xmlns:a="http://schemas.openxmlformats.org/drawingml/2006/main">
              <a:ext uri="{FF2B5EF4-FFF2-40B4-BE49-F238E27FC236}">
                <a16:creationId xmlns:a16="http://schemas.microsoft.com/office/drawing/2014/main" id="{3C45BC21-D69F-4434-9398-7DA9A39190A0}"/>
              </a:ext>
            </a:extLst>
          </p:cNvPr>
          <p:cNvSpPr>
            <a:spLocks xmlns:a="http://schemas.openxmlformats.org/drawingml/2006/main" noGrp="1"/>
          </p:cNvSpPr>
          <p:nvPr/>
        </p:nvSpPr>
        <p:spPr>
          <a:xfrm xmlns:a="http://schemas.openxmlformats.org/drawingml/2006/main">
            <a:off x="609600" y="1714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Why will users switch?</a:t>
            </a:r>
          </a:p>
        </p:txBody>
      </p:sp>
      <p:sp>
        <p:nvSpPr>
          <p:cNvPr id="4" name="">
            <a:extLst xmlns:a="http://schemas.openxmlformats.org/drawingml/2006/main">
              <a:ext uri="{FF2B5EF4-FFF2-40B4-BE49-F238E27FC236}">
                <a16:creationId xmlns:a16="http://schemas.microsoft.com/office/drawing/2014/main" id="{D0C58F85-745C-492B-B3D0-FE4BE60C9A73}"/>
              </a:ext>
            </a:extLst>
          </p:cNvPr>
          <p:cNvSpPr>
            <a:spLocks xmlns:a="http://schemas.openxmlformats.org/drawingml/2006/main" noGrp="1"/>
          </p:cNvSpPr>
          <p:nvPr/>
        </p:nvSpPr>
        <p:spPr>
          <a:xfrm xmlns:a="http://schemas.openxmlformats.org/drawingml/2006/main">
            <a:off x="609600" y="2238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We must demonstrate less coordination effort and reliable completed orders during the pilot.</a:t>
            </a:r>
          </a:p>
        </p:txBody>
      </p:sp>
      <p:sp>
        <p:nvSpPr>
          <p:cNvPr id="5" name="">
            <a:extLst xmlns:a="http://schemas.openxmlformats.org/drawingml/2006/main">
              <a:ext uri="{FF2B5EF4-FFF2-40B4-BE49-F238E27FC236}">
                <a16:creationId xmlns:a16="http://schemas.microsoft.com/office/drawing/2014/main" id="{9DA65AE5-1711-4AE1-9201-BE8EB4964BD6}"/>
              </a:ext>
            </a:extLst>
          </p:cNvPr>
          <p:cNvSpPr>
            <a:spLocks xmlns:a="http://schemas.openxmlformats.org/drawingml/2006/main" noGrp="1"/>
          </p:cNvSpPr>
          <p:nvPr/>
        </p:nvSpPr>
        <p:spPr>
          <a:xfrm xmlns:a="http://schemas.openxmlformats.org/drawingml/2006/main">
            <a:off x="6524625" y="1714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Why will farmers pay?</a:t>
            </a:r>
          </a:p>
        </p:txBody>
      </p:sp>
      <p:sp>
        <p:nvSpPr>
          <p:cNvPr id="6" name="">
            <a:extLst xmlns:a="http://schemas.openxmlformats.org/drawingml/2006/main">
              <a:ext uri="{FF2B5EF4-FFF2-40B4-BE49-F238E27FC236}">
                <a16:creationId xmlns:a16="http://schemas.microsoft.com/office/drawing/2014/main" id="{A9907A16-583E-4027-B458-722221ECF1CD}"/>
              </a:ext>
            </a:extLst>
          </p:cNvPr>
          <p:cNvSpPr>
            <a:spLocks xmlns:a="http://schemas.openxmlformats.org/drawingml/2006/main" noGrp="1"/>
          </p:cNvSpPr>
          <p:nvPr/>
        </p:nvSpPr>
        <p:spPr>
          <a:xfrm xmlns:a="http://schemas.openxmlformats.org/drawingml/2006/main">
            <a:off x="6524625" y="2238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Only if the service creates enough value. Test the fee after a free introductory period.</a:t>
            </a:r>
          </a:p>
        </p:txBody>
      </p:sp>
      <p:sp>
        <p:nvSpPr>
          <p:cNvPr id="7" name="">
            <a:extLst xmlns:a="http://schemas.openxmlformats.org/drawingml/2006/main">
              <a:ext uri="{FF2B5EF4-FFF2-40B4-BE49-F238E27FC236}">
                <a16:creationId xmlns:a16="http://schemas.microsoft.com/office/drawing/2014/main" id="{E378C5F2-BF78-46C5-AF6A-AF03E6316E95}"/>
              </a:ext>
            </a:extLst>
          </p:cNvPr>
          <p:cNvSpPr>
            <a:spLocks xmlns:a="http://schemas.openxmlformats.org/drawingml/2006/main" noGrp="1"/>
          </p:cNvSpPr>
          <p:nvPr/>
        </p:nvSpPr>
        <p:spPr>
          <a:xfrm xmlns:a="http://schemas.openxmlformats.org/drawingml/2006/main">
            <a:off x="609600" y="4000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What prevents off-app trading?</a:t>
            </a:r>
          </a:p>
        </p:txBody>
      </p:sp>
      <p:sp>
        <p:nvSpPr>
          <p:cNvPr id="8" name="">
            <a:extLst xmlns:a="http://schemas.openxmlformats.org/drawingml/2006/main">
              <a:ext uri="{FF2B5EF4-FFF2-40B4-BE49-F238E27FC236}">
                <a16:creationId xmlns:a16="http://schemas.microsoft.com/office/drawing/2014/main" id="{F950DDD5-F585-482E-8EA8-C067FF8B73B3}"/>
              </a:ext>
            </a:extLst>
          </p:cNvPr>
          <p:cNvSpPr>
            <a:spLocks xmlns:a="http://schemas.openxmlformats.org/drawingml/2006/main" noGrp="1"/>
          </p:cNvSpPr>
          <p:nvPr/>
        </p:nvSpPr>
        <p:spPr>
          <a:xfrm xmlns:a="http://schemas.openxmlformats.org/drawingml/2006/main">
            <a:off x="609600" y="4524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Useful sourcing, order records and delivery support may encourage return use. Leakage remains a risk.</a:t>
            </a:r>
          </a:p>
        </p:txBody>
      </p:sp>
      <p:sp>
        <p:nvSpPr>
          <p:cNvPr id="9" name="">
            <a:extLst xmlns:a="http://schemas.openxmlformats.org/drawingml/2006/main">
              <a:ext uri="{FF2B5EF4-FFF2-40B4-BE49-F238E27FC236}">
                <a16:creationId xmlns:a16="http://schemas.microsoft.com/office/drawing/2014/main" id="{B0F3AEC2-F46D-4F61-8726-4B2D6CA92F63}"/>
              </a:ext>
            </a:extLst>
          </p:cNvPr>
          <p:cNvSpPr>
            <a:spLocks xmlns:a="http://schemas.openxmlformats.org/drawingml/2006/main" noGrp="1"/>
          </p:cNvSpPr>
          <p:nvPr/>
        </p:nvSpPr>
        <p:spPr>
          <a:xfrm xmlns:a="http://schemas.openxmlformats.org/drawingml/2006/main">
            <a:off x="6524625" y="4000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458"/>
                </a:solidFill>
                <a:latin typeface="Arial"/>
                <a:ea typeface="Arial"/>
                <a:cs typeface="Arial"/>
              </a:defRPr>
            </a:defPPr>
          </a:lstStyle>
          <a:p xmlns:a="http://schemas.openxmlformats.org/drawingml/2006/main">
            <a:pPr>
              <a:defRPr sz="2100" b="1">
                <a:solidFill>
                  <a:srgbClr val="167458"/>
                </a:solidFill>
                <a:latin typeface="Arial"/>
                <a:ea typeface="Arial"/>
                <a:cs typeface="Arial"/>
              </a:defRPr>
            </a:pPr>
            <a:r>
              <a:rPr sz="2100" b="1">
                <a:solidFill>
                  <a:srgbClr val="167458"/>
                </a:solidFill>
                <a:latin typeface="Arial"/>
                <a:ea typeface="Arial"/>
                <a:cs typeface="Arial"/>
              </a:rPr>
              <a:t>How will it scale?</a:t>
            </a:r>
          </a:p>
        </p:txBody>
      </p:sp>
      <p:sp>
        <p:nvSpPr>
          <p:cNvPr id="10" name="">
            <a:extLst xmlns:a="http://schemas.openxmlformats.org/drawingml/2006/main">
              <a:ext uri="{FF2B5EF4-FFF2-40B4-BE49-F238E27FC236}">
                <a16:creationId xmlns:a16="http://schemas.microsoft.com/office/drawing/2014/main" id="{24C7D1C3-EC0B-40D7-9F5A-2C137740B493}"/>
              </a:ext>
            </a:extLst>
          </p:cNvPr>
          <p:cNvSpPr>
            <a:spLocks xmlns:a="http://schemas.openxmlformats.org/drawingml/2006/main" noGrp="1"/>
          </p:cNvSpPr>
          <p:nvPr/>
        </p:nvSpPr>
        <p:spPr>
          <a:xfrm xmlns:a="http://schemas.openxmlformats.org/drawingml/2006/main">
            <a:off x="6524625" y="4524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52D"/>
                </a:solidFill>
                <a:latin typeface="Arial"/>
                <a:ea typeface="Arial"/>
                <a:cs typeface="Arial"/>
              </a:defRPr>
            </a:defPPr>
          </a:lstStyle>
          <a:p xmlns:a="http://schemas.openxmlformats.org/drawingml/2006/main">
            <a:pPr>
              <a:defRPr sz="1950" b="0">
                <a:solidFill>
                  <a:srgbClr val="16352D"/>
                </a:solidFill>
                <a:latin typeface="Arial"/>
                <a:ea typeface="Arial"/>
                <a:cs typeface="Arial"/>
              </a:defRPr>
            </a:pPr>
            <a:r>
              <a:rPr sz="1950" b="0">
                <a:solidFill>
                  <a:srgbClr val="16352D"/>
                </a:solidFill>
                <a:latin typeface="Arial"/>
                <a:ea typeface="Arial"/>
                <a:cs typeface="Arial"/>
              </a:rPr>
              <a:t>Expand route by route after repeat demand, service reliability and viable costs.</a:t>
            </a:r>
          </a:p>
        </p:txBody>
      </p:sp>
    </p:spTree>
    <p:extLst>
      <p:ext uri="{BB962C8B-B14F-4D97-AF65-F5344CB8AC3E}">
        <p14:creationId xmlns:p14="http://schemas.microsoft.com/office/powerpoint/2010/main" val="1552578315"/>
      </p:ext>
    </p:extLst>
  </p:cSld>
</p:sld>
</file>

<file path=ppt/slides/slide18.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52CE072-8377-4977-B0BF-D0A958C0AB8A}"/>
              </a:ext>
            </a:extLst>
          </p:cNvPr>
          <p:cNvSpPr>
            <a:spLocks xmlns:a="http://schemas.openxmlformats.org/drawingml/2006/main" noGrp="1"/>
          </p:cNvSpPr>
          <p:nvPr/>
        </p:nvSpPr>
        <p:spPr>
          <a:xfrm xmlns:a="http://schemas.openxmlformats.org/drawingml/2006/main">
            <a:off x="609600" y="4762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52D"/>
                </a:solidFill>
                <a:latin typeface="Arial"/>
                <a:ea typeface="Arial"/>
                <a:cs typeface="Arial"/>
              </a:defRPr>
            </a:defPPr>
          </a:lstStyle>
          <a:p xmlns:a="http://schemas.openxmlformats.org/drawingml/2006/main">
            <a:pPr>
              <a:defRPr sz="3300" b="1">
                <a:solidFill>
                  <a:srgbClr val="16352D"/>
                </a:solidFill>
                <a:latin typeface="Arial"/>
                <a:ea typeface="Arial"/>
                <a:cs typeface="Arial"/>
              </a:defRPr>
            </a:pPr>
            <a:r>
              <a:rPr sz="3300" b="1">
                <a:solidFill>
                  <a:srgbClr val="16352D"/>
                </a:solidFill>
                <a:latin typeface="Arial"/>
                <a:ea typeface="Arial"/>
                <a:cs typeface="Arial"/>
              </a:rPr>
              <a:t>Sources and evidence</a:t>
            </a:r>
          </a:p>
        </p:txBody>
      </p:sp>
      <p:sp>
        <p:nvSpPr>
          <p:cNvPr id="2" name="">
            <a:extLst xmlns:a="http://schemas.openxmlformats.org/drawingml/2006/main">
              <a:ext uri="{FF2B5EF4-FFF2-40B4-BE49-F238E27FC236}">
                <a16:creationId xmlns:a16="http://schemas.microsoft.com/office/drawing/2014/main" id="{63ECAA80-0688-403B-A721-B1EB904F7BEE}"/>
              </a:ext>
            </a:extLst>
          </p:cNvPr>
          <p:cNvSpPr>
            <a:spLocks xmlns:a="http://schemas.openxmlformats.org/drawingml/2006/main" noGrp="1"/>
          </p:cNvSpPr>
          <p:nvPr/>
        </p:nvSpPr>
        <p:spPr>
          <a:xfrm xmlns:a="http://schemas.openxmlformats.org/drawingml/2006/main">
            <a:off x="609600" y="64674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56A"/>
                </a:solidFill>
                <a:latin typeface="Arial"/>
                <a:ea typeface="Arial"/>
                <a:cs typeface="Arial"/>
              </a:defRPr>
            </a:defPPr>
          </a:lstStyle>
          <a:p xmlns:a="http://schemas.openxmlformats.org/drawingml/2006/main">
            <a:pPr>
              <a:defRPr sz="1125" b="0">
                <a:solidFill>
                  <a:srgbClr val="62756A"/>
                </a:solidFill>
                <a:latin typeface="Arial"/>
                <a:ea typeface="Arial"/>
                <a:cs typeface="Arial"/>
              </a:defRPr>
            </a:pPr>
            <a:r>
              <a:rPr sz="1125" b="0">
                <a:solidFill>
                  <a:srgbClr val="62756A"/>
                </a:solidFill>
                <a:latin typeface="Arial"/>
                <a:ea typeface="Arial"/>
                <a:cs typeface="Arial"/>
              </a:rPr>
              <a:t>GoviLink   /   18</a:t>
            </a:r>
          </a:p>
        </p:txBody>
      </p:sp>
      <p:sp>
        <p:nvSpPr>
          <p:cNvPr id="3" name="">
            <a:extLst xmlns:a="http://schemas.openxmlformats.org/drawingml/2006/main">
              <a:ext uri="{FF2B5EF4-FFF2-40B4-BE49-F238E27FC236}">
                <a16:creationId xmlns:a16="http://schemas.microsoft.com/office/drawing/2014/main" id="{FDA604D2-8755-456E-9B67-C429C5527EE5}"/>
              </a:ext>
            </a:extLst>
          </p:cNvPr>
          <p:cNvSpPr>
            <a:spLocks xmlns:a="http://schemas.openxmlformats.org/drawingml/2006/main" noGrp="1"/>
          </p:cNvSpPr>
          <p:nvPr/>
        </p:nvSpPr>
        <p:spPr>
          <a:xfrm xmlns:a="http://schemas.openxmlformats.org/drawingml/2006/main">
            <a:off x="609600" y="15335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67458"/>
                </a:solidFill>
                <a:latin typeface="Arial"/>
                <a:ea typeface="Arial"/>
                <a:cs typeface="Arial"/>
              </a:defRPr>
            </a:defPPr>
          </a:lstStyle>
          <a:p xmlns:a="http://schemas.openxmlformats.org/drawingml/2006/main">
            <a:pPr>
              <a:defRPr sz="1950" b="1">
                <a:solidFill>
                  <a:srgbClr val="167458"/>
                </a:solidFill>
                <a:latin typeface="Arial"/>
                <a:ea typeface="Arial"/>
                <a:cs typeface="Arial"/>
              </a:defRPr>
            </a:pPr>
            <a:r>
              <a:rPr sz="1950" b="1">
                <a:solidFill>
                  <a:srgbClr val="167458"/>
                </a:solidFill>
                <a:latin typeface="Arial"/>
                <a:ea typeface="Arial"/>
                <a:cs typeface="Arial"/>
              </a:rPr>
              <a:t>1  Department of Census and Statistics</a:t>
            </a:r>
          </a:p>
        </p:txBody>
      </p:sp>
      <p:sp>
        <p:nvSpPr>
          <p:cNvPr id="4" name="">
            <a:extLst xmlns:a="http://schemas.openxmlformats.org/drawingml/2006/main">
              <a:ext uri="{FF2B5EF4-FFF2-40B4-BE49-F238E27FC236}">
                <a16:creationId xmlns:a16="http://schemas.microsoft.com/office/drawing/2014/main" id="{EC966D7C-F217-4856-B546-EFB0BC85D188}"/>
              </a:ext>
            </a:extLst>
          </p:cNvPr>
          <p:cNvSpPr>
            <a:spLocks xmlns:a="http://schemas.openxmlformats.org/drawingml/2006/main" noGrp="1"/>
          </p:cNvSpPr>
          <p:nvPr/>
        </p:nvSpPr>
        <p:spPr>
          <a:xfrm xmlns:a="http://schemas.openxmlformats.org/drawingml/2006/main">
            <a:off x="609600" y="18954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352D"/>
                </a:solidFill>
                <a:latin typeface="Arial"/>
                <a:ea typeface="Arial"/>
                <a:cs typeface="Arial"/>
              </a:defRPr>
            </a:defPPr>
          </a:lstStyle>
          <a:p xmlns:a="http://schemas.openxmlformats.org/drawingml/2006/main">
            <a:pPr>
              <a:defRPr sz="1725" b="0">
                <a:solidFill>
                  <a:srgbClr val="16352D"/>
                </a:solidFill>
                <a:latin typeface="Arial"/>
                <a:ea typeface="Arial"/>
                <a:cs typeface="Arial"/>
              </a:defRPr>
            </a:pPr>
            <a:r>
              <a:rPr sz="1725" b="0">
                <a:solidFill>
                  <a:srgbClr val="16352D"/>
                </a:solidFill>
                <a:latin typeface="Arial"/>
                <a:ea typeface="Arial"/>
                <a:cs typeface="Arial"/>
              </a:rPr>
              <a:t>Labour Force Survey, Q2 2025, Table 5. Agricultural employment.</a:t>
            </a:r>
          </a:p>
        </p:txBody>
      </p:sp>
      <p:sp>
        <p:nvSpPr>
          <p:cNvPr id="5" name="">
            <a:extLst xmlns:a="http://schemas.openxmlformats.org/drawingml/2006/main">
              <a:ext uri="{FF2B5EF4-FFF2-40B4-BE49-F238E27FC236}">
                <a16:creationId xmlns:a16="http://schemas.microsoft.com/office/drawing/2014/main" id="{A938FD5F-27F2-4CC6-88A7-68F1530E0344}"/>
              </a:ext>
            </a:extLst>
          </p:cNvPr>
          <p:cNvSpPr>
            <a:spLocks xmlns:a="http://schemas.openxmlformats.org/drawingml/2006/main" noGrp="1"/>
          </p:cNvSpPr>
          <p:nvPr/>
        </p:nvSpPr>
        <p:spPr>
          <a:xfrm xmlns:a="http://schemas.openxmlformats.org/drawingml/2006/main">
            <a:off x="609600" y="24003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67458"/>
                </a:solidFill>
                <a:latin typeface="Arial"/>
                <a:ea typeface="Arial"/>
                <a:cs typeface="Arial"/>
              </a:defRPr>
            </a:defPPr>
          </a:lstStyle>
          <a:p xmlns:a="http://schemas.openxmlformats.org/drawingml/2006/main">
            <a:pPr>
              <a:defRPr sz="1950" b="1">
                <a:solidFill>
                  <a:srgbClr val="167458"/>
                </a:solidFill>
                <a:latin typeface="Arial"/>
                <a:ea typeface="Arial"/>
                <a:cs typeface="Arial"/>
              </a:defRPr>
            </a:pPr>
            <a:r>
              <a:rPr sz="1950" b="1">
                <a:solidFill>
                  <a:srgbClr val="167458"/>
                </a:solidFill>
                <a:latin typeface="Arial"/>
                <a:ea typeface="Arial"/>
                <a:cs typeface="Arial"/>
              </a:rPr>
              <a:t>2  Department of Census and Statistics</a:t>
            </a:r>
          </a:p>
        </p:txBody>
      </p:sp>
      <p:sp>
        <p:nvSpPr>
          <p:cNvPr id="6" name="">
            <a:extLst xmlns:a="http://schemas.openxmlformats.org/drawingml/2006/main">
              <a:ext uri="{FF2B5EF4-FFF2-40B4-BE49-F238E27FC236}">
                <a16:creationId xmlns:a16="http://schemas.microsoft.com/office/drawing/2014/main" id="{5060922C-CBD2-4AEA-A785-3D39545BE0E5}"/>
              </a:ext>
            </a:extLst>
          </p:cNvPr>
          <p:cNvSpPr>
            <a:spLocks xmlns:a="http://schemas.openxmlformats.org/drawingml/2006/main" noGrp="1"/>
          </p:cNvSpPr>
          <p:nvPr/>
        </p:nvSpPr>
        <p:spPr>
          <a:xfrm xmlns:a="http://schemas.openxmlformats.org/drawingml/2006/main">
            <a:off x="609600" y="27622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352D"/>
                </a:solidFill>
                <a:latin typeface="Arial"/>
                <a:ea typeface="Arial"/>
                <a:cs typeface="Arial"/>
              </a:defRPr>
            </a:defPPr>
          </a:lstStyle>
          <a:p xmlns:a="http://schemas.openxmlformats.org/drawingml/2006/main">
            <a:pPr>
              <a:defRPr sz="1725" b="0">
                <a:solidFill>
                  <a:srgbClr val="16352D"/>
                </a:solidFill>
                <a:latin typeface="Arial"/>
                <a:ea typeface="Arial"/>
                <a:cs typeface="Arial"/>
              </a:defRPr>
            </a:pPr>
            <a:r>
              <a:rPr sz="1725" b="0">
                <a:solidFill>
                  <a:srgbClr val="16352D"/>
                </a:solidFill>
                <a:latin typeface="Arial"/>
                <a:ea typeface="Arial"/>
                <a:cs typeface="Arial"/>
              </a:rPr>
              <a:t>Computer Literacy Statistics, January–June 2025. Digital literacy.</a:t>
            </a:r>
          </a:p>
        </p:txBody>
      </p:sp>
      <p:sp>
        <p:nvSpPr>
          <p:cNvPr id="7" name="">
            <a:extLst xmlns:a="http://schemas.openxmlformats.org/drawingml/2006/main">
              <a:ext uri="{FF2B5EF4-FFF2-40B4-BE49-F238E27FC236}">
                <a16:creationId xmlns:a16="http://schemas.microsoft.com/office/drawing/2014/main" id="{48636CE4-FD72-4830-BD84-3A0363B47625}"/>
              </a:ext>
            </a:extLst>
          </p:cNvPr>
          <p:cNvSpPr>
            <a:spLocks xmlns:a="http://schemas.openxmlformats.org/drawingml/2006/main" noGrp="1"/>
          </p:cNvSpPr>
          <p:nvPr/>
        </p:nvSpPr>
        <p:spPr>
          <a:xfrm xmlns:a="http://schemas.openxmlformats.org/drawingml/2006/main">
            <a:off x="609600" y="32670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67458"/>
                </a:solidFill>
                <a:latin typeface="Arial"/>
                <a:ea typeface="Arial"/>
                <a:cs typeface="Arial"/>
              </a:defRPr>
            </a:defPPr>
          </a:lstStyle>
          <a:p xmlns:a="http://schemas.openxmlformats.org/drawingml/2006/main">
            <a:pPr>
              <a:defRPr sz="1950" b="1">
                <a:solidFill>
                  <a:srgbClr val="167458"/>
                </a:solidFill>
                <a:latin typeface="Arial"/>
                <a:ea typeface="Arial"/>
                <a:cs typeface="Arial"/>
              </a:defRPr>
            </a:pPr>
            <a:r>
              <a:rPr sz="1950" b="1">
                <a:solidFill>
                  <a:srgbClr val="167458"/>
                </a:solidFill>
                <a:latin typeface="Arial"/>
                <a:ea typeface="Arial"/>
                <a:cs typeface="Arial"/>
              </a:rPr>
              <a:t>3  Food and Agriculture Organization</a:t>
            </a:r>
          </a:p>
        </p:txBody>
      </p:sp>
      <p:sp>
        <p:nvSpPr>
          <p:cNvPr id="8" name="">
            <a:extLst xmlns:a="http://schemas.openxmlformats.org/drawingml/2006/main">
              <a:ext uri="{FF2B5EF4-FFF2-40B4-BE49-F238E27FC236}">
                <a16:creationId xmlns:a16="http://schemas.microsoft.com/office/drawing/2014/main" id="{689F2C3F-A6A2-4151-BA52-D58C1BF8A011}"/>
              </a:ext>
            </a:extLst>
          </p:cNvPr>
          <p:cNvSpPr>
            <a:spLocks xmlns:a="http://schemas.openxmlformats.org/drawingml/2006/main" noGrp="1"/>
          </p:cNvSpPr>
          <p:nvPr/>
        </p:nvSpPr>
        <p:spPr>
          <a:xfrm xmlns:a="http://schemas.openxmlformats.org/drawingml/2006/main">
            <a:off x="609600" y="36290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352D"/>
                </a:solidFill>
                <a:latin typeface="Arial"/>
                <a:ea typeface="Arial"/>
                <a:cs typeface="Arial"/>
              </a:defRPr>
            </a:defPPr>
          </a:lstStyle>
          <a:p xmlns:a="http://schemas.openxmlformats.org/drawingml/2006/main">
            <a:pPr>
              <a:defRPr sz="1725" b="0">
                <a:solidFill>
                  <a:srgbClr val="16352D"/>
                </a:solidFill>
                <a:latin typeface="Arial"/>
                <a:ea typeface="Arial"/>
                <a:cs typeface="Arial"/>
              </a:defRPr>
            </a:pPr>
            <a:r>
              <a:rPr sz="1725" b="0">
                <a:solidFill>
                  <a:srgbClr val="16352D"/>
                </a:solidFill>
                <a:latin typeface="Arial"/>
                <a:ea typeface="Arial"/>
                <a:cs typeface="Arial"/>
              </a:rPr>
              <a:t>South Asian produce supply-chain case studies, including Sri Lanka.</a:t>
            </a:r>
          </a:p>
        </p:txBody>
      </p:sp>
      <p:sp>
        <p:nvSpPr>
          <p:cNvPr id="9" name="">
            <a:extLst xmlns:a="http://schemas.openxmlformats.org/drawingml/2006/main">
              <a:ext uri="{FF2B5EF4-FFF2-40B4-BE49-F238E27FC236}">
                <a16:creationId xmlns:a16="http://schemas.microsoft.com/office/drawing/2014/main" id="{7C01C541-896E-4004-A596-49E92CD45BF6}"/>
              </a:ext>
            </a:extLst>
          </p:cNvPr>
          <p:cNvSpPr>
            <a:spLocks xmlns:a="http://schemas.openxmlformats.org/drawingml/2006/main" noGrp="1"/>
          </p:cNvSpPr>
          <p:nvPr/>
        </p:nvSpPr>
        <p:spPr>
          <a:xfrm xmlns:a="http://schemas.openxmlformats.org/drawingml/2006/main">
            <a:off x="609600" y="41338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67458"/>
                </a:solidFill>
                <a:latin typeface="Arial"/>
                <a:ea typeface="Arial"/>
                <a:cs typeface="Arial"/>
              </a:defRPr>
            </a:defPPr>
          </a:lstStyle>
          <a:p xmlns:a="http://schemas.openxmlformats.org/drawingml/2006/main">
            <a:pPr>
              <a:defRPr sz="1950" b="1">
                <a:solidFill>
                  <a:srgbClr val="167458"/>
                </a:solidFill>
                <a:latin typeface="Arial"/>
                <a:ea typeface="Arial"/>
                <a:cs typeface="Arial"/>
              </a:defRPr>
            </a:pPr>
            <a:r>
              <a:rPr sz="1950" b="1">
                <a:solidFill>
                  <a:srgbClr val="167458"/>
                </a:solidFill>
                <a:latin typeface="Arial"/>
                <a:ea typeface="Arial"/>
                <a:cs typeface="Arial"/>
              </a:rPr>
              <a:t>4  Dialog Axiata</a:t>
            </a:r>
          </a:p>
        </p:txBody>
      </p:sp>
      <p:sp>
        <p:nvSpPr>
          <p:cNvPr id="10" name="">
            <a:extLst xmlns:a="http://schemas.openxmlformats.org/drawingml/2006/main">
              <a:ext uri="{FF2B5EF4-FFF2-40B4-BE49-F238E27FC236}">
                <a16:creationId xmlns:a16="http://schemas.microsoft.com/office/drawing/2014/main" id="{1E222F5E-656A-446F-84CD-CFCE312E4B00}"/>
              </a:ext>
            </a:extLst>
          </p:cNvPr>
          <p:cNvSpPr>
            <a:spLocks xmlns:a="http://schemas.openxmlformats.org/drawingml/2006/main" noGrp="1"/>
          </p:cNvSpPr>
          <p:nvPr/>
        </p:nvSpPr>
        <p:spPr>
          <a:xfrm xmlns:a="http://schemas.openxmlformats.org/drawingml/2006/main">
            <a:off x="609600" y="44958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352D"/>
                </a:solidFill>
                <a:latin typeface="Arial"/>
                <a:ea typeface="Arial"/>
                <a:cs typeface="Arial"/>
              </a:defRPr>
            </a:defPPr>
          </a:lstStyle>
          <a:p xmlns:a="http://schemas.openxmlformats.org/drawingml/2006/main">
            <a:pPr>
              <a:defRPr sz="1725" b="0">
                <a:solidFill>
                  <a:srgbClr val="16352D"/>
                </a:solidFill>
                <a:latin typeface="Arial"/>
                <a:ea typeface="Arial"/>
                <a:cs typeface="Arial"/>
              </a:defRPr>
            </a:pPr>
            <a:r>
              <a:rPr sz="1725" b="0">
                <a:solidFill>
                  <a:srgbClr val="16352D"/>
                </a:solidFill>
                <a:latin typeface="Arial"/>
                <a:ea typeface="Arial"/>
                <a:cs typeface="Arial"/>
              </a:rPr>
              <a:t>Govi Mithuru app listing. Published advisory features.</a:t>
            </a:r>
          </a:p>
        </p:txBody>
      </p:sp>
      <p:sp>
        <p:nvSpPr>
          <p:cNvPr id="11" name="">
            <a:extLst xmlns:a="http://schemas.openxmlformats.org/drawingml/2006/main">
              <a:ext uri="{FF2B5EF4-FFF2-40B4-BE49-F238E27FC236}">
                <a16:creationId xmlns:a16="http://schemas.microsoft.com/office/drawing/2014/main" id="{590B3F3E-3EA2-4385-944D-B3B03ECD8EA3}"/>
              </a:ext>
            </a:extLst>
          </p:cNvPr>
          <p:cNvSpPr>
            <a:spLocks xmlns:a="http://schemas.openxmlformats.org/drawingml/2006/main" noGrp="1"/>
          </p:cNvSpPr>
          <p:nvPr/>
        </p:nvSpPr>
        <p:spPr>
          <a:xfrm xmlns:a="http://schemas.openxmlformats.org/drawingml/2006/main">
            <a:off x="609600" y="50006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67458"/>
                </a:solidFill>
                <a:latin typeface="Arial"/>
                <a:ea typeface="Arial"/>
                <a:cs typeface="Arial"/>
              </a:defRPr>
            </a:defPPr>
          </a:lstStyle>
          <a:p xmlns:a="http://schemas.openxmlformats.org/drawingml/2006/main">
            <a:pPr>
              <a:defRPr sz="1950" b="1">
                <a:solidFill>
                  <a:srgbClr val="167458"/>
                </a:solidFill>
                <a:latin typeface="Arial"/>
                <a:ea typeface="Arial"/>
                <a:cs typeface="Arial"/>
              </a:defRPr>
            </a:pPr>
            <a:r>
              <a:rPr sz="1950" b="1">
                <a:solidFill>
                  <a:srgbClr val="167458"/>
                </a:solidFill>
                <a:latin typeface="Arial"/>
                <a:ea typeface="Arial"/>
                <a:cs typeface="Arial"/>
              </a:rPr>
              <a:t>5  Central Bank of Sri Lanka</a:t>
            </a:r>
          </a:p>
        </p:txBody>
      </p:sp>
      <p:sp>
        <p:nvSpPr>
          <p:cNvPr id="12" name="">
            <a:extLst xmlns:a="http://schemas.openxmlformats.org/drawingml/2006/main">
              <a:ext uri="{FF2B5EF4-FFF2-40B4-BE49-F238E27FC236}">
                <a16:creationId xmlns:a16="http://schemas.microsoft.com/office/drawing/2014/main" id="{CA724854-62A1-401B-AAE6-64C68D611942}"/>
              </a:ext>
            </a:extLst>
          </p:cNvPr>
          <p:cNvSpPr>
            <a:spLocks xmlns:a="http://schemas.openxmlformats.org/drawingml/2006/main" noGrp="1"/>
          </p:cNvSpPr>
          <p:nvPr/>
        </p:nvSpPr>
        <p:spPr>
          <a:xfrm xmlns:a="http://schemas.openxmlformats.org/drawingml/2006/main">
            <a:off x="609600" y="53625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352D"/>
                </a:solidFill>
                <a:latin typeface="Arial"/>
                <a:ea typeface="Arial"/>
                <a:cs typeface="Arial"/>
              </a:defRPr>
            </a:defPPr>
          </a:lstStyle>
          <a:p xmlns:a="http://schemas.openxmlformats.org/drawingml/2006/main">
            <a:pPr>
              <a:defRPr sz="1725" b="0">
                <a:solidFill>
                  <a:srgbClr val="16352D"/>
                </a:solidFill>
                <a:latin typeface="Arial"/>
                <a:ea typeface="Arial"/>
                <a:cs typeface="Arial"/>
              </a:defRPr>
            </a:pPr>
            <a:r>
              <a:rPr sz="1725" b="0">
                <a:solidFill>
                  <a:srgbClr val="16352D"/>
                </a:solidFill>
                <a:latin typeface="Arial"/>
                <a:ea typeface="Arial"/>
                <a:cs typeface="Arial"/>
              </a:rPr>
              <a:t>Annual Report 2019, Box 4. Historical Govipola description.</a:t>
            </a:r>
          </a:p>
        </p:txBody>
      </p:sp>
      <p:sp>
        <p:nvSpPr>
          <p:cNvPr id="13" name="">
            <a:extLst xmlns:a="http://schemas.openxmlformats.org/drawingml/2006/main">
              <a:ext uri="{FF2B5EF4-FFF2-40B4-BE49-F238E27FC236}">
                <a16:creationId xmlns:a16="http://schemas.microsoft.com/office/drawing/2014/main" id="{1F5AF7F8-5F9E-4B81-88E6-00F7727CC272}"/>
              </a:ext>
            </a:extLst>
          </p:cNvPr>
          <p:cNvSpPr>
            <a:spLocks xmlns:a="http://schemas.openxmlformats.org/drawingml/2006/main" noGrp="1"/>
          </p:cNvSpPr>
          <p:nvPr/>
        </p:nvSpPr>
        <p:spPr>
          <a:xfrm xmlns:a="http://schemas.openxmlformats.org/drawingml/2006/main">
            <a:off x="609600" y="610552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56A"/>
                </a:solidFill>
                <a:latin typeface="Arial"/>
                <a:ea typeface="Arial"/>
                <a:cs typeface="Arial"/>
              </a:defRPr>
            </a:defPPr>
          </a:lstStyle>
          <a:p xmlns:a="http://schemas.openxmlformats.org/drawingml/2006/main">
            <a:pPr>
              <a:defRPr sz="1275" b="0">
                <a:solidFill>
                  <a:srgbClr val="62756A"/>
                </a:solidFill>
                <a:latin typeface="Arial"/>
                <a:ea typeface="Arial"/>
                <a:cs typeface="Arial"/>
              </a:defRPr>
            </a:pPr>
            <a:r>
              <a:rPr sz="1275" b="0">
                <a:solidFill>
                  <a:srgbClr val="62756A"/>
                </a:solidFill>
                <a:latin typeface="Arial"/>
                <a:ea typeface="Arial"/>
                <a:cs typeface="Arial"/>
              </a:rPr>
              <a:t>Full source links in slide notes and companion guide. Prototype screenshots use demo data.</a:t>
            </a:r>
          </a:p>
        </p:txBody>
      </p:sp>
    </p:spTree>
    <p:extLst>
      <p:ext uri="{BB962C8B-B14F-4D97-AF65-F5344CB8AC3E}">
        <p14:creationId xmlns:p14="http://schemas.microsoft.com/office/powerpoint/2010/main" val="2033507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2026-10-12T06:34:41.3310000Z</dcterms:created>
  <dcterms:modified xsi:type="dcterms:W3CDTF">2026-10-12T06:34:41.3310000Z</dcterms:modified>
</coreProperties>
</file>